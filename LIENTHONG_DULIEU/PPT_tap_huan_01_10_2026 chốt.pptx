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1" r:id="rId15"/>
    <p:sldId id="272" r:id="rId16"/>
    <p:sldId id="273" r:id="rId17"/>
    <p:sldId id="274" r:id="rId18"/>
    <p:sldId id="275" r:id="rId19"/>
    <p:sldId id="278" r:id="rId20"/>
    <p:sldId id="279" r:id="rId21"/>
    <p:sldId id="280" r:id="rId22"/>
    <p:sldId id="281" r:id="rId23"/>
    <p:sldId id="282" r:id="rId24"/>
    <p:sldId id="283" r:id="rId25"/>
    <p:sldId id="284" r:id="rId26"/>
    <p:sldId id="277"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67" autoAdjust="0"/>
    <p:restoredTop sz="94610"/>
  </p:normalViewPr>
  <p:slideViewPr>
    <p:cSldViewPr snapToGrid="0" snapToObjects="1">
      <p:cViewPr varScale="1">
        <p:scale>
          <a:sx n="74" d="100"/>
          <a:sy n="74" d="100"/>
        </p:scale>
        <p:origin x="18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765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566928" y="621792"/>
            <a:ext cx="3657600" cy="292608"/>
          </a:xfrm>
          <a:prstGeom prst="rect">
            <a:avLst/>
          </a:prstGeom>
          <a:noFill/>
          <a:ln/>
        </p:spPr>
        <p:txBody>
          <a:bodyPr wrap="square" lIns="0" tIns="0" rIns="0" bIns="0" rtlCol="0" anchor="ctr"/>
          <a:lstStyle/>
          <a:p>
            <a:pPr marL="0" indent="0">
              <a:buNone/>
            </a:pPr>
            <a:r>
              <a:rPr lang="en-US" sz="1500" b="1" dirty="0">
                <a:solidFill>
                  <a:srgbClr val="075B63"/>
                </a:solidFill>
              </a:rPr>
              <a:t>SỞ Y TẾ HÀ NỘI</a:t>
            </a:r>
            <a:endParaRPr lang="en-US" sz="1500" dirty="0"/>
          </a:p>
        </p:txBody>
      </p:sp>
      <p:sp>
        <p:nvSpPr>
          <p:cNvPr id="4" name="Text 2"/>
          <p:cNvSpPr/>
          <p:nvPr/>
        </p:nvSpPr>
        <p:spPr>
          <a:xfrm>
            <a:off x="566928" y="1325880"/>
            <a:ext cx="7132320" cy="411480"/>
          </a:xfrm>
          <a:prstGeom prst="rect">
            <a:avLst/>
          </a:prstGeom>
          <a:noFill/>
          <a:ln/>
        </p:spPr>
        <p:txBody>
          <a:bodyPr wrap="square" lIns="0" tIns="0" rIns="0" bIns="0" rtlCol="0" anchor="ctr"/>
          <a:lstStyle/>
          <a:p>
            <a:pPr marL="0" indent="0">
              <a:buNone/>
            </a:pPr>
            <a:r>
              <a:rPr lang="en-US" sz="2300" b="1" dirty="0">
                <a:solidFill>
                  <a:srgbClr val="073642"/>
                </a:solidFill>
              </a:rPr>
              <a:t>Tập huấn hướng dẫn triển khai</a:t>
            </a:r>
            <a:endParaRPr lang="en-US" sz="2300" dirty="0"/>
          </a:p>
        </p:txBody>
      </p:sp>
      <p:sp>
        <p:nvSpPr>
          <p:cNvPr id="5" name="Text 3"/>
          <p:cNvSpPr/>
          <p:nvPr/>
        </p:nvSpPr>
        <p:spPr>
          <a:xfrm>
            <a:off x="566928" y="1847088"/>
            <a:ext cx="8961120" cy="731520"/>
          </a:xfrm>
          <a:prstGeom prst="rect">
            <a:avLst/>
          </a:prstGeom>
          <a:noFill/>
          <a:ln/>
        </p:spPr>
        <p:txBody>
          <a:bodyPr wrap="square" lIns="0" tIns="0" rIns="0" bIns="0" rtlCol="0" anchor="ctr">
            <a:normAutofit/>
          </a:bodyPr>
          <a:lstStyle/>
          <a:p>
            <a:pPr marL="0" indent="0">
              <a:buNone/>
            </a:pPr>
            <a:r>
              <a:rPr lang="en-US" sz="3400" b="1" dirty="0">
                <a:solidFill>
                  <a:srgbClr val="075B63"/>
                </a:solidFill>
              </a:rPr>
              <a:t>KẾ HOẠCH KHÁM SÀNG LỌC MIỄN PHÍ</a:t>
            </a:r>
            <a:endParaRPr lang="en-US" sz="3400" dirty="0"/>
          </a:p>
        </p:txBody>
      </p:sp>
      <p:sp>
        <p:nvSpPr>
          <p:cNvPr id="6" name="Text 4"/>
          <p:cNvSpPr/>
          <p:nvPr/>
        </p:nvSpPr>
        <p:spPr>
          <a:xfrm>
            <a:off x="594360" y="2724912"/>
            <a:ext cx="8961120" cy="411480"/>
          </a:xfrm>
          <a:prstGeom prst="rect">
            <a:avLst/>
          </a:prstGeom>
          <a:noFill/>
          <a:ln/>
        </p:spPr>
        <p:txBody>
          <a:bodyPr wrap="square" lIns="0" tIns="0" rIns="0" bIns="0" rtlCol="0" anchor="ctr">
            <a:normAutofit fontScale="92500"/>
          </a:bodyPr>
          <a:lstStyle/>
          <a:p>
            <a:pPr marL="0" indent="0">
              <a:buNone/>
            </a:pPr>
            <a:r>
              <a:rPr lang="en-US" sz="1600" dirty="0">
                <a:solidFill>
                  <a:srgbClr val="5C6670"/>
                </a:solidFill>
              </a:rPr>
              <a:t>Phát hiện sớm người có nguy cơ mắc bệnh không lây nhiễm trên địa bàn thành phố Hà Nội năm 2026</a:t>
            </a:r>
            <a:endParaRPr lang="en-US" sz="1600" dirty="0"/>
          </a:p>
        </p:txBody>
      </p:sp>
      <p:sp>
        <p:nvSpPr>
          <p:cNvPr id="7" name="Shape 5"/>
          <p:cNvSpPr/>
          <p:nvPr/>
        </p:nvSpPr>
        <p:spPr>
          <a:xfrm>
            <a:off x="594360" y="3794760"/>
            <a:ext cx="2788920" cy="685800"/>
          </a:xfrm>
          <a:prstGeom prst="roundRect">
            <a:avLst>
              <a:gd name="adj" fmla="val 10667"/>
            </a:avLst>
          </a:prstGeom>
          <a:solidFill>
            <a:srgbClr val="FFFFFF"/>
          </a:solidFill>
          <a:ln w="12700">
            <a:solidFill>
              <a:srgbClr val="D6E4E7"/>
            </a:solidFill>
            <a:prstDash val="solid"/>
          </a:ln>
        </p:spPr>
      </p:sp>
      <p:sp>
        <p:nvSpPr>
          <p:cNvPr id="8" name="Text 6"/>
          <p:cNvSpPr/>
          <p:nvPr/>
        </p:nvSpPr>
        <p:spPr>
          <a:xfrm>
            <a:off x="804672" y="4005072"/>
            <a:ext cx="2377440" cy="201168"/>
          </a:xfrm>
          <a:prstGeom prst="rect">
            <a:avLst/>
          </a:prstGeom>
          <a:noFill/>
          <a:ln/>
        </p:spPr>
        <p:txBody>
          <a:bodyPr wrap="square" lIns="0" tIns="0" rIns="0" bIns="0" rtlCol="0" anchor="ctr"/>
          <a:lstStyle/>
          <a:p>
            <a:pPr marL="0" indent="0" algn="ctr">
              <a:buNone/>
            </a:pPr>
            <a:r>
              <a:rPr lang="en-US" sz="1100" b="1">
                <a:solidFill>
                  <a:srgbClr val="073642"/>
                </a:solidFill>
              </a:rPr>
              <a:t>Tập</a:t>
            </a:r>
            <a:r>
              <a:rPr lang="en-US" sz="1100" b="1" dirty="0">
                <a:solidFill>
                  <a:srgbClr val="073642"/>
                </a:solidFill>
              </a:rPr>
              <a:t> huấn: 01/10/2026</a:t>
            </a:r>
            <a:endParaRPr lang="en-US" sz="1100" dirty="0"/>
          </a:p>
        </p:txBody>
      </p:sp>
      <p:sp>
        <p:nvSpPr>
          <p:cNvPr id="9" name="Shape 7"/>
          <p:cNvSpPr/>
          <p:nvPr/>
        </p:nvSpPr>
        <p:spPr>
          <a:xfrm>
            <a:off x="3703320" y="3794760"/>
            <a:ext cx="2011680" cy="685800"/>
          </a:xfrm>
          <a:prstGeom prst="roundRect">
            <a:avLst>
              <a:gd name="adj" fmla="val 10667"/>
            </a:avLst>
          </a:prstGeom>
          <a:solidFill>
            <a:srgbClr val="0B7C82"/>
          </a:solidFill>
          <a:ln w="12700">
            <a:solidFill>
              <a:srgbClr val="0B7C82"/>
            </a:solidFill>
            <a:prstDash val="solid"/>
          </a:ln>
        </p:spPr>
      </p:sp>
      <p:sp>
        <p:nvSpPr>
          <p:cNvPr id="10" name="Text 8"/>
          <p:cNvSpPr/>
          <p:nvPr/>
        </p:nvSpPr>
        <p:spPr>
          <a:xfrm>
            <a:off x="3703320" y="3895344"/>
            <a:ext cx="2011680" cy="365760"/>
          </a:xfrm>
          <a:prstGeom prst="rect">
            <a:avLst/>
          </a:prstGeom>
          <a:noFill/>
          <a:ln/>
        </p:spPr>
        <p:txBody>
          <a:bodyPr wrap="square" lIns="0" tIns="0" rIns="0" bIns="0" rtlCol="0" anchor="ctr"/>
          <a:lstStyle/>
          <a:p>
            <a:pPr marL="0" indent="0" algn="ctr">
              <a:buNone/>
            </a:pPr>
            <a:r>
              <a:rPr lang="en-US" sz="1500" b="1" dirty="0">
                <a:solidFill>
                  <a:srgbClr val="FFFFFF"/>
                </a:solidFill>
              </a:rPr>
              <a:t>12 bệnh</a:t>
            </a:r>
            <a:endParaRPr lang="en-US" sz="1500" dirty="0"/>
          </a:p>
          <a:p>
            <a:pPr marL="0" indent="0" algn="ctr">
              <a:buNone/>
            </a:pPr>
            <a:r>
              <a:rPr lang="en-US" sz="1500" b="1" dirty="0">
                <a:solidFill>
                  <a:srgbClr val="FFFFFF"/>
                </a:solidFill>
              </a:rPr>
              <a:t>sàng lọc</a:t>
            </a:r>
            <a:endParaRPr lang="en-US" sz="1500" dirty="0"/>
          </a:p>
        </p:txBody>
      </p:sp>
      <p:sp>
        <p:nvSpPr>
          <p:cNvPr id="11" name="Text 9"/>
          <p:cNvSpPr/>
          <p:nvPr/>
        </p:nvSpPr>
        <p:spPr>
          <a:xfrm>
            <a:off x="594360" y="5102352"/>
            <a:ext cx="8686800" cy="320040"/>
          </a:xfrm>
          <a:prstGeom prst="rect">
            <a:avLst/>
          </a:prstGeom>
          <a:noFill/>
          <a:ln/>
        </p:spPr>
        <p:txBody>
          <a:bodyPr wrap="square" lIns="0" tIns="0" rIns="0" bIns="0" rtlCol="0" anchor="ctr"/>
          <a:lstStyle/>
          <a:p>
            <a:pPr marL="0" indent="0">
              <a:buNone/>
            </a:pPr>
            <a:r>
              <a:rPr lang="en-US" sz="1400" b="1" dirty="0">
                <a:solidFill>
                  <a:srgbClr val="075B63"/>
                </a:solidFill>
              </a:rPr>
              <a:t>Thông điệp trọng tâm: Rõ đối tượng • Rõ quy trình • Rõ dữ liệu • Rõ trách nhiệm</a:t>
            </a:r>
            <a:endParaRPr lang="en-US" sz="1400" dirty="0"/>
          </a:p>
        </p:txBody>
      </p:sp>
      <p:sp>
        <p:nvSpPr>
          <p:cNvPr id="12" name="Shape 10"/>
          <p:cNvSpPr/>
          <p:nvPr/>
        </p:nvSpPr>
        <p:spPr>
          <a:xfrm>
            <a:off x="9921240" y="914400"/>
            <a:ext cx="1554480" cy="1554480"/>
          </a:xfrm>
          <a:prstGeom prst="arc">
            <a:avLst/>
          </a:prstGeom>
          <a:noFill/>
          <a:ln w="25400">
            <a:solidFill>
              <a:srgbClr val="0B7C82"/>
            </a:solidFill>
            <a:prstDash val="solid"/>
            <a:headEnd type="none"/>
            <a:tailEnd type="triangle"/>
          </a:ln>
        </p:spPr>
      </p:sp>
      <p:sp>
        <p:nvSpPr>
          <p:cNvPr id="13" name="Shape 11"/>
          <p:cNvSpPr/>
          <p:nvPr/>
        </p:nvSpPr>
        <p:spPr>
          <a:xfrm>
            <a:off x="10104120" y="1298448"/>
            <a:ext cx="960120" cy="960120"/>
          </a:xfrm>
          <a:prstGeom prst="ellipse">
            <a:avLst/>
          </a:prstGeom>
          <a:solidFill>
            <a:srgbClr val="FFFFFF"/>
          </a:solidFill>
          <a:ln w="15240">
            <a:solidFill>
              <a:srgbClr val="BFD8DE"/>
            </a:solidFill>
            <a:prstDash val="solid"/>
          </a:ln>
        </p:spPr>
      </p:sp>
      <p:sp>
        <p:nvSpPr>
          <p:cNvPr id="14" name="Text 12"/>
          <p:cNvSpPr/>
          <p:nvPr/>
        </p:nvSpPr>
        <p:spPr>
          <a:xfrm>
            <a:off x="10104120" y="1572768"/>
            <a:ext cx="960120" cy="274320"/>
          </a:xfrm>
          <a:prstGeom prst="rect">
            <a:avLst/>
          </a:prstGeom>
          <a:noFill/>
          <a:ln/>
        </p:spPr>
        <p:txBody>
          <a:bodyPr wrap="square" lIns="0" tIns="0" rIns="0" bIns="0" rtlCol="0" anchor="ctr"/>
          <a:lstStyle/>
          <a:p>
            <a:pPr marL="0" indent="0" algn="ctr">
              <a:buNone/>
            </a:pPr>
            <a:r>
              <a:rPr lang="en-US" sz="1050" b="1" dirty="0">
                <a:solidFill>
                  <a:srgbClr val="075B63"/>
                </a:solidFill>
              </a:rPr>
              <a:t>HSSK</a:t>
            </a:r>
            <a:endParaRPr lang="en-US" sz="1050" dirty="0"/>
          </a:p>
          <a:p>
            <a:pPr marL="0" indent="0" algn="ctr">
              <a:buNone/>
            </a:pPr>
            <a:r>
              <a:rPr lang="en-US" sz="1050" b="1" dirty="0">
                <a:solidFill>
                  <a:srgbClr val="075B63"/>
                </a:solidFill>
              </a:rPr>
              <a:t>điện tử</a:t>
            </a:r>
            <a:endParaRPr lang="en-US" sz="1050" dirty="0"/>
          </a:p>
        </p:txBody>
      </p:sp>
      <p:sp>
        <p:nvSpPr>
          <p:cNvPr id="15" name="Shape 13"/>
          <p:cNvSpPr/>
          <p:nvPr/>
        </p:nvSpPr>
        <p:spPr>
          <a:xfrm>
            <a:off x="411480" y="6510528"/>
            <a:ext cx="11384280" cy="0"/>
          </a:xfrm>
          <a:prstGeom prst="line">
            <a:avLst/>
          </a:prstGeom>
          <a:noFill/>
          <a:ln w="9525">
            <a:solidFill>
              <a:srgbClr val="D6E4E7"/>
            </a:solidFill>
            <a:prstDash val="solid"/>
          </a:ln>
        </p:spPr>
      </p:sp>
      <p:sp>
        <p:nvSpPr>
          <p:cNvPr id="16" name="Text 1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17" name="Text 1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Định hướng chung</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2</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ĐỊNH HƯỚNG CHUNG</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Mục tiêu buổi tập huấn</a:t>
            </a:r>
            <a:endParaRPr lang="en-US" sz="2800" dirty="0"/>
          </a:p>
        </p:txBody>
      </p:sp>
      <p:sp>
        <p:nvSpPr>
          <p:cNvPr id="10" name="Text 8"/>
          <p:cNvSpPr/>
          <p:nvPr/>
        </p:nvSpPr>
        <p:spPr>
          <a:xfrm>
            <a:off x="521208" y="1581912"/>
            <a:ext cx="10789920" cy="384048"/>
          </a:xfrm>
          <a:prstGeom prst="rect">
            <a:avLst/>
          </a:prstGeom>
          <a:noFill/>
          <a:ln/>
        </p:spPr>
        <p:txBody>
          <a:bodyPr wrap="square" lIns="0" tIns="0" rIns="0" bIns="0" rtlCol="0" anchor="ctr">
            <a:normAutofit/>
          </a:bodyPr>
          <a:lstStyle/>
          <a:p>
            <a:pPr marL="0" indent="0">
              <a:buNone/>
            </a:pPr>
            <a:r>
              <a:rPr lang="en-US" sz="1400" dirty="0">
                <a:solidFill>
                  <a:srgbClr val="5C6670"/>
                </a:solidFill>
              </a:rPr>
              <a:t>Sau buổi tập huấn, các đơn vị thống nhất được các nội dung cốt lõi để triển khai ngay tại địa phương.</a:t>
            </a:r>
            <a:endParaRPr lang="en-US" sz="1400" dirty="0"/>
          </a:p>
        </p:txBody>
      </p:sp>
      <p:sp>
        <p:nvSpPr>
          <p:cNvPr id="11" name="Shape 9"/>
          <p:cNvSpPr/>
          <p:nvPr/>
        </p:nvSpPr>
        <p:spPr>
          <a:xfrm>
            <a:off x="640080" y="2103120"/>
            <a:ext cx="384048" cy="384048"/>
          </a:xfrm>
          <a:prstGeom prst="ellipse">
            <a:avLst/>
          </a:prstGeom>
          <a:solidFill>
            <a:srgbClr val="0B7C82"/>
          </a:solidFill>
          <a:ln w="12700">
            <a:solidFill>
              <a:srgbClr val="0B7C82"/>
            </a:solidFill>
            <a:prstDash val="solid"/>
          </a:ln>
        </p:spPr>
      </p:sp>
      <p:sp>
        <p:nvSpPr>
          <p:cNvPr id="12" name="Text 10"/>
          <p:cNvSpPr/>
          <p:nvPr/>
        </p:nvSpPr>
        <p:spPr>
          <a:xfrm>
            <a:off x="640080" y="218541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3" name="Text 11"/>
          <p:cNvSpPr/>
          <p:nvPr/>
        </p:nvSpPr>
        <p:spPr>
          <a:xfrm>
            <a:off x="1143000" y="2121408"/>
            <a:ext cx="2286000" cy="256032"/>
          </a:xfrm>
          <a:prstGeom prst="rect">
            <a:avLst/>
          </a:prstGeom>
          <a:noFill/>
          <a:ln/>
        </p:spPr>
        <p:txBody>
          <a:bodyPr wrap="square" lIns="0" tIns="0" rIns="0" bIns="0" rtlCol="0" anchor="ctr"/>
          <a:lstStyle/>
          <a:p>
            <a:pPr marL="0" indent="0">
              <a:buNone/>
            </a:pPr>
            <a:r>
              <a:rPr lang="en-US" sz="1600" b="1" dirty="0">
                <a:solidFill>
                  <a:srgbClr val="073642"/>
                </a:solidFill>
              </a:rPr>
              <a:t>Đối tượng</a:t>
            </a:r>
            <a:endParaRPr lang="en-US" sz="1600" dirty="0"/>
          </a:p>
        </p:txBody>
      </p:sp>
      <p:sp>
        <p:nvSpPr>
          <p:cNvPr id="14" name="Text 12"/>
          <p:cNvSpPr/>
          <p:nvPr/>
        </p:nvSpPr>
        <p:spPr>
          <a:xfrm>
            <a:off x="1143000" y="2487168"/>
            <a:ext cx="2926080" cy="429768"/>
          </a:xfrm>
          <a:prstGeom prst="rect">
            <a:avLst/>
          </a:prstGeom>
          <a:noFill/>
          <a:ln/>
        </p:spPr>
        <p:txBody>
          <a:bodyPr wrap="square" lIns="0" tIns="0" rIns="0" bIns="0" rtlCol="0" anchor="ctr">
            <a:normAutofit/>
          </a:bodyPr>
          <a:lstStyle/>
          <a:p>
            <a:pPr marL="0" indent="0">
              <a:buNone/>
            </a:pPr>
            <a:r>
              <a:rPr lang="en-US" sz="1130" dirty="0">
                <a:solidFill>
                  <a:srgbClr val="5C6670"/>
                </a:solidFill>
              </a:rPr>
              <a:t>Rà soát nhóm 1, nhóm 5; loại trừ người đã khám miễn phí năm 2026.</a:t>
            </a:r>
            <a:endParaRPr lang="en-US" sz="1130" dirty="0"/>
          </a:p>
        </p:txBody>
      </p:sp>
      <p:sp>
        <p:nvSpPr>
          <p:cNvPr id="15" name="Shape 13"/>
          <p:cNvSpPr/>
          <p:nvPr/>
        </p:nvSpPr>
        <p:spPr>
          <a:xfrm>
            <a:off x="4389120" y="2103120"/>
            <a:ext cx="384048" cy="384048"/>
          </a:xfrm>
          <a:prstGeom prst="ellipse">
            <a:avLst/>
          </a:prstGeom>
          <a:solidFill>
            <a:srgbClr val="0B7C82"/>
          </a:solidFill>
          <a:ln w="12700">
            <a:solidFill>
              <a:srgbClr val="0B7C82"/>
            </a:solidFill>
            <a:prstDash val="solid"/>
          </a:ln>
        </p:spPr>
      </p:sp>
      <p:sp>
        <p:nvSpPr>
          <p:cNvPr id="16" name="Text 14"/>
          <p:cNvSpPr/>
          <p:nvPr/>
        </p:nvSpPr>
        <p:spPr>
          <a:xfrm>
            <a:off x="4389120" y="218541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7" name="Text 15"/>
          <p:cNvSpPr/>
          <p:nvPr/>
        </p:nvSpPr>
        <p:spPr>
          <a:xfrm>
            <a:off x="4892040" y="2121408"/>
            <a:ext cx="2286000" cy="256032"/>
          </a:xfrm>
          <a:prstGeom prst="rect">
            <a:avLst/>
          </a:prstGeom>
          <a:noFill/>
          <a:ln/>
        </p:spPr>
        <p:txBody>
          <a:bodyPr wrap="square" lIns="0" tIns="0" rIns="0" bIns="0" rtlCol="0" anchor="ctr"/>
          <a:lstStyle/>
          <a:p>
            <a:pPr marL="0" indent="0">
              <a:buNone/>
            </a:pPr>
            <a:r>
              <a:rPr lang="en-US" sz="1600" b="1" dirty="0">
                <a:solidFill>
                  <a:srgbClr val="073642"/>
                </a:solidFill>
              </a:rPr>
              <a:t>Danh mục</a:t>
            </a:r>
            <a:endParaRPr lang="en-US" sz="1600" dirty="0"/>
          </a:p>
        </p:txBody>
      </p:sp>
      <p:sp>
        <p:nvSpPr>
          <p:cNvPr id="18" name="Text 16"/>
          <p:cNvSpPr/>
          <p:nvPr/>
        </p:nvSpPr>
        <p:spPr>
          <a:xfrm>
            <a:off x="4892040" y="2487168"/>
            <a:ext cx="2926080" cy="713232"/>
          </a:xfrm>
          <a:prstGeom prst="rect">
            <a:avLst/>
          </a:prstGeom>
          <a:noFill/>
          <a:ln/>
        </p:spPr>
        <p:txBody>
          <a:bodyPr wrap="square" lIns="0" tIns="0" rIns="0" bIns="0" rtlCol="0" anchor="ctr">
            <a:normAutofit/>
          </a:bodyPr>
          <a:lstStyle/>
          <a:p>
            <a:r>
              <a:rPr lang="en-US" sz="1130" dirty="0" err="1">
                <a:solidFill>
                  <a:srgbClr val="5C6670"/>
                </a:solidFill>
              </a:rPr>
              <a:t>Gồm</a:t>
            </a:r>
            <a:r>
              <a:rPr lang="en-US" sz="1130" dirty="0">
                <a:solidFill>
                  <a:srgbClr val="5C6670"/>
                </a:solidFill>
              </a:rPr>
              <a:t> 12 </a:t>
            </a:r>
            <a:r>
              <a:rPr lang="en-US" sz="1130" dirty="0" err="1">
                <a:solidFill>
                  <a:srgbClr val="5C6670"/>
                </a:solidFill>
              </a:rPr>
              <a:t>Bệnh</a:t>
            </a:r>
            <a:r>
              <a:rPr lang="en-US" sz="1130" dirty="0">
                <a:solidFill>
                  <a:srgbClr val="5C6670"/>
                </a:solidFill>
              </a:rPr>
              <a:t> </a:t>
            </a:r>
            <a:r>
              <a:rPr lang="en-US" sz="1130" dirty="0" err="1">
                <a:solidFill>
                  <a:srgbClr val="5C6670"/>
                </a:solidFill>
              </a:rPr>
              <a:t>sàng</a:t>
            </a:r>
            <a:r>
              <a:rPr lang="en-US" sz="1130" dirty="0">
                <a:solidFill>
                  <a:srgbClr val="5C6670"/>
                </a:solidFill>
              </a:rPr>
              <a:t> </a:t>
            </a:r>
            <a:r>
              <a:rPr lang="en-US" sz="1130" dirty="0" err="1">
                <a:solidFill>
                  <a:srgbClr val="5C6670"/>
                </a:solidFill>
              </a:rPr>
              <a:t>lọc</a:t>
            </a:r>
            <a:r>
              <a:rPr lang="en-US" sz="1130" dirty="0">
                <a:solidFill>
                  <a:srgbClr val="5C6670"/>
                </a:solidFill>
              </a:rPr>
              <a:t> </a:t>
            </a:r>
            <a:r>
              <a:rPr lang="en-US" sz="1130" dirty="0" err="1">
                <a:solidFill>
                  <a:srgbClr val="5C6670"/>
                </a:solidFill>
              </a:rPr>
              <a:t>theo</a:t>
            </a:r>
            <a:r>
              <a:rPr lang="en-US" sz="1130" dirty="0">
                <a:solidFill>
                  <a:srgbClr val="5C6670"/>
                </a:solidFill>
              </a:rPr>
              <a:t> </a:t>
            </a:r>
            <a:r>
              <a:rPr lang="en-US" sz="1130" dirty="0" err="1">
                <a:solidFill>
                  <a:srgbClr val="5C6670"/>
                </a:solidFill>
              </a:rPr>
              <a:t>Nghị</a:t>
            </a:r>
            <a:r>
              <a:rPr lang="en-US" sz="1130" dirty="0">
                <a:solidFill>
                  <a:srgbClr val="5C6670"/>
                </a:solidFill>
              </a:rPr>
              <a:t> </a:t>
            </a:r>
            <a:r>
              <a:rPr lang="en-US" sz="1130" dirty="0" err="1">
                <a:solidFill>
                  <a:srgbClr val="5C6670"/>
                </a:solidFill>
              </a:rPr>
              <a:t>quyết</a:t>
            </a:r>
            <a:r>
              <a:rPr lang="en-US" sz="1130" dirty="0">
                <a:solidFill>
                  <a:srgbClr val="5C6670"/>
                </a:solidFill>
              </a:rPr>
              <a:t> </a:t>
            </a:r>
            <a:r>
              <a:rPr lang="en-US" sz="1130" dirty="0" err="1">
                <a:solidFill>
                  <a:srgbClr val="5C6670"/>
                </a:solidFill>
              </a:rPr>
              <a:t>số</a:t>
            </a:r>
            <a:r>
              <a:rPr lang="en-US" sz="1130" dirty="0">
                <a:solidFill>
                  <a:srgbClr val="5C6670"/>
                </a:solidFill>
              </a:rPr>
              <a:t> 14/2026/NQ-HĐND. </a:t>
            </a:r>
            <a:r>
              <a:rPr lang="en-US" sz="1130" dirty="0" err="1">
                <a:solidFill>
                  <a:srgbClr val="5C6670"/>
                </a:solidFill>
              </a:rPr>
              <a:t>Lựa</a:t>
            </a:r>
            <a:r>
              <a:rPr lang="en-US" sz="1130" dirty="0">
                <a:solidFill>
                  <a:srgbClr val="5C6670"/>
                </a:solidFill>
              </a:rPr>
              <a:t> chọn danh mục phù hợp theo đối tượng, lứa tuổi, năng lực chuyên môn và nguồn lực địa phương.</a:t>
            </a:r>
            <a:endParaRPr lang="en-US" sz="1130" dirty="0"/>
          </a:p>
        </p:txBody>
      </p:sp>
      <p:sp>
        <p:nvSpPr>
          <p:cNvPr id="19" name="Shape 17"/>
          <p:cNvSpPr/>
          <p:nvPr/>
        </p:nvSpPr>
        <p:spPr>
          <a:xfrm>
            <a:off x="8138160" y="2103120"/>
            <a:ext cx="384048" cy="384048"/>
          </a:xfrm>
          <a:prstGeom prst="ellipse">
            <a:avLst/>
          </a:prstGeom>
          <a:solidFill>
            <a:srgbClr val="2E9E65"/>
          </a:solidFill>
          <a:ln w="12700">
            <a:solidFill>
              <a:srgbClr val="2E9E65"/>
            </a:solidFill>
            <a:prstDash val="solid"/>
          </a:ln>
        </p:spPr>
      </p:sp>
      <p:sp>
        <p:nvSpPr>
          <p:cNvPr id="20" name="Text 18"/>
          <p:cNvSpPr/>
          <p:nvPr/>
        </p:nvSpPr>
        <p:spPr>
          <a:xfrm>
            <a:off x="8138160" y="218541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1" name="Text 19"/>
          <p:cNvSpPr/>
          <p:nvPr/>
        </p:nvSpPr>
        <p:spPr>
          <a:xfrm>
            <a:off x="8641080" y="2121408"/>
            <a:ext cx="2286000" cy="256032"/>
          </a:xfrm>
          <a:prstGeom prst="rect">
            <a:avLst/>
          </a:prstGeom>
          <a:noFill/>
          <a:ln/>
        </p:spPr>
        <p:txBody>
          <a:bodyPr wrap="square" lIns="0" tIns="0" rIns="0" bIns="0" rtlCol="0" anchor="ctr"/>
          <a:lstStyle/>
          <a:p>
            <a:pPr marL="0" indent="0">
              <a:buNone/>
            </a:pPr>
            <a:r>
              <a:rPr lang="en-US" sz="1600" b="1" dirty="0">
                <a:solidFill>
                  <a:srgbClr val="073642"/>
                </a:solidFill>
              </a:rPr>
              <a:t>Quy trình</a:t>
            </a:r>
            <a:endParaRPr lang="en-US" sz="1600" dirty="0"/>
          </a:p>
        </p:txBody>
      </p:sp>
      <p:sp>
        <p:nvSpPr>
          <p:cNvPr id="22" name="Text 20"/>
          <p:cNvSpPr/>
          <p:nvPr/>
        </p:nvSpPr>
        <p:spPr>
          <a:xfrm>
            <a:off x="8641080" y="2487168"/>
            <a:ext cx="2926080" cy="429768"/>
          </a:xfrm>
          <a:prstGeom prst="rect">
            <a:avLst/>
          </a:prstGeom>
          <a:noFill/>
          <a:ln/>
        </p:spPr>
        <p:txBody>
          <a:bodyPr wrap="square" lIns="0" tIns="0" rIns="0" bIns="0" rtlCol="0" anchor="ctr">
            <a:normAutofit/>
          </a:bodyPr>
          <a:lstStyle/>
          <a:p>
            <a:pPr marL="0" indent="0">
              <a:buNone/>
            </a:pPr>
            <a:r>
              <a:rPr lang="en-US" sz="1130" dirty="0">
                <a:solidFill>
                  <a:srgbClr val="5C6670"/>
                </a:solidFill>
              </a:rPr>
              <a:t>Tổ chức điểm khám một chiều, 6 bước, có kết luận và tư vấn sau khám.</a:t>
            </a:r>
            <a:endParaRPr lang="en-US" sz="1130" dirty="0"/>
          </a:p>
        </p:txBody>
      </p:sp>
      <p:sp>
        <p:nvSpPr>
          <p:cNvPr id="23" name="Shape 21"/>
          <p:cNvSpPr/>
          <p:nvPr/>
        </p:nvSpPr>
        <p:spPr>
          <a:xfrm>
            <a:off x="640080" y="3429000"/>
            <a:ext cx="384048" cy="384048"/>
          </a:xfrm>
          <a:prstGeom prst="ellipse">
            <a:avLst/>
          </a:prstGeom>
          <a:solidFill>
            <a:srgbClr val="2E9E65"/>
          </a:solidFill>
          <a:ln w="12700">
            <a:solidFill>
              <a:srgbClr val="2E9E65"/>
            </a:solidFill>
            <a:prstDash val="solid"/>
          </a:ln>
        </p:spPr>
      </p:sp>
      <p:sp>
        <p:nvSpPr>
          <p:cNvPr id="24" name="Text 22"/>
          <p:cNvSpPr/>
          <p:nvPr/>
        </p:nvSpPr>
        <p:spPr>
          <a:xfrm>
            <a:off x="640080" y="351129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5" name="Text 23"/>
          <p:cNvSpPr/>
          <p:nvPr/>
        </p:nvSpPr>
        <p:spPr>
          <a:xfrm>
            <a:off x="1143000" y="3447288"/>
            <a:ext cx="2286000" cy="256032"/>
          </a:xfrm>
          <a:prstGeom prst="rect">
            <a:avLst/>
          </a:prstGeom>
          <a:noFill/>
          <a:ln/>
        </p:spPr>
        <p:txBody>
          <a:bodyPr wrap="square" lIns="0" tIns="0" rIns="0" bIns="0" rtlCol="0" anchor="ctr"/>
          <a:lstStyle/>
          <a:p>
            <a:pPr marL="0" indent="0">
              <a:buNone/>
            </a:pPr>
            <a:r>
              <a:rPr lang="en-US" sz="1600" b="1" dirty="0">
                <a:solidFill>
                  <a:srgbClr val="073642"/>
                </a:solidFill>
              </a:rPr>
              <a:t>Dữ liệu</a:t>
            </a:r>
            <a:endParaRPr lang="en-US" sz="1600" dirty="0"/>
          </a:p>
        </p:txBody>
      </p:sp>
      <p:sp>
        <p:nvSpPr>
          <p:cNvPr id="26" name="Text 24"/>
          <p:cNvSpPr/>
          <p:nvPr/>
        </p:nvSpPr>
        <p:spPr>
          <a:xfrm>
            <a:off x="1143000" y="3813048"/>
            <a:ext cx="2926080" cy="429768"/>
          </a:xfrm>
          <a:prstGeom prst="rect">
            <a:avLst/>
          </a:prstGeom>
          <a:noFill/>
          <a:ln/>
        </p:spPr>
        <p:txBody>
          <a:bodyPr wrap="square" lIns="0" tIns="0" rIns="0" bIns="0" rtlCol="0" anchor="ctr">
            <a:normAutofit/>
          </a:bodyPr>
          <a:lstStyle/>
          <a:p>
            <a:pPr marL="0" indent="0">
              <a:buNone/>
            </a:pPr>
            <a:r>
              <a:rPr lang="en-US" sz="1130" dirty="0">
                <a:solidFill>
                  <a:srgbClr val="5C6670"/>
                </a:solidFill>
              </a:rPr>
              <a:t>Cập nhật, ký số, liên thông HSSKĐT; dữ liệu “đúng, đủ, sạch, sống”.</a:t>
            </a:r>
            <a:endParaRPr lang="en-US" sz="1130" dirty="0"/>
          </a:p>
        </p:txBody>
      </p:sp>
      <p:sp>
        <p:nvSpPr>
          <p:cNvPr id="27" name="Shape 25"/>
          <p:cNvSpPr/>
          <p:nvPr/>
        </p:nvSpPr>
        <p:spPr>
          <a:xfrm>
            <a:off x="4389120" y="3429000"/>
            <a:ext cx="384048" cy="384048"/>
          </a:xfrm>
          <a:prstGeom prst="ellipse">
            <a:avLst/>
          </a:prstGeom>
          <a:solidFill>
            <a:srgbClr val="F08A24"/>
          </a:solidFill>
          <a:ln w="12700">
            <a:solidFill>
              <a:srgbClr val="F08A24"/>
            </a:solidFill>
            <a:prstDash val="solid"/>
          </a:ln>
        </p:spPr>
      </p:sp>
      <p:sp>
        <p:nvSpPr>
          <p:cNvPr id="28" name="Text 26"/>
          <p:cNvSpPr/>
          <p:nvPr/>
        </p:nvSpPr>
        <p:spPr>
          <a:xfrm>
            <a:off x="4389120" y="351129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9" name="Text 27"/>
          <p:cNvSpPr/>
          <p:nvPr/>
        </p:nvSpPr>
        <p:spPr>
          <a:xfrm>
            <a:off x="4892040" y="3447288"/>
            <a:ext cx="2286000" cy="256032"/>
          </a:xfrm>
          <a:prstGeom prst="rect">
            <a:avLst/>
          </a:prstGeom>
          <a:noFill/>
          <a:ln/>
        </p:spPr>
        <p:txBody>
          <a:bodyPr wrap="square" lIns="0" tIns="0" rIns="0" bIns="0" rtlCol="0" anchor="ctr"/>
          <a:lstStyle/>
          <a:p>
            <a:pPr marL="0" indent="0">
              <a:buNone/>
            </a:pPr>
            <a:r>
              <a:rPr lang="en-US" sz="1600" b="1" dirty="0">
                <a:solidFill>
                  <a:srgbClr val="073642"/>
                </a:solidFill>
              </a:rPr>
              <a:t>Báo cáo</a:t>
            </a:r>
            <a:endParaRPr lang="en-US" sz="1600" dirty="0"/>
          </a:p>
        </p:txBody>
      </p:sp>
      <p:sp>
        <p:nvSpPr>
          <p:cNvPr id="30" name="Text 28"/>
          <p:cNvSpPr/>
          <p:nvPr/>
        </p:nvSpPr>
        <p:spPr>
          <a:xfrm>
            <a:off x="4892040" y="3813048"/>
            <a:ext cx="2926080" cy="429768"/>
          </a:xfrm>
          <a:prstGeom prst="rect">
            <a:avLst/>
          </a:prstGeom>
          <a:noFill/>
          <a:ln/>
        </p:spPr>
        <p:txBody>
          <a:bodyPr wrap="square" lIns="0" tIns="0" rIns="0" bIns="0" rtlCol="0" anchor="ctr">
            <a:normAutofit/>
          </a:bodyPr>
          <a:lstStyle/>
          <a:p>
            <a:pPr marL="0" indent="0">
              <a:buNone/>
            </a:pPr>
            <a:r>
              <a:rPr lang="en-US" sz="1130" dirty="0">
                <a:solidFill>
                  <a:srgbClr val="5C6670"/>
                </a:solidFill>
              </a:rPr>
              <a:t>Tổng hợp kết quả, mô hình bệnh tật, kinh phí; báo cáo đúng hạn.</a:t>
            </a:r>
            <a:endParaRPr lang="en-US" sz="1130" dirty="0"/>
          </a:p>
        </p:txBody>
      </p:sp>
      <p:sp>
        <p:nvSpPr>
          <p:cNvPr id="31" name="Shape 29"/>
          <p:cNvSpPr/>
          <p:nvPr/>
        </p:nvSpPr>
        <p:spPr>
          <a:xfrm>
            <a:off x="777240" y="5212080"/>
            <a:ext cx="10607040" cy="685800"/>
          </a:xfrm>
          <a:prstGeom prst="roundRect">
            <a:avLst>
              <a:gd name="adj" fmla="val 10667"/>
            </a:avLst>
          </a:prstGeom>
          <a:solidFill>
            <a:srgbClr val="FFFFFF"/>
          </a:solidFill>
          <a:ln w="12700">
            <a:solidFill>
              <a:srgbClr val="CFE1E6"/>
            </a:solidFill>
            <a:prstDash val="solid"/>
          </a:ln>
        </p:spPr>
      </p:sp>
      <p:sp>
        <p:nvSpPr>
          <p:cNvPr id="32" name="Shape 30"/>
          <p:cNvSpPr/>
          <p:nvPr/>
        </p:nvSpPr>
        <p:spPr>
          <a:xfrm>
            <a:off x="777240" y="5212080"/>
            <a:ext cx="64008" cy="685800"/>
          </a:xfrm>
          <a:prstGeom prst="rect">
            <a:avLst/>
          </a:prstGeom>
          <a:solidFill>
            <a:srgbClr val="0B7C82"/>
          </a:solidFill>
          <a:ln w="12700">
            <a:solidFill>
              <a:srgbClr val="0B7C82"/>
            </a:solidFill>
            <a:prstDash val="solid"/>
          </a:ln>
        </p:spPr>
      </p:sp>
      <p:sp>
        <p:nvSpPr>
          <p:cNvPr id="33" name="Text 31"/>
          <p:cNvSpPr/>
          <p:nvPr/>
        </p:nvSpPr>
        <p:spPr>
          <a:xfrm>
            <a:off x="941832" y="5321808"/>
            <a:ext cx="10332720" cy="256032"/>
          </a:xfrm>
          <a:prstGeom prst="rect">
            <a:avLst/>
          </a:prstGeom>
          <a:noFill/>
          <a:ln/>
        </p:spPr>
        <p:txBody>
          <a:bodyPr wrap="square" lIns="0" tIns="0" rIns="0" bIns="0" rtlCol="0" anchor="ctr">
            <a:normAutofit/>
          </a:bodyPr>
          <a:lstStyle/>
          <a:p>
            <a:pPr marL="0" indent="0">
              <a:buNone/>
            </a:pPr>
            <a:r>
              <a:rPr lang="en-US" sz="1600" b="1" dirty="0" err="1">
                <a:solidFill>
                  <a:srgbClr val="073642"/>
                </a:solidFill>
              </a:rPr>
              <a:t>Kết</a:t>
            </a:r>
            <a:r>
              <a:rPr lang="en-US" sz="1600" b="1" dirty="0">
                <a:solidFill>
                  <a:srgbClr val="073642"/>
                </a:solidFill>
              </a:rPr>
              <a:t> </a:t>
            </a:r>
            <a:r>
              <a:rPr lang="en-US" sz="1600" b="1" dirty="0" err="1">
                <a:solidFill>
                  <a:srgbClr val="073642"/>
                </a:solidFill>
              </a:rPr>
              <a:t>quả</a:t>
            </a:r>
            <a:endParaRPr lang="en-US" sz="1600" dirty="0"/>
          </a:p>
        </p:txBody>
      </p:sp>
      <p:sp>
        <p:nvSpPr>
          <p:cNvPr id="34" name="Text 32"/>
          <p:cNvSpPr/>
          <p:nvPr/>
        </p:nvSpPr>
        <p:spPr>
          <a:xfrm>
            <a:off x="941832" y="5687568"/>
            <a:ext cx="10332720" cy="118872"/>
          </a:xfrm>
          <a:prstGeom prst="rect">
            <a:avLst/>
          </a:prstGeom>
          <a:noFill/>
          <a:ln/>
        </p:spPr>
        <p:txBody>
          <a:bodyPr wrap="square" lIns="254" tIns="254" rIns="254" bIns="254" rtlCol="0" anchor="ctr">
            <a:normAutofit fontScale="70000" lnSpcReduction="20000"/>
          </a:bodyPr>
          <a:lstStyle/>
          <a:p>
            <a:pPr marL="0" indent="0">
              <a:buNone/>
            </a:pPr>
            <a:r>
              <a:rPr lang="en-US" sz="1350" dirty="0">
                <a:solidFill>
                  <a:srgbClr val="5C6670"/>
                </a:solidFill>
              </a:rPr>
              <a:t>Mỗi phường, xã có kế hoạch chi tiết, lịch khám, đơn vị khám phối hợp, đầu mối nhập liệu và báo cáo thống nhất.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Cơ sở triển khai</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3</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CƠ SỞ TRIỂN KHAI</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Căn cứ xây dựng kế hoạch</a:t>
            </a:r>
            <a:endParaRPr lang="en-US" sz="2800" dirty="0"/>
          </a:p>
        </p:txBody>
      </p:sp>
      <p:sp>
        <p:nvSpPr>
          <p:cNvPr id="10" name="Text 8"/>
          <p:cNvSpPr/>
          <p:nvPr/>
        </p:nvSpPr>
        <p:spPr>
          <a:xfrm>
            <a:off x="521208" y="1581912"/>
            <a:ext cx="10789920" cy="384048"/>
          </a:xfrm>
          <a:prstGeom prst="rect">
            <a:avLst/>
          </a:prstGeom>
          <a:noFill/>
          <a:ln/>
        </p:spPr>
        <p:txBody>
          <a:bodyPr wrap="square" lIns="0" tIns="0" rIns="0" bIns="0" rtlCol="0" anchor="ctr">
            <a:normAutofit/>
          </a:bodyPr>
          <a:lstStyle/>
          <a:p>
            <a:pPr marL="0" indent="0">
              <a:buNone/>
            </a:pPr>
            <a:r>
              <a:rPr lang="en-US" sz="1400" dirty="0">
                <a:solidFill>
                  <a:srgbClr val="5C6670"/>
                </a:solidFill>
              </a:rPr>
              <a:t>Các căn cứ được dùng để thống nhất phạm vi, chuyên môn, kinh phí và trách nhiệm tổ chức triển khai.</a:t>
            </a:r>
            <a:endParaRPr lang="en-US" sz="1400" dirty="0"/>
          </a:p>
        </p:txBody>
      </p:sp>
      <p:sp>
        <p:nvSpPr>
          <p:cNvPr id="11" name="Shape 9"/>
          <p:cNvSpPr/>
          <p:nvPr/>
        </p:nvSpPr>
        <p:spPr>
          <a:xfrm>
            <a:off x="685800" y="1993392"/>
            <a:ext cx="5349240" cy="822960"/>
          </a:xfrm>
          <a:prstGeom prst="roundRect">
            <a:avLst>
              <a:gd name="adj" fmla="val 8889"/>
            </a:avLst>
          </a:prstGeom>
          <a:solidFill>
            <a:srgbClr val="FFFFFF"/>
          </a:solidFill>
          <a:ln w="12700">
            <a:solidFill>
              <a:srgbClr val="CFE1E6"/>
            </a:solidFill>
            <a:prstDash val="solid"/>
          </a:ln>
        </p:spPr>
      </p:sp>
      <p:sp>
        <p:nvSpPr>
          <p:cNvPr id="12" name="Shape 10"/>
          <p:cNvSpPr/>
          <p:nvPr/>
        </p:nvSpPr>
        <p:spPr>
          <a:xfrm>
            <a:off x="685800" y="1993392"/>
            <a:ext cx="64008" cy="822960"/>
          </a:xfrm>
          <a:prstGeom prst="rect">
            <a:avLst/>
          </a:prstGeom>
          <a:solidFill>
            <a:srgbClr val="0B7C82"/>
          </a:solidFill>
          <a:ln w="12700">
            <a:solidFill>
              <a:srgbClr val="0B7C82"/>
            </a:solidFill>
            <a:prstDash val="solid"/>
          </a:ln>
        </p:spPr>
      </p:sp>
      <p:sp>
        <p:nvSpPr>
          <p:cNvPr id="13" name="Text 11"/>
          <p:cNvSpPr/>
          <p:nvPr/>
        </p:nvSpPr>
        <p:spPr>
          <a:xfrm>
            <a:off x="850392" y="2103120"/>
            <a:ext cx="507492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Định hướng chính sách</a:t>
            </a:r>
            <a:endParaRPr lang="en-US" sz="1600" dirty="0"/>
          </a:p>
        </p:txBody>
      </p:sp>
      <p:sp>
        <p:nvSpPr>
          <p:cNvPr id="14" name="Text 12"/>
          <p:cNvSpPr/>
          <p:nvPr/>
        </p:nvSpPr>
        <p:spPr>
          <a:xfrm>
            <a:off x="850392" y="2313432"/>
            <a:ext cx="5074920" cy="411480"/>
          </a:xfrm>
          <a:prstGeom prst="rect">
            <a:avLst/>
          </a:prstGeom>
          <a:noFill/>
          <a:ln/>
        </p:spPr>
        <p:txBody>
          <a:bodyPr wrap="square" lIns="254" tIns="254" rIns="254" bIns="254" rtlCol="0" anchor="ctr">
            <a:normAutofit/>
          </a:bodyPr>
          <a:lstStyle/>
          <a:p>
            <a:pPr marL="0" indent="0">
              <a:buNone/>
            </a:pPr>
            <a:r>
              <a:rPr lang="en-US" sz="1250" dirty="0">
                <a:solidFill>
                  <a:srgbClr val="5C6670"/>
                </a:solidFill>
              </a:rPr>
              <a:t>Nghị quyết 72-NQ/TW; Chỉ thị 17/CT-TTg về khám sức khỏe định kỳ hoặc khám sàng lọc miễn phí cho người dân.</a:t>
            </a:r>
            <a:endParaRPr lang="en-US" sz="1250" dirty="0"/>
          </a:p>
        </p:txBody>
      </p:sp>
      <p:sp>
        <p:nvSpPr>
          <p:cNvPr id="15" name="Shape 13"/>
          <p:cNvSpPr/>
          <p:nvPr/>
        </p:nvSpPr>
        <p:spPr>
          <a:xfrm>
            <a:off x="6217920" y="1993392"/>
            <a:ext cx="5166360" cy="822960"/>
          </a:xfrm>
          <a:prstGeom prst="roundRect">
            <a:avLst>
              <a:gd name="adj" fmla="val 8889"/>
            </a:avLst>
          </a:prstGeom>
          <a:solidFill>
            <a:srgbClr val="FFFFFF"/>
          </a:solidFill>
          <a:ln w="12700">
            <a:solidFill>
              <a:srgbClr val="CFE1E6"/>
            </a:solidFill>
            <a:prstDash val="solid"/>
          </a:ln>
        </p:spPr>
      </p:sp>
      <p:sp>
        <p:nvSpPr>
          <p:cNvPr id="16" name="Shape 14"/>
          <p:cNvSpPr/>
          <p:nvPr/>
        </p:nvSpPr>
        <p:spPr>
          <a:xfrm>
            <a:off x="6217920" y="1993392"/>
            <a:ext cx="64008" cy="822960"/>
          </a:xfrm>
          <a:prstGeom prst="rect">
            <a:avLst/>
          </a:prstGeom>
          <a:solidFill>
            <a:srgbClr val="2E9E65"/>
          </a:solidFill>
          <a:ln w="12700">
            <a:solidFill>
              <a:srgbClr val="2E9E65"/>
            </a:solidFill>
            <a:prstDash val="solid"/>
          </a:ln>
        </p:spPr>
      </p:sp>
      <p:sp>
        <p:nvSpPr>
          <p:cNvPr id="17" name="Text 15"/>
          <p:cNvSpPr/>
          <p:nvPr/>
        </p:nvSpPr>
        <p:spPr>
          <a:xfrm>
            <a:off x="6382512" y="2103120"/>
            <a:ext cx="489204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Pháp lý – chương trình</a:t>
            </a:r>
            <a:endParaRPr lang="en-US" sz="1600" dirty="0"/>
          </a:p>
        </p:txBody>
      </p:sp>
      <p:sp>
        <p:nvSpPr>
          <p:cNvPr id="18" name="Text 16"/>
          <p:cNvSpPr/>
          <p:nvPr/>
        </p:nvSpPr>
        <p:spPr>
          <a:xfrm>
            <a:off x="6382512" y="2359152"/>
            <a:ext cx="4892040" cy="365760"/>
          </a:xfrm>
          <a:prstGeom prst="rect">
            <a:avLst/>
          </a:prstGeom>
          <a:noFill/>
          <a:ln/>
        </p:spPr>
        <p:txBody>
          <a:bodyPr wrap="square" lIns="254" tIns="254" rIns="254" bIns="254" rtlCol="0" anchor="ctr">
            <a:normAutofit fontScale="92500" lnSpcReduction="10000"/>
          </a:bodyPr>
          <a:lstStyle/>
          <a:p>
            <a:pPr marL="0" indent="0">
              <a:buNone/>
            </a:pPr>
            <a:r>
              <a:rPr lang="en-US" sz="1250" dirty="0">
                <a:solidFill>
                  <a:srgbClr val="5C6670"/>
                </a:solidFill>
              </a:rPr>
              <a:t>Nghị định 165/2026/NĐ-CP; Thông tư 34/2026/TT-BYT; Quyết định 1709/QĐ-BYT.</a:t>
            </a:r>
            <a:endParaRPr lang="en-US" sz="1250" dirty="0"/>
          </a:p>
        </p:txBody>
      </p:sp>
      <p:sp>
        <p:nvSpPr>
          <p:cNvPr id="19" name="Shape 17"/>
          <p:cNvSpPr/>
          <p:nvPr/>
        </p:nvSpPr>
        <p:spPr>
          <a:xfrm>
            <a:off x="685800" y="3063240"/>
            <a:ext cx="5349240" cy="914400"/>
          </a:xfrm>
          <a:prstGeom prst="roundRect">
            <a:avLst>
              <a:gd name="adj" fmla="val 8000"/>
            </a:avLst>
          </a:prstGeom>
          <a:solidFill>
            <a:srgbClr val="FFFFFF"/>
          </a:solidFill>
          <a:ln w="12700">
            <a:solidFill>
              <a:srgbClr val="CFE1E6"/>
            </a:solidFill>
            <a:prstDash val="solid"/>
          </a:ln>
        </p:spPr>
      </p:sp>
      <p:sp>
        <p:nvSpPr>
          <p:cNvPr id="20" name="Shape 18"/>
          <p:cNvSpPr/>
          <p:nvPr/>
        </p:nvSpPr>
        <p:spPr>
          <a:xfrm>
            <a:off x="685800" y="3063240"/>
            <a:ext cx="64008" cy="914400"/>
          </a:xfrm>
          <a:prstGeom prst="rect">
            <a:avLst/>
          </a:prstGeom>
          <a:solidFill>
            <a:srgbClr val="F08A24"/>
          </a:solidFill>
          <a:ln w="12700">
            <a:solidFill>
              <a:srgbClr val="F08A24"/>
            </a:solidFill>
            <a:prstDash val="solid"/>
          </a:ln>
        </p:spPr>
      </p:sp>
      <p:sp>
        <p:nvSpPr>
          <p:cNvPr id="21" name="Text 19"/>
          <p:cNvSpPr/>
          <p:nvPr/>
        </p:nvSpPr>
        <p:spPr>
          <a:xfrm>
            <a:off x="850392" y="3172968"/>
            <a:ext cx="507492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Hướng dẫn chuyên môn</a:t>
            </a:r>
            <a:endParaRPr lang="en-US" sz="1600" dirty="0"/>
          </a:p>
        </p:txBody>
      </p:sp>
      <p:sp>
        <p:nvSpPr>
          <p:cNvPr id="22" name="Text 20"/>
          <p:cNvSpPr/>
          <p:nvPr/>
        </p:nvSpPr>
        <p:spPr>
          <a:xfrm>
            <a:off x="850392" y="3538728"/>
            <a:ext cx="5074920" cy="347472"/>
          </a:xfrm>
          <a:prstGeom prst="rect">
            <a:avLst/>
          </a:prstGeom>
          <a:noFill/>
          <a:ln/>
        </p:spPr>
        <p:txBody>
          <a:bodyPr wrap="square" lIns="254" tIns="254" rIns="254" bIns="254" rtlCol="0" anchor="ctr">
            <a:normAutofit lnSpcReduction="10000"/>
          </a:bodyPr>
          <a:lstStyle/>
          <a:p>
            <a:pPr marL="0" indent="0">
              <a:buNone/>
            </a:pPr>
            <a:r>
              <a:rPr lang="en-US" sz="1250" dirty="0">
                <a:solidFill>
                  <a:srgbClr val="5C6670"/>
                </a:solidFill>
              </a:rPr>
              <a:t>Quyết định 1983/QĐ-BYT; Quyết định 1981/QĐ-BYT; Công văn 5696/SYT-NVY hướng dẫn chuyên môn khám sàng lọc miễn phí.</a:t>
            </a:r>
            <a:endParaRPr lang="en-US" sz="1250" dirty="0"/>
          </a:p>
        </p:txBody>
      </p:sp>
      <p:sp>
        <p:nvSpPr>
          <p:cNvPr id="23" name="Shape 21"/>
          <p:cNvSpPr/>
          <p:nvPr/>
        </p:nvSpPr>
        <p:spPr>
          <a:xfrm>
            <a:off x="6217920" y="3063240"/>
            <a:ext cx="5166360" cy="914400"/>
          </a:xfrm>
          <a:prstGeom prst="roundRect">
            <a:avLst>
              <a:gd name="adj" fmla="val 8000"/>
            </a:avLst>
          </a:prstGeom>
          <a:solidFill>
            <a:srgbClr val="FFFFFF"/>
          </a:solidFill>
          <a:ln w="12700">
            <a:solidFill>
              <a:srgbClr val="CFE1E6"/>
            </a:solidFill>
            <a:prstDash val="solid"/>
          </a:ln>
        </p:spPr>
      </p:sp>
      <p:sp>
        <p:nvSpPr>
          <p:cNvPr id="24" name="Shape 22"/>
          <p:cNvSpPr/>
          <p:nvPr/>
        </p:nvSpPr>
        <p:spPr>
          <a:xfrm>
            <a:off x="6217920" y="3063240"/>
            <a:ext cx="64008" cy="914400"/>
          </a:xfrm>
          <a:prstGeom prst="rect">
            <a:avLst/>
          </a:prstGeom>
          <a:solidFill>
            <a:srgbClr val="075B63"/>
          </a:solidFill>
          <a:ln w="12700">
            <a:solidFill>
              <a:srgbClr val="075B63"/>
            </a:solidFill>
            <a:prstDash val="solid"/>
          </a:ln>
        </p:spPr>
      </p:sp>
      <p:sp>
        <p:nvSpPr>
          <p:cNvPr id="25" name="Text 23"/>
          <p:cNvSpPr/>
          <p:nvPr/>
        </p:nvSpPr>
        <p:spPr>
          <a:xfrm>
            <a:off x="6382512" y="3172968"/>
            <a:ext cx="489204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Kế hoạch Thành phố / </a:t>
            </a:r>
            <a:r>
              <a:rPr lang="en-US" sz="1600" b="1" dirty="0" err="1">
                <a:solidFill>
                  <a:srgbClr val="073642"/>
                </a:solidFill>
              </a:rPr>
              <a:t>Sở</a:t>
            </a:r>
            <a:r>
              <a:rPr lang="en-US" sz="1600" b="1" dirty="0">
                <a:solidFill>
                  <a:srgbClr val="073642"/>
                </a:solidFill>
              </a:rPr>
              <a:t> Y </a:t>
            </a:r>
            <a:r>
              <a:rPr lang="en-US" sz="1600" b="1" dirty="0" err="1">
                <a:solidFill>
                  <a:srgbClr val="073642"/>
                </a:solidFill>
              </a:rPr>
              <a:t>tế</a:t>
            </a:r>
            <a:endParaRPr lang="en-US" sz="1600" dirty="0"/>
          </a:p>
        </p:txBody>
      </p:sp>
      <p:sp>
        <p:nvSpPr>
          <p:cNvPr id="26" name="Text 24"/>
          <p:cNvSpPr/>
          <p:nvPr/>
        </p:nvSpPr>
        <p:spPr>
          <a:xfrm>
            <a:off x="6382512" y="3538728"/>
            <a:ext cx="4892040" cy="347472"/>
          </a:xfrm>
          <a:prstGeom prst="rect">
            <a:avLst/>
          </a:prstGeom>
          <a:noFill/>
          <a:ln/>
        </p:spPr>
        <p:txBody>
          <a:bodyPr wrap="square" lIns="254" tIns="254" rIns="254" bIns="254" rtlCol="0" anchor="ctr">
            <a:normAutofit lnSpcReduction="10000"/>
          </a:bodyPr>
          <a:lstStyle/>
          <a:p>
            <a:pPr marL="0" indent="0">
              <a:buNone/>
            </a:pPr>
            <a:r>
              <a:rPr lang="en-US" sz="1250" dirty="0">
                <a:solidFill>
                  <a:srgbClr val="5C6670"/>
                </a:solidFill>
              </a:rPr>
              <a:t>Quyết định 2944/QĐ-UBND; Nghị quyết 14/2026/NQ-HĐND; Kế hoạch 6243/KH-SYT và văn bản liên quan.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Mục đích – yêu cầu</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4</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MỤC TIÊU 2026</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Mục đích và yêu cầu triển khai</a:t>
            </a:r>
            <a:endParaRPr lang="en-US" sz="2800" dirty="0"/>
          </a:p>
        </p:txBody>
      </p:sp>
      <p:sp>
        <p:nvSpPr>
          <p:cNvPr id="10" name="Text 8"/>
          <p:cNvSpPr/>
          <p:nvPr/>
        </p:nvSpPr>
        <p:spPr>
          <a:xfrm>
            <a:off x="521208" y="1581912"/>
            <a:ext cx="10789920" cy="384048"/>
          </a:xfrm>
          <a:prstGeom prst="rect">
            <a:avLst/>
          </a:prstGeom>
          <a:noFill/>
          <a:ln/>
        </p:spPr>
        <p:txBody>
          <a:bodyPr wrap="square" lIns="0" tIns="0" rIns="0" bIns="0" rtlCol="0" anchor="ctr">
            <a:normAutofit/>
          </a:bodyPr>
          <a:lstStyle/>
          <a:p>
            <a:pPr marL="0" indent="0">
              <a:buNone/>
            </a:pPr>
            <a:r>
              <a:rPr lang="en-US" sz="1400" dirty="0">
                <a:solidFill>
                  <a:srgbClr val="5C6670"/>
                </a:solidFill>
              </a:rPr>
              <a:t>Khám sàng lọc là một khâu trong quản lý sức khỏe theo vòng đời, không chỉ là tổ chức một buổi khám.</a:t>
            </a:r>
            <a:endParaRPr lang="en-US" sz="1400" dirty="0"/>
          </a:p>
        </p:txBody>
      </p:sp>
      <p:sp>
        <p:nvSpPr>
          <p:cNvPr id="11" name="Shape 9"/>
          <p:cNvSpPr/>
          <p:nvPr/>
        </p:nvSpPr>
        <p:spPr>
          <a:xfrm>
            <a:off x="685800" y="2148840"/>
            <a:ext cx="5303520" cy="1143000"/>
          </a:xfrm>
          <a:prstGeom prst="roundRect">
            <a:avLst>
              <a:gd name="adj" fmla="val 6400"/>
            </a:avLst>
          </a:prstGeom>
          <a:solidFill>
            <a:srgbClr val="FFFFFF"/>
          </a:solidFill>
          <a:ln w="12700">
            <a:solidFill>
              <a:srgbClr val="CFE1E6"/>
            </a:solidFill>
            <a:prstDash val="solid"/>
          </a:ln>
        </p:spPr>
      </p:sp>
      <p:sp>
        <p:nvSpPr>
          <p:cNvPr id="12" name="Shape 10"/>
          <p:cNvSpPr/>
          <p:nvPr/>
        </p:nvSpPr>
        <p:spPr>
          <a:xfrm>
            <a:off x="685800" y="2148840"/>
            <a:ext cx="64008" cy="1143000"/>
          </a:xfrm>
          <a:prstGeom prst="rect">
            <a:avLst/>
          </a:prstGeom>
          <a:solidFill>
            <a:srgbClr val="0B7C82"/>
          </a:solidFill>
          <a:ln w="12700">
            <a:solidFill>
              <a:srgbClr val="0B7C82"/>
            </a:solidFill>
            <a:prstDash val="solid"/>
          </a:ln>
        </p:spPr>
      </p:sp>
      <p:sp>
        <p:nvSpPr>
          <p:cNvPr id="13" name="Text 11"/>
          <p:cNvSpPr/>
          <p:nvPr/>
        </p:nvSpPr>
        <p:spPr>
          <a:xfrm>
            <a:off x="850392" y="2258568"/>
            <a:ext cx="502920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Mục đích</a:t>
            </a:r>
            <a:endParaRPr lang="en-US" sz="1600" dirty="0"/>
          </a:p>
        </p:txBody>
      </p:sp>
      <p:sp>
        <p:nvSpPr>
          <p:cNvPr id="14" name="Text 12"/>
          <p:cNvSpPr/>
          <p:nvPr/>
        </p:nvSpPr>
        <p:spPr>
          <a:xfrm>
            <a:off x="850392" y="2624328"/>
            <a:ext cx="5029200" cy="576072"/>
          </a:xfrm>
          <a:prstGeom prst="rect">
            <a:avLst/>
          </a:prstGeom>
          <a:noFill/>
          <a:ln/>
        </p:spPr>
        <p:txBody>
          <a:bodyPr wrap="square" lIns="254" tIns="254" rIns="254" bIns="254" rtlCol="0" anchor="ctr">
            <a:normAutofit lnSpcReduction="10000"/>
          </a:bodyPr>
          <a:lstStyle/>
          <a:p>
            <a:pPr marL="0" indent="0">
              <a:buNone/>
            </a:pPr>
            <a:r>
              <a:rPr lang="en-US" sz="1350" dirty="0">
                <a:solidFill>
                  <a:srgbClr val="5C6670"/>
                </a:solidFill>
              </a:rPr>
              <a:t>Phát hiện sớm nguy cơ mắc bệnh không lây nhiễm; can thiệp kịp thời, dự phòng, quản lý bệnh hiệu quả, phòng biến chứng và giảm tử vong.</a:t>
            </a:r>
            <a:endParaRPr lang="en-US" sz="1350" dirty="0"/>
          </a:p>
        </p:txBody>
      </p:sp>
      <p:sp>
        <p:nvSpPr>
          <p:cNvPr id="15" name="Shape 13"/>
          <p:cNvSpPr/>
          <p:nvPr/>
        </p:nvSpPr>
        <p:spPr>
          <a:xfrm>
            <a:off x="6263640" y="2148840"/>
            <a:ext cx="5120640" cy="1143000"/>
          </a:xfrm>
          <a:prstGeom prst="roundRect">
            <a:avLst>
              <a:gd name="adj" fmla="val 6400"/>
            </a:avLst>
          </a:prstGeom>
          <a:solidFill>
            <a:srgbClr val="FFFFFF"/>
          </a:solidFill>
          <a:ln w="12700">
            <a:solidFill>
              <a:srgbClr val="CFE1E6"/>
            </a:solidFill>
            <a:prstDash val="solid"/>
          </a:ln>
        </p:spPr>
      </p:sp>
      <p:sp>
        <p:nvSpPr>
          <p:cNvPr id="16" name="Shape 14"/>
          <p:cNvSpPr/>
          <p:nvPr/>
        </p:nvSpPr>
        <p:spPr>
          <a:xfrm>
            <a:off x="6263640" y="2148840"/>
            <a:ext cx="64008" cy="1143000"/>
          </a:xfrm>
          <a:prstGeom prst="rect">
            <a:avLst/>
          </a:prstGeom>
          <a:solidFill>
            <a:srgbClr val="2E9E65"/>
          </a:solidFill>
          <a:ln w="12700">
            <a:solidFill>
              <a:srgbClr val="2E9E65"/>
            </a:solidFill>
            <a:prstDash val="solid"/>
          </a:ln>
        </p:spPr>
      </p:sp>
      <p:sp>
        <p:nvSpPr>
          <p:cNvPr id="17" name="Text 15"/>
          <p:cNvSpPr/>
          <p:nvPr/>
        </p:nvSpPr>
        <p:spPr>
          <a:xfrm>
            <a:off x="6428232" y="2258568"/>
            <a:ext cx="484632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Góp phần đạt mục tiêu chung</a:t>
            </a:r>
            <a:endParaRPr lang="en-US" sz="1600" dirty="0"/>
          </a:p>
        </p:txBody>
      </p:sp>
      <p:sp>
        <p:nvSpPr>
          <p:cNvPr id="18" name="Text 16"/>
          <p:cNvSpPr/>
          <p:nvPr/>
        </p:nvSpPr>
        <p:spPr>
          <a:xfrm>
            <a:off x="6428232" y="2624328"/>
            <a:ext cx="4846320" cy="576072"/>
          </a:xfrm>
          <a:prstGeom prst="rect">
            <a:avLst/>
          </a:prstGeom>
          <a:noFill/>
          <a:ln/>
        </p:spPr>
        <p:txBody>
          <a:bodyPr wrap="square" lIns="254" tIns="254" rIns="254" bIns="254" rtlCol="0" anchor="ctr">
            <a:normAutofit lnSpcReduction="10000"/>
          </a:bodyPr>
          <a:lstStyle/>
          <a:p>
            <a:pPr marL="0" indent="0">
              <a:buNone/>
            </a:pPr>
            <a:r>
              <a:rPr lang="en-US" sz="1350" dirty="0">
                <a:solidFill>
                  <a:srgbClr val="5C6670"/>
                </a:solidFill>
              </a:rPr>
              <a:t>100% người dân được khám sức khỏe định kỳ hoặc khám sàng lọc miễn phí ít nhất mỗi năm 01 lần; lập HSSKĐT để quản lý sức khỏe theo vòng đời.</a:t>
            </a:r>
            <a:endParaRPr lang="en-US" sz="1350" dirty="0"/>
          </a:p>
        </p:txBody>
      </p:sp>
      <p:sp>
        <p:nvSpPr>
          <p:cNvPr id="19" name="Text 17"/>
          <p:cNvSpPr/>
          <p:nvPr/>
        </p:nvSpPr>
        <p:spPr>
          <a:xfrm>
            <a:off x="822960" y="3703320"/>
            <a:ext cx="2743200" cy="219456"/>
          </a:xfrm>
          <a:prstGeom prst="rect">
            <a:avLst/>
          </a:prstGeom>
          <a:noFill/>
          <a:ln/>
        </p:spPr>
        <p:txBody>
          <a:bodyPr wrap="square" lIns="0" tIns="0" rIns="0" bIns="0" rtlCol="0" anchor="ctr"/>
          <a:lstStyle/>
          <a:p>
            <a:pPr marL="0" indent="0">
              <a:buNone/>
            </a:pPr>
            <a:r>
              <a:rPr lang="en-US" sz="850" b="1" dirty="0">
                <a:solidFill>
                  <a:srgbClr val="0B7C82"/>
                </a:solidFill>
              </a:rPr>
              <a:t>03 yêu cầu trọng tâm</a:t>
            </a:r>
            <a:endParaRPr lang="en-US" sz="850" dirty="0"/>
          </a:p>
        </p:txBody>
      </p:sp>
      <p:sp>
        <p:nvSpPr>
          <p:cNvPr id="20" name="Shape 18"/>
          <p:cNvSpPr/>
          <p:nvPr/>
        </p:nvSpPr>
        <p:spPr>
          <a:xfrm>
            <a:off x="685800" y="4041648"/>
            <a:ext cx="3337560" cy="1051560"/>
          </a:xfrm>
          <a:prstGeom prst="roundRect">
            <a:avLst>
              <a:gd name="adj" fmla="val 6957"/>
            </a:avLst>
          </a:prstGeom>
          <a:solidFill>
            <a:srgbClr val="FFFFFF"/>
          </a:solidFill>
          <a:ln w="12700">
            <a:solidFill>
              <a:srgbClr val="CFE1E6"/>
            </a:solidFill>
            <a:prstDash val="solid"/>
          </a:ln>
        </p:spPr>
      </p:sp>
      <p:sp>
        <p:nvSpPr>
          <p:cNvPr id="21" name="Shape 19"/>
          <p:cNvSpPr/>
          <p:nvPr/>
        </p:nvSpPr>
        <p:spPr>
          <a:xfrm>
            <a:off x="685800" y="4041648"/>
            <a:ext cx="64008" cy="1051560"/>
          </a:xfrm>
          <a:prstGeom prst="rect">
            <a:avLst/>
          </a:prstGeom>
          <a:solidFill>
            <a:srgbClr val="0B7C82"/>
          </a:solidFill>
          <a:ln w="12700">
            <a:solidFill>
              <a:srgbClr val="0B7C82"/>
            </a:solidFill>
            <a:prstDash val="solid"/>
          </a:ln>
        </p:spPr>
      </p:sp>
      <p:sp>
        <p:nvSpPr>
          <p:cNvPr id="22" name="Text 20"/>
          <p:cNvSpPr/>
          <p:nvPr/>
        </p:nvSpPr>
        <p:spPr>
          <a:xfrm>
            <a:off x="850392" y="4151376"/>
            <a:ext cx="306324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1. Lồng ghép</a:t>
            </a:r>
            <a:endParaRPr lang="en-US" sz="1600" dirty="0"/>
          </a:p>
        </p:txBody>
      </p:sp>
      <p:sp>
        <p:nvSpPr>
          <p:cNvPr id="23" name="Text 21"/>
          <p:cNvSpPr/>
          <p:nvPr/>
        </p:nvSpPr>
        <p:spPr>
          <a:xfrm>
            <a:off x="850392" y="4517136"/>
            <a:ext cx="3063240" cy="484632"/>
          </a:xfrm>
          <a:prstGeom prst="rect">
            <a:avLst/>
          </a:prstGeom>
          <a:noFill/>
          <a:ln/>
        </p:spPr>
        <p:txBody>
          <a:bodyPr wrap="square" lIns="254" tIns="254" rIns="254" bIns="254" rtlCol="0" anchor="ctr">
            <a:normAutofit fontScale="92500"/>
          </a:bodyPr>
          <a:lstStyle/>
          <a:p>
            <a:pPr marL="0" indent="0">
              <a:buNone/>
            </a:pPr>
            <a:r>
              <a:rPr lang="en-US" sz="1250" dirty="0">
                <a:solidFill>
                  <a:srgbClr val="5C6670"/>
                </a:solidFill>
              </a:rPr>
              <a:t>Một lần khám phát hiện sớm đồng thời nhiều bệnh KLN và rối loạn tâm thần tại cộng đồng.</a:t>
            </a:r>
            <a:endParaRPr lang="en-US" sz="1250" dirty="0"/>
          </a:p>
        </p:txBody>
      </p:sp>
      <p:sp>
        <p:nvSpPr>
          <p:cNvPr id="24" name="Shape 22"/>
          <p:cNvSpPr/>
          <p:nvPr/>
        </p:nvSpPr>
        <p:spPr>
          <a:xfrm>
            <a:off x="4434840" y="4041648"/>
            <a:ext cx="3337560" cy="1051560"/>
          </a:xfrm>
          <a:prstGeom prst="roundRect">
            <a:avLst>
              <a:gd name="adj" fmla="val 6957"/>
            </a:avLst>
          </a:prstGeom>
          <a:solidFill>
            <a:srgbClr val="FFFFFF"/>
          </a:solidFill>
          <a:ln w="12700">
            <a:solidFill>
              <a:srgbClr val="CFE1E6"/>
            </a:solidFill>
            <a:prstDash val="solid"/>
          </a:ln>
        </p:spPr>
      </p:sp>
      <p:sp>
        <p:nvSpPr>
          <p:cNvPr id="25" name="Shape 23"/>
          <p:cNvSpPr/>
          <p:nvPr/>
        </p:nvSpPr>
        <p:spPr>
          <a:xfrm>
            <a:off x="4434840" y="4041648"/>
            <a:ext cx="64008" cy="1051560"/>
          </a:xfrm>
          <a:prstGeom prst="rect">
            <a:avLst/>
          </a:prstGeom>
          <a:solidFill>
            <a:srgbClr val="F08A24"/>
          </a:solidFill>
          <a:ln w="12700">
            <a:solidFill>
              <a:srgbClr val="F08A24"/>
            </a:solidFill>
            <a:prstDash val="solid"/>
          </a:ln>
        </p:spPr>
      </p:sp>
      <p:sp>
        <p:nvSpPr>
          <p:cNvPr id="26" name="Text 24"/>
          <p:cNvSpPr/>
          <p:nvPr/>
        </p:nvSpPr>
        <p:spPr>
          <a:xfrm>
            <a:off x="4599432" y="4151376"/>
            <a:ext cx="306324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2. Đúng chuyên môn</a:t>
            </a:r>
            <a:endParaRPr lang="en-US" sz="1600" dirty="0"/>
          </a:p>
        </p:txBody>
      </p:sp>
      <p:sp>
        <p:nvSpPr>
          <p:cNvPr id="27" name="Text 25"/>
          <p:cNvSpPr/>
          <p:nvPr/>
        </p:nvSpPr>
        <p:spPr>
          <a:xfrm>
            <a:off x="4599432" y="4517136"/>
            <a:ext cx="3063240" cy="484632"/>
          </a:xfrm>
          <a:prstGeom prst="rect">
            <a:avLst/>
          </a:prstGeom>
          <a:noFill/>
          <a:ln/>
        </p:spPr>
        <p:txBody>
          <a:bodyPr wrap="square" lIns="254" tIns="254" rIns="254" bIns="254" rtlCol="0" anchor="ctr">
            <a:normAutofit fontScale="92500" lnSpcReduction="20000"/>
          </a:bodyPr>
          <a:lstStyle/>
          <a:p>
            <a:pPr marL="0" indent="0">
              <a:buNone/>
            </a:pPr>
            <a:r>
              <a:rPr lang="en-US" sz="1250" dirty="0">
                <a:solidFill>
                  <a:srgbClr val="5C6670"/>
                </a:solidFill>
              </a:rPr>
              <a:t>Tuân thủ nội dung chuyên môn theo từng nhóm đối tượng; nhập liệu kết quả khám theo quy định.</a:t>
            </a:r>
            <a:endParaRPr lang="en-US" sz="1250" dirty="0"/>
          </a:p>
        </p:txBody>
      </p:sp>
      <p:sp>
        <p:nvSpPr>
          <p:cNvPr id="28" name="Shape 26"/>
          <p:cNvSpPr/>
          <p:nvPr/>
        </p:nvSpPr>
        <p:spPr>
          <a:xfrm>
            <a:off x="8183880" y="4041648"/>
            <a:ext cx="3200400" cy="1051560"/>
          </a:xfrm>
          <a:prstGeom prst="roundRect">
            <a:avLst>
              <a:gd name="adj" fmla="val 6957"/>
            </a:avLst>
          </a:prstGeom>
          <a:solidFill>
            <a:srgbClr val="FFFFFF"/>
          </a:solidFill>
          <a:ln w="12700">
            <a:solidFill>
              <a:srgbClr val="CFE1E6"/>
            </a:solidFill>
            <a:prstDash val="solid"/>
          </a:ln>
        </p:spPr>
      </p:sp>
      <p:sp>
        <p:nvSpPr>
          <p:cNvPr id="29" name="Shape 27"/>
          <p:cNvSpPr/>
          <p:nvPr/>
        </p:nvSpPr>
        <p:spPr>
          <a:xfrm>
            <a:off x="8183880" y="4041648"/>
            <a:ext cx="64008" cy="1051560"/>
          </a:xfrm>
          <a:prstGeom prst="rect">
            <a:avLst/>
          </a:prstGeom>
          <a:solidFill>
            <a:srgbClr val="2E9E65"/>
          </a:solidFill>
          <a:ln w="12700">
            <a:solidFill>
              <a:srgbClr val="2E9E65"/>
            </a:solidFill>
            <a:prstDash val="solid"/>
          </a:ln>
        </p:spPr>
      </p:sp>
      <p:sp>
        <p:nvSpPr>
          <p:cNvPr id="30" name="Text 28"/>
          <p:cNvSpPr/>
          <p:nvPr/>
        </p:nvSpPr>
        <p:spPr>
          <a:xfrm>
            <a:off x="8348472" y="4151376"/>
            <a:ext cx="29260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3. Rõ điều phối</a:t>
            </a:r>
            <a:endParaRPr lang="en-US" sz="1600" dirty="0"/>
          </a:p>
        </p:txBody>
      </p:sp>
      <p:sp>
        <p:nvSpPr>
          <p:cNvPr id="31" name="Text 29"/>
          <p:cNvSpPr/>
          <p:nvPr/>
        </p:nvSpPr>
        <p:spPr>
          <a:xfrm>
            <a:off x="8348472" y="4517136"/>
            <a:ext cx="2926080" cy="484632"/>
          </a:xfrm>
          <a:prstGeom prst="rect">
            <a:avLst/>
          </a:prstGeom>
          <a:noFill/>
          <a:ln/>
        </p:spPr>
        <p:txBody>
          <a:bodyPr wrap="square" lIns="254" tIns="254" rIns="254" bIns="254" rtlCol="0" anchor="ctr">
            <a:normAutofit/>
          </a:bodyPr>
          <a:lstStyle/>
          <a:p>
            <a:pPr marL="0" indent="0">
              <a:buNone/>
            </a:pPr>
            <a:r>
              <a:rPr lang="en-US" sz="1250" dirty="0">
                <a:solidFill>
                  <a:srgbClr val="5C6670"/>
                </a:solidFill>
              </a:rPr>
              <a:t>Phù hợp năng lực từng đơn vị; rõ đầu mối, rõ trách nhiệm, rõ địa bàn phụ trách.</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Phạm vi – đối tượng</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5</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TRIỂN KHAI 2026</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Phạm vi, đối tượng và thời gian thực hiện</a:t>
            </a:r>
            <a:endParaRPr lang="en-US" sz="2800" dirty="0"/>
          </a:p>
        </p:txBody>
      </p:sp>
      <p:sp>
        <p:nvSpPr>
          <p:cNvPr id="10" name="Text 8"/>
          <p:cNvSpPr/>
          <p:nvPr/>
        </p:nvSpPr>
        <p:spPr>
          <a:xfrm>
            <a:off x="777240" y="1828800"/>
            <a:ext cx="2103120" cy="384048"/>
          </a:xfrm>
          <a:prstGeom prst="rect">
            <a:avLst/>
          </a:prstGeom>
          <a:noFill/>
          <a:ln/>
        </p:spPr>
        <p:txBody>
          <a:bodyPr wrap="square" lIns="0" tIns="0" rIns="0" bIns="0" rtlCol="0" anchor="ctr">
            <a:normAutofit/>
          </a:bodyPr>
          <a:lstStyle/>
          <a:p>
            <a:pPr marL="0" indent="0" algn="ctr">
              <a:buNone/>
            </a:pPr>
            <a:r>
              <a:rPr lang="en-US" sz="2000" b="1" dirty="0">
                <a:solidFill>
                  <a:srgbClr val="0B7C82"/>
                </a:solidFill>
              </a:rPr>
              <a:t>126</a:t>
            </a:r>
            <a:endParaRPr lang="en-US" sz="2000" dirty="0"/>
          </a:p>
        </p:txBody>
      </p:sp>
      <p:sp>
        <p:nvSpPr>
          <p:cNvPr id="11" name="Text 9"/>
          <p:cNvSpPr/>
          <p:nvPr/>
        </p:nvSpPr>
        <p:spPr>
          <a:xfrm>
            <a:off x="685800" y="2267712"/>
            <a:ext cx="2286000" cy="384048"/>
          </a:xfrm>
          <a:prstGeom prst="rect">
            <a:avLst/>
          </a:prstGeom>
          <a:noFill/>
          <a:ln/>
        </p:spPr>
        <p:txBody>
          <a:bodyPr wrap="square" lIns="0" tIns="0" rIns="0" bIns="0" rtlCol="0" anchor="ctr">
            <a:normAutofit/>
          </a:bodyPr>
          <a:lstStyle/>
          <a:p>
            <a:pPr marL="0" indent="0" algn="ctr">
              <a:buNone/>
            </a:pPr>
            <a:r>
              <a:rPr lang="en-US" sz="1050" dirty="0">
                <a:solidFill>
                  <a:srgbClr val="5C6670"/>
                </a:solidFill>
              </a:rPr>
              <a:t>phường, xã trên địa bàn Thành phố</a:t>
            </a:r>
            <a:endParaRPr lang="en-US" sz="1050" dirty="0"/>
          </a:p>
        </p:txBody>
      </p:sp>
      <p:sp>
        <p:nvSpPr>
          <p:cNvPr id="12" name="Text 10"/>
          <p:cNvSpPr/>
          <p:nvPr/>
        </p:nvSpPr>
        <p:spPr>
          <a:xfrm>
            <a:off x="4023360" y="1828800"/>
            <a:ext cx="2103120" cy="384048"/>
          </a:xfrm>
          <a:prstGeom prst="rect">
            <a:avLst/>
          </a:prstGeom>
          <a:noFill/>
          <a:ln/>
        </p:spPr>
        <p:txBody>
          <a:bodyPr wrap="square" lIns="0" tIns="0" rIns="0" bIns="0" rtlCol="0" anchor="ctr">
            <a:normAutofit/>
          </a:bodyPr>
          <a:lstStyle/>
          <a:p>
            <a:pPr marL="0" indent="0" algn="ctr">
              <a:buNone/>
            </a:pPr>
            <a:r>
              <a:rPr lang="en-US" sz="2000" b="1" dirty="0">
                <a:solidFill>
                  <a:srgbClr val="2E9E65"/>
                </a:solidFill>
              </a:rPr>
              <a:t>Nhóm 1 &amp; 5</a:t>
            </a:r>
            <a:endParaRPr lang="en-US" sz="2000" dirty="0"/>
          </a:p>
        </p:txBody>
      </p:sp>
      <p:sp>
        <p:nvSpPr>
          <p:cNvPr id="13" name="Text 11"/>
          <p:cNvSpPr/>
          <p:nvPr/>
        </p:nvSpPr>
        <p:spPr>
          <a:xfrm>
            <a:off x="3931920" y="2267712"/>
            <a:ext cx="2286000" cy="384048"/>
          </a:xfrm>
          <a:prstGeom prst="rect">
            <a:avLst/>
          </a:prstGeom>
          <a:noFill/>
          <a:ln/>
        </p:spPr>
        <p:txBody>
          <a:bodyPr wrap="square" lIns="0" tIns="0" rIns="0" bIns="0" rtlCol="0" anchor="ctr">
            <a:normAutofit/>
          </a:bodyPr>
          <a:lstStyle/>
          <a:p>
            <a:pPr marL="0" indent="0" algn="ctr">
              <a:buNone/>
            </a:pPr>
            <a:r>
              <a:rPr lang="en-US" sz="1050" dirty="0">
                <a:solidFill>
                  <a:srgbClr val="5C6670"/>
                </a:solidFill>
              </a:rPr>
              <a:t>đối tượng thụ hưởng theo dự thảo</a:t>
            </a:r>
            <a:endParaRPr lang="en-US" sz="1050" dirty="0"/>
          </a:p>
        </p:txBody>
      </p:sp>
      <p:sp>
        <p:nvSpPr>
          <p:cNvPr id="14" name="Text 12"/>
          <p:cNvSpPr/>
          <p:nvPr/>
        </p:nvSpPr>
        <p:spPr>
          <a:xfrm>
            <a:off x="7269480" y="1828800"/>
            <a:ext cx="2103120" cy="384048"/>
          </a:xfrm>
          <a:prstGeom prst="rect">
            <a:avLst/>
          </a:prstGeom>
          <a:noFill/>
          <a:ln/>
        </p:spPr>
        <p:txBody>
          <a:bodyPr wrap="square" lIns="0" tIns="0" rIns="0" bIns="0" rtlCol="0" anchor="ctr">
            <a:normAutofit/>
          </a:bodyPr>
          <a:lstStyle/>
          <a:p>
            <a:pPr marL="0" indent="0" algn="ctr">
              <a:buNone/>
            </a:pPr>
            <a:r>
              <a:rPr lang="en-US" sz="2000" b="1" dirty="0">
                <a:solidFill>
                  <a:srgbClr val="F08A24"/>
                </a:solidFill>
              </a:rPr>
              <a:t>05/10–30/11</a:t>
            </a:r>
            <a:endParaRPr lang="en-US" sz="2000" dirty="0"/>
          </a:p>
        </p:txBody>
      </p:sp>
      <p:sp>
        <p:nvSpPr>
          <p:cNvPr id="15" name="Text 13"/>
          <p:cNvSpPr/>
          <p:nvPr/>
        </p:nvSpPr>
        <p:spPr>
          <a:xfrm>
            <a:off x="7178040" y="2267712"/>
            <a:ext cx="2286000" cy="384048"/>
          </a:xfrm>
          <a:prstGeom prst="rect">
            <a:avLst/>
          </a:prstGeom>
          <a:noFill/>
          <a:ln/>
        </p:spPr>
        <p:txBody>
          <a:bodyPr wrap="square" lIns="0" tIns="0" rIns="0" bIns="0" rtlCol="0" anchor="ctr">
            <a:normAutofit/>
          </a:bodyPr>
          <a:lstStyle/>
          <a:p>
            <a:pPr marL="0" indent="0" algn="ctr">
              <a:buNone/>
            </a:pPr>
            <a:r>
              <a:rPr lang="en-US" sz="1050" dirty="0">
                <a:solidFill>
                  <a:srgbClr val="5C6670"/>
                </a:solidFill>
              </a:rPr>
              <a:t>thời gian tổ chức khám sàng lọc</a:t>
            </a:r>
            <a:endParaRPr lang="en-US" sz="1050" dirty="0"/>
          </a:p>
        </p:txBody>
      </p:sp>
      <p:sp>
        <p:nvSpPr>
          <p:cNvPr id="16" name="Text 14"/>
          <p:cNvSpPr/>
          <p:nvPr/>
        </p:nvSpPr>
        <p:spPr>
          <a:xfrm>
            <a:off x="9857232" y="1828800"/>
            <a:ext cx="2103120" cy="384048"/>
          </a:xfrm>
          <a:prstGeom prst="rect">
            <a:avLst/>
          </a:prstGeom>
          <a:noFill/>
          <a:ln/>
        </p:spPr>
        <p:txBody>
          <a:bodyPr wrap="square" lIns="0" tIns="0" rIns="0" bIns="0" rtlCol="0" anchor="ctr">
            <a:normAutofit/>
          </a:bodyPr>
          <a:lstStyle/>
          <a:p>
            <a:pPr marL="0" indent="0" algn="ctr">
              <a:buNone/>
            </a:pPr>
            <a:r>
              <a:rPr lang="en-US" sz="2000" b="1" dirty="0">
                <a:solidFill>
                  <a:srgbClr val="075B63"/>
                </a:solidFill>
              </a:rPr>
              <a:t>01/10</a:t>
            </a:r>
            <a:endParaRPr lang="en-US" sz="2000" dirty="0"/>
          </a:p>
        </p:txBody>
      </p:sp>
      <p:sp>
        <p:nvSpPr>
          <p:cNvPr id="17" name="Text 15"/>
          <p:cNvSpPr/>
          <p:nvPr/>
        </p:nvSpPr>
        <p:spPr>
          <a:xfrm>
            <a:off x="9765792" y="2267712"/>
            <a:ext cx="2286000" cy="384048"/>
          </a:xfrm>
          <a:prstGeom prst="rect">
            <a:avLst/>
          </a:prstGeom>
          <a:noFill/>
          <a:ln/>
        </p:spPr>
        <p:txBody>
          <a:bodyPr wrap="square" lIns="0" tIns="0" rIns="0" bIns="0" rtlCol="0" anchor="ctr">
            <a:normAutofit/>
          </a:bodyPr>
          <a:lstStyle/>
          <a:p>
            <a:pPr marL="0" indent="0" algn="ctr">
              <a:buNone/>
            </a:pPr>
            <a:r>
              <a:rPr lang="en-US" sz="1050" dirty="0" err="1">
                <a:solidFill>
                  <a:srgbClr val="5C6670"/>
                </a:solidFill>
              </a:rPr>
              <a:t>Tập</a:t>
            </a:r>
            <a:r>
              <a:rPr lang="en-US" sz="1050" dirty="0">
                <a:solidFill>
                  <a:srgbClr val="5C6670"/>
                </a:solidFill>
              </a:rPr>
              <a:t> huấn </a:t>
            </a:r>
            <a:r>
              <a:rPr lang="en-US" sz="1050" dirty="0" err="1">
                <a:solidFill>
                  <a:srgbClr val="5C6670"/>
                </a:solidFill>
              </a:rPr>
              <a:t>chuyên</a:t>
            </a:r>
            <a:r>
              <a:rPr lang="en-US" sz="1050" dirty="0">
                <a:solidFill>
                  <a:srgbClr val="5C6670"/>
                </a:solidFill>
              </a:rPr>
              <a:t> </a:t>
            </a:r>
            <a:r>
              <a:rPr lang="en-US" sz="1050" dirty="0" err="1">
                <a:solidFill>
                  <a:srgbClr val="5C6670"/>
                </a:solidFill>
              </a:rPr>
              <a:t>môn</a:t>
            </a:r>
            <a:r>
              <a:rPr lang="en-US" sz="1050" dirty="0">
                <a:solidFill>
                  <a:srgbClr val="5C6670"/>
                </a:solidFill>
              </a:rPr>
              <a:t> </a:t>
            </a:r>
            <a:r>
              <a:rPr lang="en-US" sz="1050" dirty="0" err="1">
                <a:solidFill>
                  <a:srgbClr val="5C6670"/>
                </a:solidFill>
              </a:rPr>
              <a:t>cấp</a:t>
            </a:r>
            <a:r>
              <a:rPr lang="en-US" sz="1050" dirty="0">
                <a:solidFill>
                  <a:srgbClr val="5C6670"/>
                </a:solidFill>
              </a:rPr>
              <a:t> </a:t>
            </a:r>
            <a:r>
              <a:rPr lang="en-US" sz="1050" dirty="0" err="1">
                <a:solidFill>
                  <a:srgbClr val="5C6670"/>
                </a:solidFill>
              </a:rPr>
              <a:t>Thành</a:t>
            </a:r>
            <a:r>
              <a:rPr lang="en-US" sz="1050" dirty="0">
                <a:solidFill>
                  <a:srgbClr val="5C6670"/>
                </a:solidFill>
              </a:rPr>
              <a:t> </a:t>
            </a:r>
            <a:r>
              <a:rPr lang="en-US" sz="1050" dirty="0" err="1">
                <a:solidFill>
                  <a:srgbClr val="5C6670"/>
                </a:solidFill>
              </a:rPr>
              <a:t>phố</a:t>
            </a:r>
            <a:endParaRPr lang="en-US" sz="1050" dirty="0"/>
          </a:p>
        </p:txBody>
      </p:sp>
      <p:sp>
        <p:nvSpPr>
          <p:cNvPr id="18" name="Shape 16"/>
          <p:cNvSpPr/>
          <p:nvPr/>
        </p:nvSpPr>
        <p:spPr>
          <a:xfrm>
            <a:off x="868680" y="3154680"/>
            <a:ext cx="5303520" cy="1325880"/>
          </a:xfrm>
          <a:prstGeom prst="roundRect">
            <a:avLst>
              <a:gd name="adj" fmla="val 5517"/>
            </a:avLst>
          </a:prstGeom>
          <a:solidFill>
            <a:srgbClr val="FFFFFF"/>
          </a:solidFill>
          <a:ln w="12700">
            <a:solidFill>
              <a:srgbClr val="CFE1E6"/>
            </a:solidFill>
            <a:prstDash val="solid"/>
          </a:ln>
        </p:spPr>
      </p:sp>
      <p:sp>
        <p:nvSpPr>
          <p:cNvPr id="19" name="Shape 17"/>
          <p:cNvSpPr/>
          <p:nvPr/>
        </p:nvSpPr>
        <p:spPr>
          <a:xfrm>
            <a:off x="868680" y="3154680"/>
            <a:ext cx="64008" cy="1325880"/>
          </a:xfrm>
          <a:prstGeom prst="rect">
            <a:avLst/>
          </a:prstGeom>
          <a:solidFill>
            <a:srgbClr val="0B7C82"/>
          </a:solidFill>
          <a:ln w="12700">
            <a:solidFill>
              <a:srgbClr val="0B7C82"/>
            </a:solidFill>
            <a:prstDash val="solid"/>
          </a:ln>
        </p:spPr>
      </p:sp>
      <p:sp>
        <p:nvSpPr>
          <p:cNvPr id="20" name="Text 18"/>
          <p:cNvSpPr/>
          <p:nvPr/>
        </p:nvSpPr>
        <p:spPr>
          <a:xfrm>
            <a:off x="1033272" y="3264408"/>
            <a:ext cx="502920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Đối tượng thụ hưởng</a:t>
            </a:r>
            <a:endParaRPr lang="en-US" sz="1600" dirty="0"/>
          </a:p>
        </p:txBody>
      </p:sp>
      <p:sp>
        <p:nvSpPr>
          <p:cNvPr id="21" name="Text 19"/>
          <p:cNvSpPr/>
          <p:nvPr/>
        </p:nvSpPr>
        <p:spPr>
          <a:xfrm>
            <a:off x="1033272" y="3630168"/>
            <a:ext cx="5029200" cy="758952"/>
          </a:xfrm>
          <a:prstGeom prst="rect">
            <a:avLst/>
          </a:prstGeom>
          <a:noFill/>
          <a:ln/>
        </p:spPr>
        <p:txBody>
          <a:bodyPr wrap="square" lIns="254" tIns="254" rIns="254" bIns="254" rtlCol="0" anchor="ctr">
            <a:normAutofit/>
          </a:bodyPr>
          <a:lstStyle/>
          <a:p>
            <a:pPr marL="0" indent="0">
              <a:buNone/>
            </a:pPr>
            <a:r>
              <a:rPr lang="en-US" sz="1300" dirty="0">
                <a:solidFill>
                  <a:srgbClr val="5C6670"/>
                </a:solidFill>
              </a:rPr>
              <a:t>Người dân sinh sống trên địa bàn thành phố Hà Nội, thường trú hoặc tạm trú từ 12 tháng trở lên, có xác nhận qua VNeID, thuộc nhóm 1 và nhóm 5.</a:t>
            </a:r>
            <a:endParaRPr lang="en-US" sz="1300" dirty="0"/>
          </a:p>
        </p:txBody>
      </p:sp>
      <p:sp>
        <p:nvSpPr>
          <p:cNvPr id="22" name="Shape 20"/>
          <p:cNvSpPr/>
          <p:nvPr/>
        </p:nvSpPr>
        <p:spPr>
          <a:xfrm>
            <a:off x="6400800" y="3154680"/>
            <a:ext cx="4983480" cy="1325880"/>
          </a:xfrm>
          <a:prstGeom prst="roundRect">
            <a:avLst>
              <a:gd name="adj" fmla="val 5517"/>
            </a:avLst>
          </a:prstGeom>
          <a:solidFill>
            <a:srgbClr val="FFFFFF"/>
          </a:solidFill>
          <a:ln w="12700">
            <a:solidFill>
              <a:srgbClr val="CFE1E6"/>
            </a:solidFill>
            <a:prstDash val="solid"/>
          </a:ln>
        </p:spPr>
      </p:sp>
      <p:sp>
        <p:nvSpPr>
          <p:cNvPr id="23" name="Shape 21"/>
          <p:cNvSpPr/>
          <p:nvPr/>
        </p:nvSpPr>
        <p:spPr>
          <a:xfrm>
            <a:off x="6400800" y="3154680"/>
            <a:ext cx="64008" cy="1325880"/>
          </a:xfrm>
          <a:prstGeom prst="rect">
            <a:avLst/>
          </a:prstGeom>
          <a:solidFill>
            <a:srgbClr val="F08A24"/>
          </a:solidFill>
          <a:ln w="12700">
            <a:solidFill>
              <a:srgbClr val="F08A24"/>
            </a:solidFill>
            <a:prstDash val="solid"/>
          </a:ln>
        </p:spPr>
      </p:sp>
      <p:sp>
        <p:nvSpPr>
          <p:cNvPr id="24" name="Text 22"/>
          <p:cNvSpPr/>
          <p:nvPr/>
        </p:nvSpPr>
        <p:spPr>
          <a:xfrm>
            <a:off x="6565392" y="3264408"/>
            <a:ext cx="470916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Nguyên tắc loại trừ</a:t>
            </a:r>
            <a:endParaRPr lang="en-US" sz="1600" dirty="0"/>
          </a:p>
        </p:txBody>
      </p:sp>
      <p:sp>
        <p:nvSpPr>
          <p:cNvPr id="25" name="Text 23"/>
          <p:cNvSpPr/>
          <p:nvPr/>
        </p:nvSpPr>
        <p:spPr>
          <a:xfrm>
            <a:off x="6565392" y="3630168"/>
            <a:ext cx="4709160" cy="758952"/>
          </a:xfrm>
          <a:prstGeom prst="rect">
            <a:avLst/>
          </a:prstGeom>
          <a:noFill/>
          <a:ln/>
        </p:spPr>
        <p:txBody>
          <a:bodyPr wrap="square" lIns="254" tIns="254" rIns="254" bIns="254" rtlCol="0" anchor="ctr">
            <a:normAutofit/>
          </a:bodyPr>
          <a:lstStyle/>
          <a:p>
            <a:pPr marL="0" indent="0">
              <a:buNone/>
            </a:pPr>
            <a:r>
              <a:rPr lang="en-US" sz="1300" dirty="0">
                <a:solidFill>
                  <a:srgbClr val="5C6670"/>
                </a:solidFill>
              </a:rPr>
              <a:t>Không tính đối tượng đã được khám sức khỏe định kỳ miễn phí trong năm 2026; Trạm Y tế phối hợp rà soát danh sách trước khi xếp lịch.</a:t>
            </a:r>
            <a:endParaRPr lang="en-US" sz="1300" dirty="0"/>
          </a:p>
        </p:txBody>
      </p:sp>
      <p:sp>
        <p:nvSpPr>
          <p:cNvPr id="26" name="Shape 24"/>
          <p:cNvSpPr/>
          <p:nvPr/>
        </p:nvSpPr>
        <p:spPr>
          <a:xfrm>
            <a:off x="1051560" y="5166360"/>
            <a:ext cx="9966960" cy="548640"/>
          </a:xfrm>
          <a:prstGeom prst="roundRect">
            <a:avLst>
              <a:gd name="adj" fmla="val 13333"/>
            </a:avLst>
          </a:prstGeom>
          <a:solidFill>
            <a:srgbClr val="E8F4F5"/>
          </a:solidFill>
          <a:ln w="12700">
            <a:solidFill>
              <a:srgbClr val="C4DADE"/>
            </a:solidFill>
            <a:prstDash val="solid"/>
          </a:ln>
        </p:spPr>
      </p:sp>
      <p:sp>
        <p:nvSpPr>
          <p:cNvPr id="27" name="Text 25"/>
          <p:cNvSpPr/>
          <p:nvPr/>
        </p:nvSpPr>
        <p:spPr>
          <a:xfrm>
            <a:off x="1207008" y="5376672"/>
            <a:ext cx="9601200" cy="128016"/>
          </a:xfrm>
          <a:prstGeom prst="rect">
            <a:avLst/>
          </a:prstGeom>
          <a:noFill/>
          <a:ln/>
        </p:spPr>
        <p:txBody>
          <a:bodyPr wrap="square" lIns="0" tIns="0" rIns="0" bIns="0" rtlCol="0" anchor="ctr">
            <a:normAutofit fontScale="85000" lnSpcReduction="20000"/>
          </a:bodyPr>
          <a:lstStyle/>
          <a:p>
            <a:pPr marL="0" indent="0">
              <a:buNone/>
            </a:pPr>
            <a:r>
              <a:rPr lang="en-US" sz="1220" dirty="0">
                <a:solidFill>
                  <a:srgbClr val="073642"/>
                </a:solidFill>
              </a:rPr>
              <a:t>Cần chốt tại địa phương: danh sách đối tượng • lịch khám theo khung giờ • địa điểm khám • đơn vị phối hợp • đầu mối nhập liệu • đầu mối báo cáo.</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Điều phối tổ chức</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6</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RÕ ĐẦU MỐI – RÕ TRÁCH NHIỆM</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Mô hình tổ chức và điều phối</a:t>
            </a:r>
            <a:endParaRPr lang="en-US" sz="2800" dirty="0"/>
          </a:p>
        </p:txBody>
      </p:sp>
      <p:sp>
        <p:nvSpPr>
          <p:cNvPr id="10" name="Shape 8"/>
          <p:cNvSpPr/>
          <p:nvPr/>
        </p:nvSpPr>
        <p:spPr>
          <a:xfrm>
            <a:off x="685800" y="1874520"/>
            <a:ext cx="3200400" cy="868680"/>
          </a:xfrm>
          <a:prstGeom prst="roundRect">
            <a:avLst>
              <a:gd name="adj" fmla="val 8421"/>
            </a:avLst>
          </a:prstGeom>
          <a:solidFill>
            <a:srgbClr val="FFFFFF"/>
          </a:solidFill>
          <a:ln w="12700">
            <a:solidFill>
              <a:srgbClr val="CFE1E6"/>
            </a:solidFill>
            <a:prstDash val="solid"/>
          </a:ln>
        </p:spPr>
      </p:sp>
      <p:sp>
        <p:nvSpPr>
          <p:cNvPr id="11" name="Shape 9"/>
          <p:cNvSpPr/>
          <p:nvPr/>
        </p:nvSpPr>
        <p:spPr>
          <a:xfrm>
            <a:off x="685800" y="1874520"/>
            <a:ext cx="64008" cy="868680"/>
          </a:xfrm>
          <a:prstGeom prst="rect">
            <a:avLst/>
          </a:prstGeom>
          <a:solidFill>
            <a:srgbClr val="0B7C82"/>
          </a:solidFill>
          <a:ln w="12700">
            <a:solidFill>
              <a:srgbClr val="0B7C82"/>
            </a:solidFill>
            <a:prstDash val="solid"/>
          </a:ln>
        </p:spPr>
      </p:sp>
      <p:sp>
        <p:nvSpPr>
          <p:cNvPr id="12" name="Text 10"/>
          <p:cNvSpPr/>
          <p:nvPr/>
        </p:nvSpPr>
        <p:spPr>
          <a:xfrm>
            <a:off x="850392" y="1984248"/>
            <a:ext cx="29260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UBND phường, xã</a:t>
            </a:r>
            <a:endParaRPr lang="en-US" sz="1600" dirty="0"/>
          </a:p>
        </p:txBody>
      </p:sp>
      <p:sp>
        <p:nvSpPr>
          <p:cNvPr id="13" name="Text 11"/>
          <p:cNvSpPr/>
          <p:nvPr/>
        </p:nvSpPr>
        <p:spPr>
          <a:xfrm>
            <a:off x="850392" y="2350008"/>
            <a:ext cx="2926080" cy="301752"/>
          </a:xfrm>
          <a:prstGeom prst="rect">
            <a:avLst/>
          </a:prstGeom>
          <a:noFill/>
          <a:ln/>
        </p:spPr>
        <p:txBody>
          <a:bodyPr wrap="square" lIns="254" tIns="254" rIns="254" bIns="254" rtlCol="0" anchor="ctr">
            <a:noAutofit/>
          </a:bodyPr>
          <a:lstStyle/>
          <a:p>
            <a:pPr marL="0" indent="0">
              <a:buNone/>
            </a:pPr>
            <a:r>
              <a:rPr lang="en-US" sz="1200" dirty="0">
                <a:solidFill>
                  <a:srgbClr val="5C6670"/>
                </a:solidFill>
              </a:rPr>
              <a:t>Chủ trì tổ chức; lựa chọn đơn vị khám; bảo đảm kinh phí, tiến độ và chỉ tiêu.</a:t>
            </a:r>
            <a:endParaRPr lang="en-US" sz="1200" dirty="0"/>
          </a:p>
        </p:txBody>
      </p:sp>
      <p:sp>
        <p:nvSpPr>
          <p:cNvPr id="14" name="Shape 12"/>
          <p:cNvSpPr/>
          <p:nvPr/>
        </p:nvSpPr>
        <p:spPr>
          <a:xfrm>
            <a:off x="4480560" y="1874520"/>
            <a:ext cx="3200400" cy="868680"/>
          </a:xfrm>
          <a:prstGeom prst="roundRect">
            <a:avLst>
              <a:gd name="adj" fmla="val 8421"/>
            </a:avLst>
          </a:prstGeom>
          <a:solidFill>
            <a:srgbClr val="FFFFFF"/>
          </a:solidFill>
          <a:ln w="12700">
            <a:solidFill>
              <a:srgbClr val="CFE1E6"/>
            </a:solidFill>
            <a:prstDash val="solid"/>
          </a:ln>
        </p:spPr>
      </p:sp>
      <p:sp>
        <p:nvSpPr>
          <p:cNvPr id="15" name="Shape 13"/>
          <p:cNvSpPr/>
          <p:nvPr/>
        </p:nvSpPr>
        <p:spPr>
          <a:xfrm>
            <a:off x="4480560" y="1874520"/>
            <a:ext cx="64008" cy="868680"/>
          </a:xfrm>
          <a:prstGeom prst="rect">
            <a:avLst/>
          </a:prstGeom>
          <a:solidFill>
            <a:srgbClr val="2E9E65"/>
          </a:solidFill>
          <a:ln w="12700">
            <a:solidFill>
              <a:srgbClr val="2E9E65"/>
            </a:solidFill>
            <a:prstDash val="solid"/>
          </a:ln>
        </p:spPr>
      </p:sp>
      <p:sp>
        <p:nvSpPr>
          <p:cNvPr id="16" name="Text 14"/>
          <p:cNvSpPr/>
          <p:nvPr/>
        </p:nvSpPr>
        <p:spPr>
          <a:xfrm>
            <a:off x="4645152" y="1984248"/>
            <a:ext cx="29260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Trạm Y tế</a:t>
            </a:r>
            <a:endParaRPr lang="en-US" sz="1600" dirty="0"/>
          </a:p>
        </p:txBody>
      </p:sp>
      <p:sp>
        <p:nvSpPr>
          <p:cNvPr id="17" name="Text 15"/>
          <p:cNvSpPr/>
          <p:nvPr/>
        </p:nvSpPr>
        <p:spPr>
          <a:xfrm>
            <a:off x="4645152" y="2350008"/>
            <a:ext cx="2926080" cy="301752"/>
          </a:xfrm>
          <a:prstGeom prst="rect">
            <a:avLst/>
          </a:prstGeom>
          <a:noFill/>
          <a:ln/>
        </p:spPr>
        <p:txBody>
          <a:bodyPr wrap="square" lIns="254" tIns="254" rIns="254" bIns="254" rtlCol="0" anchor="ctr">
            <a:noAutofit/>
          </a:bodyPr>
          <a:lstStyle/>
          <a:p>
            <a:pPr marL="0" indent="0">
              <a:buNone/>
            </a:pPr>
            <a:r>
              <a:rPr lang="en-US" sz="1200" dirty="0">
                <a:solidFill>
                  <a:srgbClr val="5C6670"/>
                </a:solidFill>
              </a:rPr>
              <a:t>Đầu mối chuyên môn; rà soát đối tượng; điều phối lịch; theo dõi sau </a:t>
            </a:r>
            <a:r>
              <a:rPr lang="en-US" sz="1200" dirty="0" err="1">
                <a:solidFill>
                  <a:srgbClr val="5C6670"/>
                </a:solidFill>
              </a:rPr>
              <a:t>khám</a:t>
            </a:r>
            <a:r>
              <a:rPr lang="en-US" sz="1200" dirty="0">
                <a:solidFill>
                  <a:srgbClr val="5C6670"/>
                </a:solidFill>
              </a:rPr>
              <a:t>.</a:t>
            </a:r>
            <a:endParaRPr lang="vi-VN" sz="1200" dirty="0">
              <a:solidFill>
                <a:srgbClr val="5C6670"/>
              </a:solidFill>
            </a:endParaRPr>
          </a:p>
          <a:p>
            <a:pPr marL="0" indent="0">
              <a:buNone/>
            </a:pPr>
            <a:r>
              <a:rPr lang="vi-VN" sz="1200" dirty="0">
                <a:solidFill>
                  <a:srgbClr val="5C6670"/>
                </a:solidFill>
              </a:rPr>
              <a:t>Tham mưu danh mục khám sàng lọc</a:t>
            </a:r>
            <a:endParaRPr lang="en-US" sz="1200" dirty="0"/>
          </a:p>
        </p:txBody>
      </p:sp>
      <p:sp>
        <p:nvSpPr>
          <p:cNvPr id="18" name="Shape 16"/>
          <p:cNvSpPr/>
          <p:nvPr/>
        </p:nvSpPr>
        <p:spPr>
          <a:xfrm>
            <a:off x="8229600" y="1874520"/>
            <a:ext cx="3154680" cy="868680"/>
          </a:xfrm>
          <a:prstGeom prst="roundRect">
            <a:avLst>
              <a:gd name="adj" fmla="val 8421"/>
            </a:avLst>
          </a:prstGeom>
          <a:solidFill>
            <a:srgbClr val="FFFFFF"/>
          </a:solidFill>
          <a:ln w="12700">
            <a:solidFill>
              <a:srgbClr val="CFE1E6"/>
            </a:solidFill>
            <a:prstDash val="solid"/>
          </a:ln>
        </p:spPr>
      </p:sp>
      <p:sp>
        <p:nvSpPr>
          <p:cNvPr id="19" name="Shape 17"/>
          <p:cNvSpPr/>
          <p:nvPr/>
        </p:nvSpPr>
        <p:spPr>
          <a:xfrm>
            <a:off x="8229600" y="1874520"/>
            <a:ext cx="64008" cy="868680"/>
          </a:xfrm>
          <a:prstGeom prst="rect">
            <a:avLst/>
          </a:prstGeom>
          <a:solidFill>
            <a:srgbClr val="F08A24"/>
          </a:solidFill>
          <a:ln w="12700">
            <a:solidFill>
              <a:srgbClr val="F08A24"/>
            </a:solidFill>
            <a:prstDash val="solid"/>
          </a:ln>
        </p:spPr>
      </p:sp>
      <p:sp>
        <p:nvSpPr>
          <p:cNvPr id="20" name="Text 18"/>
          <p:cNvSpPr/>
          <p:nvPr/>
        </p:nvSpPr>
        <p:spPr>
          <a:xfrm>
            <a:off x="8394192" y="1984248"/>
            <a:ext cx="288036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Cơ sở khám đủ điều kiện</a:t>
            </a:r>
            <a:endParaRPr lang="en-US" sz="1600" dirty="0"/>
          </a:p>
        </p:txBody>
      </p:sp>
      <p:sp>
        <p:nvSpPr>
          <p:cNvPr id="21" name="Text 19"/>
          <p:cNvSpPr/>
          <p:nvPr/>
        </p:nvSpPr>
        <p:spPr>
          <a:xfrm>
            <a:off x="8394192" y="2350008"/>
            <a:ext cx="2880360" cy="301752"/>
          </a:xfrm>
          <a:prstGeom prst="rect">
            <a:avLst/>
          </a:prstGeom>
          <a:noFill/>
          <a:ln/>
        </p:spPr>
        <p:txBody>
          <a:bodyPr wrap="square" lIns="254" tIns="254" rIns="254" bIns="254" rtlCol="0" anchor="ctr">
            <a:noAutofit/>
          </a:bodyPr>
          <a:lstStyle/>
          <a:p>
            <a:pPr marL="0" indent="0">
              <a:buNone/>
            </a:pPr>
            <a:r>
              <a:rPr lang="en-US" sz="1200" dirty="0">
                <a:solidFill>
                  <a:srgbClr val="5C6670"/>
                </a:solidFill>
              </a:rPr>
              <a:t>Thực hiện khám; tổng hợp kết quả; nhập liệu và liên thông dữ liệu.</a:t>
            </a:r>
            <a:endParaRPr lang="en-US" sz="1200" dirty="0"/>
          </a:p>
        </p:txBody>
      </p:sp>
      <p:sp>
        <p:nvSpPr>
          <p:cNvPr id="22" name="Shape 20"/>
          <p:cNvSpPr/>
          <p:nvPr/>
        </p:nvSpPr>
        <p:spPr>
          <a:xfrm>
            <a:off x="3931920" y="2148840"/>
            <a:ext cx="320040" cy="256032"/>
          </a:xfrm>
          <a:prstGeom prst="chevron">
            <a:avLst/>
          </a:prstGeom>
          <a:solidFill>
            <a:srgbClr val="0B7C82"/>
          </a:solidFill>
          <a:ln w="12700">
            <a:solidFill>
              <a:srgbClr val="0B7C82"/>
            </a:solidFill>
            <a:prstDash val="solid"/>
          </a:ln>
        </p:spPr>
      </p:sp>
      <p:sp>
        <p:nvSpPr>
          <p:cNvPr id="23" name="Shape 21"/>
          <p:cNvSpPr/>
          <p:nvPr/>
        </p:nvSpPr>
        <p:spPr>
          <a:xfrm>
            <a:off x="7772400" y="2148840"/>
            <a:ext cx="320040" cy="256032"/>
          </a:xfrm>
          <a:prstGeom prst="chevron">
            <a:avLst/>
          </a:prstGeom>
          <a:solidFill>
            <a:srgbClr val="0B7C82"/>
          </a:solidFill>
          <a:ln w="12700">
            <a:solidFill>
              <a:srgbClr val="0B7C82"/>
            </a:solidFill>
            <a:prstDash val="solid"/>
          </a:ln>
        </p:spPr>
      </p:sp>
      <p:sp>
        <p:nvSpPr>
          <p:cNvPr id="24" name="Shape 22"/>
          <p:cNvSpPr/>
          <p:nvPr/>
        </p:nvSpPr>
        <p:spPr>
          <a:xfrm>
            <a:off x="868680" y="3657600"/>
            <a:ext cx="4937760" cy="960120"/>
          </a:xfrm>
          <a:prstGeom prst="roundRect">
            <a:avLst>
              <a:gd name="adj" fmla="val 7619"/>
            </a:avLst>
          </a:prstGeom>
          <a:solidFill>
            <a:srgbClr val="FFFFFF"/>
          </a:solidFill>
          <a:ln w="12700">
            <a:solidFill>
              <a:srgbClr val="CFE1E6"/>
            </a:solidFill>
            <a:prstDash val="solid"/>
          </a:ln>
        </p:spPr>
      </p:sp>
      <p:sp>
        <p:nvSpPr>
          <p:cNvPr id="25" name="Shape 23"/>
          <p:cNvSpPr/>
          <p:nvPr/>
        </p:nvSpPr>
        <p:spPr>
          <a:xfrm>
            <a:off x="868680" y="3657600"/>
            <a:ext cx="64008" cy="960120"/>
          </a:xfrm>
          <a:prstGeom prst="rect">
            <a:avLst/>
          </a:prstGeom>
          <a:solidFill>
            <a:srgbClr val="075B63"/>
          </a:solidFill>
          <a:ln w="12700">
            <a:solidFill>
              <a:srgbClr val="075B63"/>
            </a:solidFill>
            <a:prstDash val="solid"/>
          </a:ln>
        </p:spPr>
      </p:sp>
      <p:sp>
        <p:nvSpPr>
          <p:cNvPr id="26" name="Text 24"/>
          <p:cNvSpPr/>
          <p:nvPr/>
        </p:nvSpPr>
        <p:spPr>
          <a:xfrm>
            <a:off x="1033272" y="3767328"/>
            <a:ext cx="466344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Sở Y tế / phòng chuyên môn</a:t>
            </a:r>
            <a:endParaRPr lang="en-US" sz="1600" dirty="0"/>
          </a:p>
        </p:txBody>
      </p:sp>
      <p:sp>
        <p:nvSpPr>
          <p:cNvPr id="27" name="Text 25"/>
          <p:cNvSpPr/>
          <p:nvPr/>
        </p:nvSpPr>
        <p:spPr>
          <a:xfrm>
            <a:off x="1033272" y="4133088"/>
            <a:ext cx="4663440" cy="393192"/>
          </a:xfrm>
          <a:prstGeom prst="rect">
            <a:avLst/>
          </a:prstGeom>
          <a:noFill/>
          <a:ln/>
        </p:spPr>
        <p:txBody>
          <a:bodyPr wrap="square" lIns="254" tIns="254" rIns="254" bIns="254" rtlCol="0" anchor="ctr">
            <a:normAutofit/>
          </a:bodyPr>
          <a:lstStyle/>
          <a:p>
            <a:pPr marL="0" indent="0">
              <a:buNone/>
            </a:pPr>
            <a:r>
              <a:rPr lang="en-US" sz="1250" dirty="0">
                <a:solidFill>
                  <a:srgbClr val="5C6670"/>
                </a:solidFill>
              </a:rPr>
              <a:t>Hướng dẫn chuyên môn, CNTT, kinh phí; giám sát tiến độ; tháo gỡ khó khăn, vướng mắc.</a:t>
            </a:r>
            <a:endParaRPr lang="en-US" sz="1250" dirty="0"/>
          </a:p>
        </p:txBody>
      </p:sp>
      <p:sp>
        <p:nvSpPr>
          <p:cNvPr id="28" name="Shape 26"/>
          <p:cNvSpPr/>
          <p:nvPr/>
        </p:nvSpPr>
        <p:spPr>
          <a:xfrm>
            <a:off x="6400800" y="3657600"/>
            <a:ext cx="4800600" cy="960120"/>
          </a:xfrm>
          <a:prstGeom prst="roundRect">
            <a:avLst>
              <a:gd name="adj" fmla="val 7619"/>
            </a:avLst>
          </a:prstGeom>
          <a:solidFill>
            <a:srgbClr val="FFFFFF"/>
          </a:solidFill>
          <a:ln w="12700">
            <a:solidFill>
              <a:srgbClr val="CFE1E6"/>
            </a:solidFill>
            <a:prstDash val="solid"/>
          </a:ln>
        </p:spPr>
      </p:sp>
      <p:sp>
        <p:nvSpPr>
          <p:cNvPr id="29" name="Shape 27"/>
          <p:cNvSpPr/>
          <p:nvPr/>
        </p:nvSpPr>
        <p:spPr>
          <a:xfrm>
            <a:off x="6400800" y="3657600"/>
            <a:ext cx="64008" cy="960120"/>
          </a:xfrm>
          <a:prstGeom prst="rect">
            <a:avLst/>
          </a:prstGeom>
          <a:solidFill>
            <a:srgbClr val="2E9E65"/>
          </a:solidFill>
          <a:ln w="12700">
            <a:solidFill>
              <a:srgbClr val="2E9E65"/>
            </a:solidFill>
            <a:prstDash val="solid"/>
          </a:ln>
        </p:spPr>
      </p:sp>
      <p:sp>
        <p:nvSpPr>
          <p:cNvPr id="30" name="Text 28"/>
          <p:cNvSpPr/>
          <p:nvPr/>
        </p:nvSpPr>
        <p:spPr>
          <a:xfrm>
            <a:off x="6565392" y="3767328"/>
            <a:ext cx="45262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CDC Hà Nội</a:t>
            </a:r>
            <a:endParaRPr lang="en-US" sz="1600" dirty="0"/>
          </a:p>
        </p:txBody>
      </p:sp>
      <p:sp>
        <p:nvSpPr>
          <p:cNvPr id="31" name="Text 29"/>
          <p:cNvSpPr/>
          <p:nvPr/>
        </p:nvSpPr>
        <p:spPr>
          <a:xfrm>
            <a:off x="6565392" y="4133088"/>
            <a:ext cx="4526280" cy="393192"/>
          </a:xfrm>
          <a:prstGeom prst="rect">
            <a:avLst/>
          </a:prstGeom>
          <a:noFill/>
          <a:ln/>
        </p:spPr>
        <p:txBody>
          <a:bodyPr wrap="square" lIns="254" tIns="254" rIns="254" bIns="254" rtlCol="0" anchor="ctr">
            <a:normAutofit/>
          </a:bodyPr>
          <a:lstStyle/>
          <a:p>
            <a:pPr marL="0" indent="0">
              <a:buNone/>
            </a:pPr>
            <a:r>
              <a:rPr lang="en-US" sz="1250" dirty="0">
                <a:solidFill>
                  <a:srgbClr val="5C6670"/>
                </a:solidFill>
              </a:rPr>
              <a:t>Tài liệu truyền thông; hướng dẫn truyền thông theo nhóm đối tượng; phối hợp theo dõi, tổng hợp.</a:t>
            </a:r>
            <a:endParaRPr lang="en-US" sz="1250" dirty="0"/>
          </a:p>
        </p:txBody>
      </p:sp>
      <p:sp>
        <p:nvSpPr>
          <p:cNvPr id="32" name="Text 30"/>
          <p:cNvSpPr/>
          <p:nvPr/>
        </p:nvSpPr>
        <p:spPr>
          <a:xfrm>
            <a:off x="1024128" y="5212080"/>
            <a:ext cx="9966960" cy="256032"/>
          </a:xfrm>
          <a:prstGeom prst="rect">
            <a:avLst/>
          </a:prstGeom>
          <a:noFill/>
          <a:ln/>
        </p:spPr>
        <p:txBody>
          <a:bodyPr wrap="square" lIns="0" tIns="0" rIns="0" bIns="0" rtlCol="0" anchor="ctr"/>
          <a:lstStyle/>
          <a:p>
            <a:pPr marL="0" indent="0" algn="ctr">
              <a:buNone/>
            </a:pPr>
            <a:r>
              <a:rPr lang="en-US" sz="1300" b="1" dirty="0">
                <a:solidFill>
                  <a:srgbClr val="075B63"/>
                </a:solidFill>
              </a:rPr>
              <a:t>Người dân là trung tâm: được tiếp cận thuận lợi, được tư vấn sau khám và được quản lý sức khỏe liên tục theo vòng đời.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Chuẩn bị trước khám</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7</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TRƯỚC KHI TRIỂN KHAI KHÁM</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Checklist cho phường, xã và Trạm Y tế</a:t>
            </a:r>
            <a:endParaRPr lang="en-US" sz="2800" dirty="0"/>
          </a:p>
        </p:txBody>
      </p:sp>
      <p:sp>
        <p:nvSpPr>
          <p:cNvPr id="10" name="Shape 8"/>
          <p:cNvSpPr/>
          <p:nvPr/>
        </p:nvSpPr>
        <p:spPr>
          <a:xfrm>
            <a:off x="713232" y="1920240"/>
            <a:ext cx="384048" cy="384048"/>
          </a:xfrm>
          <a:prstGeom prst="ellipse">
            <a:avLst/>
          </a:prstGeom>
          <a:solidFill>
            <a:srgbClr val="0B7C82"/>
          </a:solidFill>
          <a:ln w="12700">
            <a:solidFill>
              <a:srgbClr val="0B7C82"/>
            </a:solidFill>
            <a:prstDash val="solid"/>
          </a:ln>
        </p:spPr>
      </p:sp>
      <p:sp>
        <p:nvSpPr>
          <p:cNvPr id="11" name="Text 9"/>
          <p:cNvSpPr/>
          <p:nvPr/>
        </p:nvSpPr>
        <p:spPr>
          <a:xfrm>
            <a:off x="713232" y="200253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2" name="Text 10"/>
          <p:cNvSpPr/>
          <p:nvPr/>
        </p:nvSpPr>
        <p:spPr>
          <a:xfrm>
            <a:off x="1216152" y="1956816"/>
            <a:ext cx="2926080" cy="210312"/>
          </a:xfrm>
          <a:prstGeom prst="rect">
            <a:avLst/>
          </a:prstGeom>
          <a:noFill/>
          <a:ln/>
        </p:spPr>
        <p:txBody>
          <a:bodyPr wrap="square" lIns="0" tIns="0" rIns="0" bIns="0" rtlCol="0" anchor="ctr"/>
          <a:lstStyle/>
          <a:p>
            <a:pPr marL="0" indent="0">
              <a:buNone/>
            </a:pPr>
            <a:r>
              <a:rPr lang="en-US" sz="1500" b="1" dirty="0">
                <a:solidFill>
                  <a:srgbClr val="073642"/>
                </a:solidFill>
              </a:rPr>
              <a:t>Chốt danh sách</a:t>
            </a:r>
            <a:endParaRPr lang="en-US" sz="1500" dirty="0"/>
          </a:p>
        </p:txBody>
      </p:sp>
      <p:sp>
        <p:nvSpPr>
          <p:cNvPr id="13" name="Text 11"/>
          <p:cNvSpPr/>
          <p:nvPr/>
        </p:nvSpPr>
        <p:spPr>
          <a:xfrm>
            <a:off x="1216152" y="2304288"/>
            <a:ext cx="2971800" cy="502920"/>
          </a:xfrm>
          <a:prstGeom prst="rect">
            <a:avLst/>
          </a:prstGeom>
          <a:noFill/>
          <a:ln/>
        </p:spPr>
        <p:txBody>
          <a:bodyPr wrap="square" lIns="0" tIns="0" rIns="0" bIns="0" rtlCol="0" anchor="ctr">
            <a:normAutofit/>
          </a:bodyPr>
          <a:lstStyle/>
          <a:p>
            <a:pPr marL="0" indent="0">
              <a:buNone/>
            </a:pPr>
            <a:r>
              <a:rPr lang="en-US" sz="1300" dirty="0">
                <a:solidFill>
                  <a:srgbClr val="5C6670"/>
                </a:solidFill>
              </a:rPr>
              <a:t>Rà soát nhóm 1, nhóm 5; loại trừ người đã khám miễn phí năm 2026.</a:t>
            </a:r>
            <a:endParaRPr lang="en-US" sz="1300" dirty="0"/>
          </a:p>
        </p:txBody>
      </p:sp>
      <p:sp>
        <p:nvSpPr>
          <p:cNvPr id="14" name="Shape 12"/>
          <p:cNvSpPr/>
          <p:nvPr/>
        </p:nvSpPr>
        <p:spPr>
          <a:xfrm>
            <a:off x="4507992" y="1920240"/>
            <a:ext cx="384048" cy="384048"/>
          </a:xfrm>
          <a:prstGeom prst="ellipse">
            <a:avLst/>
          </a:prstGeom>
          <a:solidFill>
            <a:srgbClr val="0B7C82"/>
          </a:solidFill>
          <a:ln w="12700">
            <a:solidFill>
              <a:srgbClr val="0B7C82"/>
            </a:solidFill>
            <a:prstDash val="solid"/>
          </a:ln>
        </p:spPr>
      </p:sp>
      <p:sp>
        <p:nvSpPr>
          <p:cNvPr id="15" name="Text 13"/>
          <p:cNvSpPr/>
          <p:nvPr/>
        </p:nvSpPr>
        <p:spPr>
          <a:xfrm>
            <a:off x="4507992" y="200253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6" name="Text 14"/>
          <p:cNvSpPr/>
          <p:nvPr/>
        </p:nvSpPr>
        <p:spPr>
          <a:xfrm>
            <a:off x="5010912" y="1956816"/>
            <a:ext cx="2926080" cy="210312"/>
          </a:xfrm>
          <a:prstGeom prst="rect">
            <a:avLst/>
          </a:prstGeom>
          <a:noFill/>
          <a:ln/>
        </p:spPr>
        <p:txBody>
          <a:bodyPr wrap="square" lIns="0" tIns="0" rIns="0" bIns="0" rtlCol="0" anchor="ctr"/>
          <a:lstStyle/>
          <a:p>
            <a:pPr marL="0" indent="0">
              <a:buNone/>
            </a:pPr>
            <a:r>
              <a:rPr lang="en-US" sz="1500" b="1" dirty="0">
                <a:solidFill>
                  <a:srgbClr val="073642"/>
                </a:solidFill>
              </a:rPr>
              <a:t>Chọn đơn vị khám</a:t>
            </a:r>
            <a:endParaRPr lang="en-US" sz="1500" dirty="0"/>
          </a:p>
        </p:txBody>
      </p:sp>
      <p:sp>
        <p:nvSpPr>
          <p:cNvPr id="17" name="Text 15"/>
          <p:cNvSpPr/>
          <p:nvPr/>
        </p:nvSpPr>
        <p:spPr>
          <a:xfrm>
            <a:off x="5010912" y="2304288"/>
            <a:ext cx="2971800" cy="502920"/>
          </a:xfrm>
          <a:prstGeom prst="rect">
            <a:avLst/>
          </a:prstGeom>
          <a:noFill/>
          <a:ln/>
        </p:spPr>
        <p:txBody>
          <a:bodyPr wrap="square" lIns="0" tIns="0" rIns="0" bIns="0" rtlCol="0" anchor="ctr">
            <a:normAutofit/>
          </a:bodyPr>
          <a:lstStyle/>
          <a:p>
            <a:pPr marL="0" indent="0">
              <a:buNone/>
            </a:pPr>
            <a:r>
              <a:rPr lang="en-US" sz="1300" dirty="0">
                <a:solidFill>
                  <a:srgbClr val="5C6670"/>
                </a:solidFill>
              </a:rPr>
              <a:t>TYT tự thực hiện khi đủ điều kiện hoặc phối hợp cơ sở KCB đủ điều kiện.</a:t>
            </a:r>
            <a:endParaRPr lang="en-US" sz="1300" dirty="0"/>
          </a:p>
        </p:txBody>
      </p:sp>
      <p:sp>
        <p:nvSpPr>
          <p:cNvPr id="18" name="Shape 16"/>
          <p:cNvSpPr/>
          <p:nvPr/>
        </p:nvSpPr>
        <p:spPr>
          <a:xfrm>
            <a:off x="8302752" y="1920240"/>
            <a:ext cx="384048" cy="384048"/>
          </a:xfrm>
          <a:prstGeom prst="ellipse">
            <a:avLst/>
          </a:prstGeom>
          <a:solidFill>
            <a:srgbClr val="0B7C82"/>
          </a:solidFill>
          <a:ln w="12700">
            <a:solidFill>
              <a:srgbClr val="0B7C82"/>
            </a:solidFill>
            <a:prstDash val="solid"/>
          </a:ln>
        </p:spPr>
      </p:sp>
      <p:sp>
        <p:nvSpPr>
          <p:cNvPr id="19" name="Text 17"/>
          <p:cNvSpPr/>
          <p:nvPr/>
        </p:nvSpPr>
        <p:spPr>
          <a:xfrm>
            <a:off x="8302752" y="200253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0" name="Text 18"/>
          <p:cNvSpPr/>
          <p:nvPr/>
        </p:nvSpPr>
        <p:spPr>
          <a:xfrm>
            <a:off x="8805672" y="1956816"/>
            <a:ext cx="2926080" cy="210312"/>
          </a:xfrm>
          <a:prstGeom prst="rect">
            <a:avLst/>
          </a:prstGeom>
          <a:noFill/>
          <a:ln/>
        </p:spPr>
        <p:txBody>
          <a:bodyPr wrap="square" lIns="0" tIns="0" rIns="0" bIns="0" rtlCol="0" anchor="ctr"/>
          <a:lstStyle/>
          <a:p>
            <a:pPr marL="0" indent="0">
              <a:buNone/>
            </a:pPr>
            <a:r>
              <a:rPr lang="en-US" sz="1500" b="1" dirty="0">
                <a:solidFill>
                  <a:srgbClr val="073642"/>
                </a:solidFill>
              </a:rPr>
              <a:t>Xây dựng lịch khám</a:t>
            </a:r>
            <a:endParaRPr lang="en-US" sz="1500" dirty="0"/>
          </a:p>
        </p:txBody>
      </p:sp>
      <p:sp>
        <p:nvSpPr>
          <p:cNvPr id="21" name="Text 19"/>
          <p:cNvSpPr/>
          <p:nvPr/>
        </p:nvSpPr>
        <p:spPr>
          <a:xfrm>
            <a:off x="8805672" y="2304288"/>
            <a:ext cx="2971800" cy="502920"/>
          </a:xfrm>
          <a:prstGeom prst="rect">
            <a:avLst/>
          </a:prstGeom>
          <a:noFill/>
          <a:ln/>
        </p:spPr>
        <p:txBody>
          <a:bodyPr wrap="square" lIns="0" tIns="0" rIns="0" bIns="0" rtlCol="0" anchor="ctr">
            <a:normAutofit/>
          </a:bodyPr>
          <a:lstStyle/>
          <a:p>
            <a:pPr marL="0" indent="0">
              <a:buNone/>
            </a:pPr>
            <a:r>
              <a:rPr lang="en-US" sz="1300" dirty="0">
                <a:solidFill>
                  <a:srgbClr val="5C6670"/>
                </a:solidFill>
              </a:rPr>
              <a:t>Công khai lịch; chia khung giờ để hạn chế ùn ứ, quá tải.</a:t>
            </a:r>
            <a:endParaRPr lang="en-US" sz="1300" dirty="0"/>
          </a:p>
        </p:txBody>
      </p:sp>
      <p:sp>
        <p:nvSpPr>
          <p:cNvPr id="22" name="Shape 20"/>
          <p:cNvSpPr/>
          <p:nvPr/>
        </p:nvSpPr>
        <p:spPr>
          <a:xfrm>
            <a:off x="713232" y="3364992"/>
            <a:ext cx="384048" cy="384048"/>
          </a:xfrm>
          <a:prstGeom prst="ellipse">
            <a:avLst/>
          </a:prstGeom>
          <a:solidFill>
            <a:srgbClr val="2E9E65"/>
          </a:solidFill>
          <a:ln w="12700">
            <a:solidFill>
              <a:srgbClr val="2E9E65"/>
            </a:solidFill>
            <a:prstDash val="solid"/>
          </a:ln>
        </p:spPr>
      </p:sp>
      <p:sp>
        <p:nvSpPr>
          <p:cNvPr id="23" name="Text 21"/>
          <p:cNvSpPr/>
          <p:nvPr/>
        </p:nvSpPr>
        <p:spPr>
          <a:xfrm>
            <a:off x="713232" y="3447288"/>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4" name="Text 22"/>
          <p:cNvSpPr/>
          <p:nvPr/>
        </p:nvSpPr>
        <p:spPr>
          <a:xfrm>
            <a:off x="1216152" y="3401568"/>
            <a:ext cx="2926080" cy="210312"/>
          </a:xfrm>
          <a:prstGeom prst="rect">
            <a:avLst/>
          </a:prstGeom>
          <a:noFill/>
          <a:ln/>
        </p:spPr>
        <p:txBody>
          <a:bodyPr wrap="square" lIns="0" tIns="0" rIns="0" bIns="0" rtlCol="0" anchor="ctr"/>
          <a:lstStyle/>
          <a:p>
            <a:pPr marL="0" indent="0">
              <a:buNone/>
            </a:pPr>
            <a:r>
              <a:rPr lang="en-US" sz="1500" b="1" dirty="0">
                <a:solidFill>
                  <a:srgbClr val="073642"/>
                </a:solidFill>
              </a:rPr>
              <a:t>Bố trí điểm khám</a:t>
            </a:r>
            <a:endParaRPr lang="en-US" sz="1500" dirty="0"/>
          </a:p>
        </p:txBody>
      </p:sp>
      <p:sp>
        <p:nvSpPr>
          <p:cNvPr id="25" name="Text 23"/>
          <p:cNvSpPr/>
          <p:nvPr/>
        </p:nvSpPr>
        <p:spPr>
          <a:xfrm>
            <a:off x="1216152" y="3749040"/>
            <a:ext cx="2971800" cy="905256"/>
          </a:xfrm>
          <a:prstGeom prst="rect">
            <a:avLst/>
          </a:prstGeom>
          <a:noFill/>
          <a:ln/>
        </p:spPr>
        <p:txBody>
          <a:bodyPr wrap="square" lIns="0" tIns="0" rIns="0" bIns="0" rtlCol="0" anchor="ctr">
            <a:normAutofit/>
          </a:bodyPr>
          <a:lstStyle/>
          <a:p>
            <a:pPr marL="0" indent="0">
              <a:buNone/>
            </a:pPr>
            <a:r>
              <a:rPr lang="vi-VN" sz="1300" dirty="0">
                <a:solidFill>
                  <a:srgbClr val="5C6670"/>
                </a:solidFill>
              </a:rPr>
              <a:t>Cơ sở khám chữa bệnh, điểm lưu động, tại gia đình</a:t>
            </a:r>
          </a:p>
          <a:p>
            <a:pPr marL="0" indent="0">
              <a:buNone/>
            </a:pPr>
            <a:r>
              <a:rPr lang="en-US" sz="1300" dirty="0" err="1">
                <a:solidFill>
                  <a:srgbClr val="5C6670"/>
                </a:solidFill>
              </a:rPr>
              <a:t>Một</a:t>
            </a:r>
            <a:r>
              <a:rPr lang="en-US" sz="1300" dirty="0">
                <a:solidFill>
                  <a:srgbClr val="5C6670"/>
                </a:solidFill>
              </a:rPr>
              <a:t> chiều, an ninh, kiểm soát nhiễm khuẩn, thiết bị và vật tư đầy đủ.</a:t>
            </a:r>
            <a:endParaRPr lang="en-US" sz="1300" dirty="0"/>
          </a:p>
        </p:txBody>
      </p:sp>
      <p:sp>
        <p:nvSpPr>
          <p:cNvPr id="26" name="Shape 24"/>
          <p:cNvSpPr/>
          <p:nvPr/>
        </p:nvSpPr>
        <p:spPr>
          <a:xfrm>
            <a:off x="4507992" y="3364992"/>
            <a:ext cx="384048" cy="384048"/>
          </a:xfrm>
          <a:prstGeom prst="ellipse">
            <a:avLst/>
          </a:prstGeom>
          <a:solidFill>
            <a:srgbClr val="2E9E65"/>
          </a:solidFill>
          <a:ln w="12700">
            <a:solidFill>
              <a:srgbClr val="2E9E65"/>
            </a:solidFill>
            <a:prstDash val="solid"/>
          </a:ln>
        </p:spPr>
      </p:sp>
      <p:sp>
        <p:nvSpPr>
          <p:cNvPr id="27" name="Text 25"/>
          <p:cNvSpPr/>
          <p:nvPr/>
        </p:nvSpPr>
        <p:spPr>
          <a:xfrm>
            <a:off x="4507992" y="3447288"/>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8" name="Text 26"/>
          <p:cNvSpPr/>
          <p:nvPr/>
        </p:nvSpPr>
        <p:spPr>
          <a:xfrm>
            <a:off x="5010912" y="3401568"/>
            <a:ext cx="2926080" cy="210312"/>
          </a:xfrm>
          <a:prstGeom prst="rect">
            <a:avLst/>
          </a:prstGeom>
          <a:noFill/>
          <a:ln/>
        </p:spPr>
        <p:txBody>
          <a:bodyPr wrap="square" lIns="0" tIns="0" rIns="0" bIns="0" rtlCol="0" anchor="ctr"/>
          <a:lstStyle/>
          <a:p>
            <a:pPr marL="0" indent="0">
              <a:buNone/>
            </a:pPr>
            <a:r>
              <a:rPr lang="en-US" sz="1500" b="1" dirty="0">
                <a:solidFill>
                  <a:srgbClr val="073642"/>
                </a:solidFill>
              </a:rPr>
              <a:t>Tập </a:t>
            </a:r>
            <a:r>
              <a:rPr lang="en-US" sz="1500" b="1" dirty="0" err="1">
                <a:solidFill>
                  <a:srgbClr val="073642"/>
                </a:solidFill>
              </a:rPr>
              <a:t>huấn</a:t>
            </a:r>
            <a:r>
              <a:rPr lang="en-US" sz="1500" b="1" dirty="0">
                <a:solidFill>
                  <a:srgbClr val="073642"/>
                </a:solidFill>
              </a:rPr>
              <a:t> </a:t>
            </a:r>
            <a:r>
              <a:rPr lang="en-US" sz="1500" b="1" dirty="0" err="1">
                <a:solidFill>
                  <a:srgbClr val="073642"/>
                </a:solidFill>
              </a:rPr>
              <a:t>chuyên</a:t>
            </a:r>
            <a:r>
              <a:rPr lang="en-US" sz="1500" b="1" dirty="0">
                <a:solidFill>
                  <a:srgbClr val="073642"/>
                </a:solidFill>
              </a:rPr>
              <a:t> </a:t>
            </a:r>
            <a:r>
              <a:rPr lang="en-US" sz="1500" b="1" dirty="0" err="1">
                <a:solidFill>
                  <a:srgbClr val="073642"/>
                </a:solidFill>
              </a:rPr>
              <a:t>môn</a:t>
            </a:r>
            <a:endParaRPr lang="en-US" sz="1500" dirty="0"/>
          </a:p>
        </p:txBody>
      </p:sp>
      <p:sp>
        <p:nvSpPr>
          <p:cNvPr id="29" name="Text 27"/>
          <p:cNvSpPr/>
          <p:nvPr/>
        </p:nvSpPr>
        <p:spPr>
          <a:xfrm>
            <a:off x="5010912" y="3749040"/>
            <a:ext cx="2971800" cy="502920"/>
          </a:xfrm>
          <a:prstGeom prst="rect">
            <a:avLst/>
          </a:prstGeom>
          <a:noFill/>
          <a:ln/>
        </p:spPr>
        <p:txBody>
          <a:bodyPr wrap="square" lIns="0" tIns="0" rIns="0" bIns="0" rtlCol="0" anchor="ctr">
            <a:normAutofit/>
          </a:bodyPr>
          <a:lstStyle/>
          <a:p>
            <a:pPr marL="0" indent="0">
              <a:buNone/>
            </a:pPr>
            <a:r>
              <a:rPr lang="en-US" sz="1300" dirty="0">
                <a:solidFill>
                  <a:srgbClr val="5C6670"/>
                </a:solidFill>
              </a:rPr>
              <a:t>Thống nhất phiếu, quy trình, danh mục kỹ thuật, biểu mẫu và chuyển tuyến.</a:t>
            </a:r>
            <a:endParaRPr lang="en-US" sz="1300" dirty="0"/>
          </a:p>
        </p:txBody>
      </p:sp>
      <p:sp>
        <p:nvSpPr>
          <p:cNvPr id="30" name="Shape 28"/>
          <p:cNvSpPr/>
          <p:nvPr/>
        </p:nvSpPr>
        <p:spPr>
          <a:xfrm>
            <a:off x="8302752" y="3364992"/>
            <a:ext cx="384048" cy="384048"/>
          </a:xfrm>
          <a:prstGeom prst="ellipse">
            <a:avLst/>
          </a:prstGeom>
          <a:solidFill>
            <a:srgbClr val="2E9E65"/>
          </a:solidFill>
          <a:ln w="12700">
            <a:solidFill>
              <a:srgbClr val="2E9E65"/>
            </a:solidFill>
            <a:prstDash val="solid"/>
          </a:ln>
        </p:spPr>
      </p:sp>
      <p:sp>
        <p:nvSpPr>
          <p:cNvPr id="31" name="Text 29"/>
          <p:cNvSpPr/>
          <p:nvPr/>
        </p:nvSpPr>
        <p:spPr>
          <a:xfrm>
            <a:off x="8302752" y="3447288"/>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6</a:t>
            </a:r>
            <a:endParaRPr lang="en-US" sz="1000" dirty="0"/>
          </a:p>
        </p:txBody>
      </p:sp>
      <p:sp>
        <p:nvSpPr>
          <p:cNvPr id="32" name="Text 30"/>
          <p:cNvSpPr/>
          <p:nvPr/>
        </p:nvSpPr>
        <p:spPr>
          <a:xfrm>
            <a:off x="8805672" y="3401568"/>
            <a:ext cx="2926080" cy="210312"/>
          </a:xfrm>
          <a:prstGeom prst="rect">
            <a:avLst/>
          </a:prstGeom>
          <a:noFill/>
          <a:ln/>
        </p:spPr>
        <p:txBody>
          <a:bodyPr wrap="square" lIns="0" tIns="0" rIns="0" bIns="0" rtlCol="0" anchor="ctr"/>
          <a:lstStyle/>
          <a:p>
            <a:pPr marL="0" indent="0">
              <a:buNone/>
            </a:pPr>
            <a:r>
              <a:rPr lang="en-US" sz="1500" b="1" dirty="0">
                <a:solidFill>
                  <a:srgbClr val="073642"/>
                </a:solidFill>
              </a:rPr>
              <a:t>Chuẩn bị dữ liệu</a:t>
            </a:r>
            <a:endParaRPr lang="en-US" sz="1500" dirty="0"/>
          </a:p>
        </p:txBody>
      </p:sp>
      <p:sp>
        <p:nvSpPr>
          <p:cNvPr id="33" name="Text 31"/>
          <p:cNvSpPr/>
          <p:nvPr/>
        </p:nvSpPr>
        <p:spPr>
          <a:xfrm>
            <a:off x="8805672" y="3749040"/>
            <a:ext cx="2971800" cy="502920"/>
          </a:xfrm>
          <a:prstGeom prst="rect">
            <a:avLst/>
          </a:prstGeom>
          <a:noFill/>
          <a:ln/>
        </p:spPr>
        <p:txBody>
          <a:bodyPr wrap="square" lIns="0" tIns="0" rIns="0" bIns="0" rtlCol="0" anchor="ctr">
            <a:normAutofit/>
          </a:bodyPr>
          <a:lstStyle/>
          <a:p>
            <a:pPr marL="0" indent="0">
              <a:buNone/>
            </a:pPr>
            <a:r>
              <a:rPr lang="en-US" sz="1300" dirty="0">
                <a:solidFill>
                  <a:srgbClr val="5C6670"/>
                </a:solidFill>
              </a:rPr>
              <a:t>Tài khoản, phần mềm, chữ ký số, chuẩn dữ liệu, đầu mối nhập liệu/liên thông.</a:t>
            </a:r>
            <a:endParaRPr lang="en-US" sz="1300" dirty="0"/>
          </a:p>
        </p:txBody>
      </p:sp>
      <p:sp>
        <p:nvSpPr>
          <p:cNvPr id="34" name="Shape 32"/>
          <p:cNvSpPr/>
          <p:nvPr/>
        </p:nvSpPr>
        <p:spPr>
          <a:xfrm>
            <a:off x="914400" y="5303520"/>
            <a:ext cx="10332720" cy="502920"/>
          </a:xfrm>
          <a:prstGeom prst="roundRect">
            <a:avLst>
              <a:gd name="adj" fmla="val 14545"/>
            </a:avLst>
          </a:prstGeom>
          <a:solidFill>
            <a:srgbClr val="FFF7E8"/>
          </a:solidFill>
          <a:ln w="12700">
            <a:solidFill>
              <a:srgbClr val="F7D7A8"/>
            </a:solidFill>
            <a:prstDash val="solid"/>
          </a:ln>
        </p:spPr>
      </p:sp>
      <p:sp>
        <p:nvSpPr>
          <p:cNvPr id="35" name="Text 33"/>
          <p:cNvSpPr/>
          <p:nvPr/>
        </p:nvSpPr>
        <p:spPr>
          <a:xfrm>
            <a:off x="1097280" y="5504688"/>
            <a:ext cx="9966960" cy="128016"/>
          </a:xfrm>
          <a:prstGeom prst="rect">
            <a:avLst/>
          </a:prstGeom>
          <a:noFill/>
          <a:ln/>
        </p:spPr>
        <p:txBody>
          <a:bodyPr wrap="square" lIns="0" tIns="0" rIns="0" bIns="0" rtlCol="0" anchor="ctr"/>
          <a:lstStyle/>
          <a:p>
            <a:pPr marL="0" indent="0">
              <a:buNone/>
            </a:pPr>
            <a:r>
              <a:rPr lang="en-US" sz="1220" b="1" dirty="0">
                <a:solidFill>
                  <a:srgbClr val="073642"/>
                </a:solidFill>
              </a:rPr>
              <a:t>Lưu ý: lịch khám hằng tuần cần báo cáo về Sở Y tế trước 17 giờ thứ Sáu hằng tuần để tổng hợp.</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Danh mục sàng lọc</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8</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12 BỆNH ĐƯỢC HỖ TRỢ KINH PHÍ</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Danh mục sàng lọc theo dự thảo</a:t>
            </a:r>
            <a:endParaRPr lang="en-US" sz="2800" dirty="0"/>
          </a:p>
        </p:txBody>
      </p:sp>
      <p:sp>
        <p:nvSpPr>
          <p:cNvPr id="10" name="Text 8"/>
          <p:cNvSpPr/>
          <p:nvPr/>
        </p:nvSpPr>
        <p:spPr>
          <a:xfrm>
            <a:off x="521208" y="1581912"/>
            <a:ext cx="10789920" cy="384048"/>
          </a:xfrm>
          <a:prstGeom prst="rect">
            <a:avLst/>
          </a:prstGeom>
          <a:noFill/>
          <a:ln/>
        </p:spPr>
        <p:txBody>
          <a:bodyPr wrap="square" lIns="0" tIns="0" rIns="0" bIns="0" rtlCol="0" anchor="ctr">
            <a:normAutofit/>
          </a:bodyPr>
          <a:lstStyle/>
          <a:p>
            <a:pPr marL="0" indent="0">
              <a:buNone/>
            </a:pPr>
            <a:r>
              <a:rPr lang="en-US" sz="1400" dirty="0">
                <a:solidFill>
                  <a:srgbClr val="5C6670"/>
                </a:solidFill>
              </a:rPr>
              <a:t>Địa phương lựa chọn danh mục phù hợp với đối tượng, lứa tuổi, năng lực chuyên môn và tình hình thực tế.</a:t>
            </a:r>
            <a:endParaRPr lang="en-US" sz="1400" dirty="0"/>
          </a:p>
        </p:txBody>
      </p:sp>
      <p:sp>
        <p:nvSpPr>
          <p:cNvPr id="11" name="Shape 9"/>
          <p:cNvSpPr/>
          <p:nvPr/>
        </p:nvSpPr>
        <p:spPr>
          <a:xfrm>
            <a:off x="502920" y="1965960"/>
            <a:ext cx="2464308" cy="698602"/>
          </a:xfrm>
          <a:prstGeom prst="rect">
            <a:avLst/>
          </a:prstGeom>
          <a:solidFill>
            <a:srgbClr val="075B63"/>
          </a:solidFill>
          <a:ln w="6350">
            <a:solidFill>
              <a:srgbClr val="FFFFFF"/>
            </a:solidFill>
            <a:prstDash val="solid"/>
          </a:ln>
        </p:spPr>
      </p:sp>
      <p:sp>
        <p:nvSpPr>
          <p:cNvPr id="12" name="Text 10"/>
          <p:cNvSpPr/>
          <p:nvPr/>
        </p:nvSpPr>
        <p:spPr>
          <a:xfrm>
            <a:off x="530352" y="2039112"/>
            <a:ext cx="2409444" cy="607162"/>
          </a:xfrm>
          <a:prstGeom prst="rect">
            <a:avLst/>
          </a:prstGeom>
          <a:noFill/>
          <a:ln/>
        </p:spPr>
        <p:txBody>
          <a:bodyPr wrap="square" lIns="254" tIns="254" rIns="254" bIns="254" rtlCol="0" anchor="ctr">
            <a:normAutofit/>
          </a:bodyPr>
          <a:lstStyle/>
          <a:p>
            <a:pPr marL="0" indent="0" algn="ctr">
              <a:buNone/>
            </a:pPr>
            <a:r>
              <a:rPr lang="en-US" sz="1050" b="1" dirty="0">
                <a:solidFill>
                  <a:srgbClr val="FFFFFF"/>
                </a:solidFill>
              </a:rPr>
              <a:t>Nhóm bệnh</a:t>
            </a:r>
            <a:endParaRPr lang="en-US" sz="1050" dirty="0"/>
          </a:p>
        </p:txBody>
      </p:sp>
      <p:sp>
        <p:nvSpPr>
          <p:cNvPr id="13" name="Shape 11"/>
          <p:cNvSpPr/>
          <p:nvPr/>
        </p:nvSpPr>
        <p:spPr>
          <a:xfrm>
            <a:off x="2967228" y="1965960"/>
            <a:ext cx="2352294" cy="698602"/>
          </a:xfrm>
          <a:prstGeom prst="rect">
            <a:avLst/>
          </a:prstGeom>
          <a:solidFill>
            <a:srgbClr val="075B63"/>
          </a:solidFill>
          <a:ln w="6350">
            <a:solidFill>
              <a:srgbClr val="FFFFFF"/>
            </a:solidFill>
            <a:prstDash val="solid"/>
          </a:ln>
        </p:spPr>
      </p:sp>
      <p:sp>
        <p:nvSpPr>
          <p:cNvPr id="14" name="Text 12"/>
          <p:cNvSpPr/>
          <p:nvPr/>
        </p:nvSpPr>
        <p:spPr>
          <a:xfrm>
            <a:off x="2994660" y="2039112"/>
            <a:ext cx="2297430" cy="607162"/>
          </a:xfrm>
          <a:prstGeom prst="rect">
            <a:avLst/>
          </a:prstGeom>
          <a:noFill/>
          <a:ln/>
        </p:spPr>
        <p:txBody>
          <a:bodyPr wrap="square" lIns="254" tIns="254" rIns="254" bIns="254" rtlCol="0" anchor="ctr">
            <a:normAutofit/>
          </a:bodyPr>
          <a:lstStyle/>
          <a:p>
            <a:pPr marL="0" indent="0" algn="ctr">
              <a:buNone/>
            </a:pPr>
            <a:r>
              <a:rPr lang="en-US" sz="1050" b="1" dirty="0">
                <a:solidFill>
                  <a:srgbClr val="FFFFFF"/>
                </a:solidFill>
              </a:rPr>
              <a:t>Đối tượng</a:t>
            </a:r>
            <a:endParaRPr lang="en-US" sz="1050" dirty="0"/>
          </a:p>
        </p:txBody>
      </p:sp>
      <p:sp>
        <p:nvSpPr>
          <p:cNvPr id="15" name="Shape 13"/>
          <p:cNvSpPr/>
          <p:nvPr/>
        </p:nvSpPr>
        <p:spPr>
          <a:xfrm>
            <a:off x="5319522" y="1965960"/>
            <a:ext cx="6384798" cy="698602"/>
          </a:xfrm>
          <a:prstGeom prst="rect">
            <a:avLst/>
          </a:prstGeom>
          <a:solidFill>
            <a:srgbClr val="075B63"/>
          </a:solidFill>
          <a:ln w="6350">
            <a:solidFill>
              <a:srgbClr val="FFFFFF"/>
            </a:solidFill>
            <a:prstDash val="solid"/>
          </a:ln>
        </p:spPr>
      </p:sp>
      <p:sp>
        <p:nvSpPr>
          <p:cNvPr id="16" name="Text 14"/>
          <p:cNvSpPr/>
          <p:nvPr/>
        </p:nvSpPr>
        <p:spPr>
          <a:xfrm>
            <a:off x="5346954" y="2039112"/>
            <a:ext cx="6329934" cy="607162"/>
          </a:xfrm>
          <a:prstGeom prst="rect">
            <a:avLst/>
          </a:prstGeom>
          <a:noFill/>
          <a:ln/>
        </p:spPr>
        <p:txBody>
          <a:bodyPr wrap="square" lIns="254" tIns="254" rIns="254" bIns="254" rtlCol="0" anchor="ctr">
            <a:normAutofit/>
          </a:bodyPr>
          <a:lstStyle/>
          <a:p>
            <a:pPr marL="0" indent="0" algn="ctr">
              <a:buNone/>
            </a:pPr>
            <a:r>
              <a:rPr lang="en-US" sz="1050" b="1" dirty="0">
                <a:solidFill>
                  <a:srgbClr val="FFFFFF"/>
                </a:solidFill>
              </a:rPr>
              <a:t>Nội dung sàng lọc chính</a:t>
            </a:r>
            <a:endParaRPr lang="en-US" sz="1050" dirty="0"/>
          </a:p>
        </p:txBody>
      </p:sp>
      <p:sp>
        <p:nvSpPr>
          <p:cNvPr id="17" name="Shape 15"/>
          <p:cNvSpPr/>
          <p:nvPr/>
        </p:nvSpPr>
        <p:spPr>
          <a:xfrm>
            <a:off x="502920" y="2664562"/>
            <a:ext cx="2464308" cy="698602"/>
          </a:xfrm>
          <a:prstGeom prst="rect">
            <a:avLst/>
          </a:prstGeom>
          <a:solidFill>
            <a:srgbClr val="FFFFFF"/>
          </a:solidFill>
          <a:ln w="6350">
            <a:solidFill>
              <a:srgbClr val="D4E2E6"/>
            </a:solidFill>
            <a:prstDash val="solid"/>
          </a:ln>
        </p:spPr>
      </p:sp>
      <p:sp>
        <p:nvSpPr>
          <p:cNvPr id="18" name="Text 16"/>
          <p:cNvSpPr/>
          <p:nvPr/>
        </p:nvSpPr>
        <p:spPr>
          <a:xfrm>
            <a:off x="539496" y="2710282"/>
            <a:ext cx="2391156"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Tăng huyết áp</a:t>
            </a:r>
            <a:endParaRPr lang="en-US" sz="1200" dirty="0"/>
          </a:p>
        </p:txBody>
      </p:sp>
      <p:sp>
        <p:nvSpPr>
          <p:cNvPr id="19" name="Shape 17"/>
          <p:cNvSpPr/>
          <p:nvPr/>
        </p:nvSpPr>
        <p:spPr>
          <a:xfrm>
            <a:off x="2967228" y="2664562"/>
            <a:ext cx="2352294" cy="698602"/>
          </a:xfrm>
          <a:prstGeom prst="rect">
            <a:avLst/>
          </a:prstGeom>
          <a:solidFill>
            <a:srgbClr val="FFFFFF"/>
          </a:solidFill>
          <a:ln w="6350">
            <a:solidFill>
              <a:srgbClr val="D4E2E6"/>
            </a:solidFill>
            <a:prstDash val="solid"/>
          </a:ln>
        </p:spPr>
      </p:sp>
      <p:sp>
        <p:nvSpPr>
          <p:cNvPr id="20" name="Text 18"/>
          <p:cNvSpPr/>
          <p:nvPr/>
        </p:nvSpPr>
        <p:spPr>
          <a:xfrm>
            <a:off x="3003804" y="2710282"/>
            <a:ext cx="2279142"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Nam &gt;55; nữ &gt;65</a:t>
            </a:r>
            <a:endParaRPr lang="en-US" sz="1200" dirty="0"/>
          </a:p>
        </p:txBody>
      </p:sp>
      <p:sp>
        <p:nvSpPr>
          <p:cNvPr id="21" name="Shape 19"/>
          <p:cNvSpPr/>
          <p:nvPr/>
        </p:nvSpPr>
        <p:spPr>
          <a:xfrm>
            <a:off x="5319522" y="2664562"/>
            <a:ext cx="6384798" cy="698602"/>
          </a:xfrm>
          <a:prstGeom prst="rect">
            <a:avLst/>
          </a:prstGeom>
          <a:solidFill>
            <a:srgbClr val="FFFFFF"/>
          </a:solidFill>
          <a:ln w="6350">
            <a:solidFill>
              <a:srgbClr val="D4E2E6"/>
            </a:solidFill>
            <a:prstDash val="solid"/>
          </a:ln>
        </p:spPr>
      </p:sp>
      <p:sp>
        <p:nvSpPr>
          <p:cNvPr id="22" name="Text 20"/>
          <p:cNvSpPr/>
          <p:nvPr/>
        </p:nvSpPr>
        <p:spPr>
          <a:xfrm>
            <a:off x="5356098" y="2710282"/>
            <a:ext cx="6311646"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Khám bệnh + đo huyết áp + phiếu sàng lọc</a:t>
            </a:r>
            <a:endParaRPr lang="en-US" sz="1200" dirty="0"/>
          </a:p>
        </p:txBody>
      </p:sp>
      <p:sp>
        <p:nvSpPr>
          <p:cNvPr id="23" name="Shape 21"/>
          <p:cNvSpPr/>
          <p:nvPr/>
        </p:nvSpPr>
        <p:spPr>
          <a:xfrm>
            <a:off x="502920" y="3363163"/>
            <a:ext cx="2464308" cy="698602"/>
          </a:xfrm>
          <a:prstGeom prst="rect">
            <a:avLst/>
          </a:prstGeom>
          <a:solidFill>
            <a:srgbClr val="F3F8F9"/>
          </a:solidFill>
          <a:ln w="6350">
            <a:solidFill>
              <a:srgbClr val="D4E2E6"/>
            </a:solidFill>
            <a:prstDash val="solid"/>
          </a:ln>
        </p:spPr>
      </p:sp>
      <p:sp>
        <p:nvSpPr>
          <p:cNvPr id="24" name="Text 22"/>
          <p:cNvSpPr/>
          <p:nvPr/>
        </p:nvSpPr>
        <p:spPr>
          <a:xfrm>
            <a:off x="539496" y="3408883"/>
            <a:ext cx="2391156"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Đái tháo đường típ 2</a:t>
            </a:r>
            <a:endParaRPr lang="en-US" sz="1200" dirty="0"/>
          </a:p>
        </p:txBody>
      </p:sp>
      <p:sp>
        <p:nvSpPr>
          <p:cNvPr id="25" name="Shape 23"/>
          <p:cNvSpPr/>
          <p:nvPr/>
        </p:nvSpPr>
        <p:spPr>
          <a:xfrm>
            <a:off x="2967228" y="3363163"/>
            <a:ext cx="2352294" cy="698602"/>
          </a:xfrm>
          <a:prstGeom prst="rect">
            <a:avLst/>
          </a:prstGeom>
          <a:solidFill>
            <a:srgbClr val="F3F8F9"/>
          </a:solidFill>
          <a:ln w="6350">
            <a:solidFill>
              <a:srgbClr val="D4E2E6"/>
            </a:solidFill>
            <a:prstDash val="solid"/>
          </a:ln>
        </p:spPr>
      </p:sp>
      <p:sp>
        <p:nvSpPr>
          <p:cNvPr id="26" name="Text 24"/>
          <p:cNvSpPr/>
          <p:nvPr/>
        </p:nvSpPr>
        <p:spPr>
          <a:xfrm>
            <a:off x="3003804" y="3408883"/>
            <a:ext cx="2279142"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Tuổi ≥45</a:t>
            </a:r>
            <a:endParaRPr lang="en-US" sz="1200" dirty="0"/>
          </a:p>
        </p:txBody>
      </p:sp>
      <p:sp>
        <p:nvSpPr>
          <p:cNvPr id="27" name="Shape 25"/>
          <p:cNvSpPr/>
          <p:nvPr/>
        </p:nvSpPr>
        <p:spPr>
          <a:xfrm>
            <a:off x="5319522" y="3363163"/>
            <a:ext cx="6384798" cy="698602"/>
          </a:xfrm>
          <a:prstGeom prst="rect">
            <a:avLst/>
          </a:prstGeom>
          <a:solidFill>
            <a:srgbClr val="F3F8F9"/>
          </a:solidFill>
          <a:ln w="6350">
            <a:solidFill>
              <a:srgbClr val="D4E2E6"/>
            </a:solidFill>
            <a:prstDash val="solid"/>
          </a:ln>
        </p:spPr>
      </p:sp>
      <p:sp>
        <p:nvSpPr>
          <p:cNvPr id="28" name="Text 26"/>
          <p:cNvSpPr/>
          <p:nvPr/>
        </p:nvSpPr>
        <p:spPr>
          <a:xfrm>
            <a:off x="5356098" y="3408883"/>
            <a:ext cx="6311646"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Khám bệnh + phiếu sàng lọc + xét nghiệm đường máu mao mạch hoặc định lượng glucose máu</a:t>
            </a:r>
            <a:endParaRPr lang="en-US" sz="1200" dirty="0"/>
          </a:p>
        </p:txBody>
      </p:sp>
      <p:sp>
        <p:nvSpPr>
          <p:cNvPr id="29" name="Shape 27"/>
          <p:cNvSpPr/>
          <p:nvPr/>
        </p:nvSpPr>
        <p:spPr>
          <a:xfrm>
            <a:off x="502920" y="4061765"/>
            <a:ext cx="2464308" cy="698602"/>
          </a:xfrm>
          <a:prstGeom prst="rect">
            <a:avLst/>
          </a:prstGeom>
          <a:solidFill>
            <a:srgbClr val="FFFFFF"/>
          </a:solidFill>
          <a:ln w="6350">
            <a:solidFill>
              <a:srgbClr val="D4E2E6"/>
            </a:solidFill>
            <a:prstDash val="solid"/>
          </a:ln>
        </p:spPr>
      </p:sp>
      <p:sp>
        <p:nvSpPr>
          <p:cNvPr id="30" name="Text 28"/>
          <p:cNvSpPr/>
          <p:nvPr/>
        </p:nvSpPr>
        <p:spPr>
          <a:xfrm>
            <a:off x="539496" y="4107485"/>
            <a:ext cx="2391156"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Hen phế quản</a:t>
            </a:r>
            <a:endParaRPr lang="en-US" sz="1200" dirty="0"/>
          </a:p>
        </p:txBody>
      </p:sp>
      <p:sp>
        <p:nvSpPr>
          <p:cNvPr id="31" name="Shape 29"/>
          <p:cNvSpPr/>
          <p:nvPr/>
        </p:nvSpPr>
        <p:spPr>
          <a:xfrm>
            <a:off x="2967228" y="4061765"/>
            <a:ext cx="2352294" cy="698602"/>
          </a:xfrm>
          <a:prstGeom prst="rect">
            <a:avLst/>
          </a:prstGeom>
          <a:solidFill>
            <a:srgbClr val="FFFFFF"/>
          </a:solidFill>
          <a:ln w="6350">
            <a:solidFill>
              <a:srgbClr val="D4E2E6"/>
            </a:solidFill>
            <a:prstDash val="solid"/>
          </a:ln>
        </p:spPr>
      </p:sp>
      <p:sp>
        <p:nvSpPr>
          <p:cNvPr id="32" name="Text 30"/>
          <p:cNvSpPr/>
          <p:nvPr/>
        </p:nvSpPr>
        <p:spPr>
          <a:xfrm>
            <a:off x="3003804" y="4107485"/>
            <a:ext cx="2279142"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Tuổi ≥12</a:t>
            </a:r>
            <a:endParaRPr lang="en-US" sz="1200" dirty="0"/>
          </a:p>
        </p:txBody>
      </p:sp>
      <p:sp>
        <p:nvSpPr>
          <p:cNvPr id="33" name="Shape 31"/>
          <p:cNvSpPr/>
          <p:nvPr/>
        </p:nvSpPr>
        <p:spPr>
          <a:xfrm>
            <a:off x="5319522" y="4061765"/>
            <a:ext cx="6384798" cy="698602"/>
          </a:xfrm>
          <a:prstGeom prst="rect">
            <a:avLst/>
          </a:prstGeom>
          <a:solidFill>
            <a:srgbClr val="FFFFFF"/>
          </a:solidFill>
          <a:ln w="6350">
            <a:solidFill>
              <a:srgbClr val="D4E2E6"/>
            </a:solidFill>
            <a:prstDash val="solid"/>
          </a:ln>
        </p:spPr>
      </p:sp>
      <p:sp>
        <p:nvSpPr>
          <p:cNvPr id="34" name="Text 32"/>
          <p:cNvSpPr/>
          <p:nvPr/>
        </p:nvSpPr>
        <p:spPr>
          <a:xfrm>
            <a:off x="5356098" y="4107485"/>
            <a:ext cx="6311646"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Khám bệnh + phiếu khám bệnh + phiếu thu thập thông tin + đo chức năng hô hấp</a:t>
            </a:r>
            <a:endParaRPr lang="en-US" sz="1200" dirty="0"/>
          </a:p>
        </p:txBody>
      </p:sp>
      <p:sp>
        <p:nvSpPr>
          <p:cNvPr id="35" name="Shape 33"/>
          <p:cNvSpPr/>
          <p:nvPr/>
        </p:nvSpPr>
        <p:spPr>
          <a:xfrm>
            <a:off x="502920" y="4760366"/>
            <a:ext cx="2464308" cy="698602"/>
          </a:xfrm>
          <a:prstGeom prst="rect">
            <a:avLst/>
          </a:prstGeom>
          <a:solidFill>
            <a:srgbClr val="F3F8F9"/>
          </a:solidFill>
          <a:ln w="6350">
            <a:solidFill>
              <a:srgbClr val="D4E2E6"/>
            </a:solidFill>
            <a:prstDash val="solid"/>
          </a:ln>
        </p:spPr>
      </p:sp>
      <p:sp>
        <p:nvSpPr>
          <p:cNvPr id="36" name="Text 34"/>
          <p:cNvSpPr/>
          <p:nvPr/>
        </p:nvSpPr>
        <p:spPr>
          <a:xfrm>
            <a:off x="539496" y="4806086"/>
            <a:ext cx="2391156"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Phổi tắc nghẽn mạn tính</a:t>
            </a:r>
            <a:endParaRPr lang="en-US" sz="1200" dirty="0"/>
          </a:p>
        </p:txBody>
      </p:sp>
      <p:sp>
        <p:nvSpPr>
          <p:cNvPr id="37" name="Shape 35"/>
          <p:cNvSpPr/>
          <p:nvPr/>
        </p:nvSpPr>
        <p:spPr>
          <a:xfrm>
            <a:off x="2967228" y="4760366"/>
            <a:ext cx="2352294" cy="698602"/>
          </a:xfrm>
          <a:prstGeom prst="rect">
            <a:avLst/>
          </a:prstGeom>
          <a:solidFill>
            <a:srgbClr val="F3F8F9"/>
          </a:solidFill>
          <a:ln w="6350">
            <a:solidFill>
              <a:srgbClr val="D4E2E6"/>
            </a:solidFill>
            <a:prstDash val="solid"/>
          </a:ln>
        </p:spPr>
      </p:sp>
      <p:sp>
        <p:nvSpPr>
          <p:cNvPr id="38" name="Text 36"/>
          <p:cNvSpPr/>
          <p:nvPr/>
        </p:nvSpPr>
        <p:spPr>
          <a:xfrm>
            <a:off x="3003804" y="4806086"/>
            <a:ext cx="2279142"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Tuổi ≥40</a:t>
            </a:r>
            <a:endParaRPr lang="en-US" sz="1200" dirty="0"/>
          </a:p>
        </p:txBody>
      </p:sp>
      <p:sp>
        <p:nvSpPr>
          <p:cNvPr id="39" name="Shape 37"/>
          <p:cNvSpPr/>
          <p:nvPr/>
        </p:nvSpPr>
        <p:spPr>
          <a:xfrm>
            <a:off x="5319522" y="4760366"/>
            <a:ext cx="6384798" cy="698602"/>
          </a:xfrm>
          <a:prstGeom prst="rect">
            <a:avLst/>
          </a:prstGeom>
          <a:solidFill>
            <a:srgbClr val="F3F8F9"/>
          </a:solidFill>
          <a:ln w="6350">
            <a:solidFill>
              <a:srgbClr val="D4E2E6"/>
            </a:solidFill>
            <a:prstDash val="solid"/>
          </a:ln>
        </p:spPr>
      </p:sp>
      <p:sp>
        <p:nvSpPr>
          <p:cNvPr id="40" name="Text 38"/>
          <p:cNvSpPr/>
          <p:nvPr/>
        </p:nvSpPr>
        <p:spPr>
          <a:xfrm>
            <a:off x="5356098" y="4806086"/>
            <a:ext cx="6311646" cy="643738"/>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Khám bệnh + phiếu khám bệnh + phiếu thu thập thông tin + đo chức năng hô hấp</a:t>
            </a:r>
            <a:endParaRPr lang="en-US" sz="1200" dirty="0"/>
          </a:p>
        </p:txBody>
      </p:sp>
      <p:sp>
        <p:nvSpPr>
          <p:cNvPr id="41" name="Text 39"/>
          <p:cNvSpPr/>
          <p:nvPr/>
        </p:nvSpPr>
        <p:spPr>
          <a:xfrm>
            <a:off x="685800" y="5623560"/>
            <a:ext cx="10789920" cy="228600"/>
          </a:xfrm>
          <a:prstGeom prst="rect">
            <a:avLst/>
          </a:prstGeom>
          <a:noFill/>
          <a:ln/>
        </p:spPr>
        <p:txBody>
          <a:bodyPr wrap="square" lIns="0" tIns="0" rIns="0" bIns="0" rtlCol="0" anchor="ctr">
            <a:normAutofit/>
          </a:bodyPr>
          <a:lstStyle/>
          <a:p>
            <a:pPr marL="0" indent="0">
              <a:buNone/>
            </a:pPr>
            <a:r>
              <a:rPr lang="en-US" sz="1120" dirty="0">
                <a:solidFill>
                  <a:srgbClr val="5C6670"/>
                </a:solidFill>
              </a:rPr>
              <a:t>Các quy trình tham chiếu: QĐ 3756/QĐ-BYT, QĐ 3087/QĐ-BYT, QĐ 5850/QĐ-BYT, QĐ 2767/QĐ-BYT.</a:t>
            </a:r>
            <a:endParaRPr lang="en-US" sz="11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Danh mục sàng lọc</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9</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DANH MỤC 12 BỆNH</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Nhóm ung thư trong danh mục sàng lọc</a:t>
            </a:r>
            <a:endParaRPr lang="en-US" sz="2800" dirty="0"/>
          </a:p>
        </p:txBody>
      </p:sp>
      <p:sp>
        <p:nvSpPr>
          <p:cNvPr id="10" name="Shape 8"/>
          <p:cNvSpPr/>
          <p:nvPr/>
        </p:nvSpPr>
        <p:spPr>
          <a:xfrm>
            <a:off x="502920" y="1737360"/>
            <a:ext cx="2555659" cy="662940"/>
          </a:xfrm>
          <a:prstGeom prst="rect">
            <a:avLst/>
          </a:prstGeom>
          <a:solidFill>
            <a:srgbClr val="075B63"/>
          </a:solidFill>
          <a:ln w="6350">
            <a:solidFill>
              <a:srgbClr val="FFFFFF"/>
            </a:solidFill>
            <a:prstDash val="solid"/>
          </a:ln>
        </p:spPr>
      </p:sp>
      <p:sp>
        <p:nvSpPr>
          <p:cNvPr id="11" name="Text 9"/>
          <p:cNvSpPr/>
          <p:nvPr/>
        </p:nvSpPr>
        <p:spPr>
          <a:xfrm>
            <a:off x="530352" y="1810512"/>
            <a:ext cx="2500795" cy="571500"/>
          </a:xfrm>
          <a:prstGeom prst="rect">
            <a:avLst/>
          </a:prstGeom>
          <a:noFill/>
          <a:ln/>
        </p:spPr>
        <p:txBody>
          <a:bodyPr wrap="square" lIns="254" tIns="254" rIns="254" bIns="254" rtlCol="0" anchor="ctr">
            <a:normAutofit/>
          </a:bodyPr>
          <a:lstStyle/>
          <a:p>
            <a:pPr marL="0" indent="0" algn="ctr">
              <a:buNone/>
            </a:pPr>
            <a:r>
              <a:rPr lang="en-US" sz="980" b="1" dirty="0">
                <a:solidFill>
                  <a:srgbClr val="FFFFFF"/>
                </a:solidFill>
              </a:rPr>
              <a:t>Bệnh sàng lọc</a:t>
            </a:r>
            <a:endParaRPr lang="en-US" sz="980" dirty="0"/>
          </a:p>
        </p:txBody>
      </p:sp>
      <p:sp>
        <p:nvSpPr>
          <p:cNvPr id="12" name="Shape 10"/>
          <p:cNvSpPr/>
          <p:nvPr/>
        </p:nvSpPr>
        <p:spPr>
          <a:xfrm>
            <a:off x="3058579" y="1737360"/>
            <a:ext cx="2229405" cy="662940"/>
          </a:xfrm>
          <a:prstGeom prst="rect">
            <a:avLst/>
          </a:prstGeom>
          <a:solidFill>
            <a:srgbClr val="075B63"/>
          </a:solidFill>
          <a:ln w="6350">
            <a:solidFill>
              <a:srgbClr val="FFFFFF"/>
            </a:solidFill>
            <a:prstDash val="solid"/>
          </a:ln>
        </p:spPr>
      </p:sp>
      <p:sp>
        <p:nvSpPr>
          <p:cNvPr id="13" name="Text 11"/>
          <p:cNvSpPr/>
          <p:nvPr/>
        </p:nvSpPr>
        <p:spPr>
          <a:xfrm>
            <a:off x="3086011" y="1810512"/>
            <a:ext cx="2174541" cy="571500"/>
          </a:xfrm>
          <a:prstGeom prst="rect">
            <a:avLst/>
          </a:prstGeom>
          <a:noFill/>
          <a:ln/>
        </p:spPr>
        <p:txBody>
          <a:bodyPr wrap="square" lIns="254" tIns="254" rIns="254" bIns="254" rtlCol="0" anchor="ctr">
            <a:normAutofit/>
          </a:bodyPr>
          <a:lstStyle/>
          <a:p>
            <a:pPr marL="0" indent="0" algn="ctr">
              <a:buNone/>
            </a:pPr>
            <a:r>
              <a:rPr lang="en-US" sz="980" b="1" dirty="0">
                <a:solidFill>
                  <a:srgbClr val="FFFFFF"/>
                </a:solidFill>
              </a:rPr>
              <a:t>Đối tượng</a:t>
            </a:r>
            <a:endParaRPr lang="en-US" sz="980" dirty="0"/>
          </a:p>
        </p:txBody>
      </p:sp>
      <p:sp>
        <p:nvSpPr>
          <p:cNvPr id="14" name="Shape 12"/>
          <p:cNvSpPr/>
          <p:nvPr/>
        </p:nvSpPr>
        <p:spPr>
          <a:xfrm>
            <a:off x="5287984" y="1737360"/>
            <a:ext cx="6416336" cy="662940"/>
          </a:xfrm>
          <a:prstGeom prst="rect">
            <a:avLst/>
          </a:prstGeom>
          <a:solidFill>
            <a:srgbClr val="075B63"/>
          </a:solidFill>
          <a:ln w="6350">
            <a:solidFill>
              <a:srgbClr val="FFFFFF"/>
            </a:solidFill>
            <a:prstDash val="solid"/>
          </a:ln>
        </p:spPr>
      </p:sp>
      <p:sp>
        <p:nvSpPr>
          <p:cNvPr id="15" name="Text 13"/>
          <p:cNvSpPr/>
          <p:nvPr/>
        </p:nvSpPr>
        <p:spPr>
          <a:xfrm>
            <a:off x="5315416" y="1810512"/>
            <a:ext cx="6361472" cy="571500"/>
          </a:xfrm>
          <a:prstGeom prst="rect">
            <a:avLst/>
          </a:prstGeom>
          <a:noFill/>
          <a:ln/>
        </p:spPr>
        <p:txBody>
          <a:bodyPr wrap="square" lIns="254" tIns="254" rIns="254" bIns="254" rtlCol="0" anchor="ctr">
            <a:normAutofit/>
          </a:bodyPr>
          <a:lstStyle/>
          <a:p>
            <a:pPr marL="0" indent="0" algn="ctr">
              <a:buNone/>
            </a:pPr>
            <a:r>
              <a:rPr lang="en-US" sz="980" b="1" dirty="0">
                <a:solidFill>
                  <a:srgbClr val="FFFFFF"/>
                </a:solidFill>
              </a:rPr>
              <a:t>Nội dung sàng lọc chính</a:t>
            </a:r>
            <a:endParaRPr lang="en-US" sz="980" dirty="0"/>
          </a:p>
        </p:txBody>
      </p:sp>
      <p:sp>
        <p:nvSpPr>
          <p:cNvPr id="16" name="Shape 14"/>
          <p:cNvSpPr/>
          <p:nvPr/>
        </p:nvSpPr>
        <p:spPr>
          <a:xfrm>
            <a:off x="502920" y="2400300"/>
            <a:ext cx="2555659" cy="662940"/>
          </a:xfrm>
          <a:prstGeom prst="rect">
            <a:avLst/>
          </a:prstGeom>
          <a:solidFill>
            <a:srgbClr val="FFFFFF"/>
          </a:solidFill>
          <a:ln w="6350">
            <a:solidFill>
              <a:srgbClr val="D4E2E6"/>
            </a:solidFill>
            <a:prstDash val="solid"/>
          </a:ln>
        </p:spPr>
      </p:sp>
      <p:sp>
        <p:nvSpPr>
          <p:cNvPr id="17" name="Text 15"/>
          <p:cNvSpPr/>
          <p:nvPr/>
        </p:nvSpPr>
        <p:spPr>
          <a:xfrm>
            <a:off x="539496" y="2446020"/>
            <a:ext cx="2482507"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Ung thư vú</a:t>
            </a:r>
            <a:endParaRPr lang="en-US" sz="980" dirty="0"/>
          </a:p>
        </p:txBody>
      </p:sp>
      <p:sp>
        <p:nvSpPr>
          <p:cNvPr id="18" name="Shape 16"/>
          <p:cNvSpPr/>
          <p:nvPr/>
        </p:nvSpPr>
        <p:spPr>
          <a:xfrm>
            <a:off x="3058579" y="2400300"/>
            <a:ext cx="2229405" cy="662940"/>
          </a:xfrm>
          <a:prstGeom prst="rect">
            <a:avLst/>
          </a:prstGeom>
          <a:solidFill>
            <a:srgbClr val="FFFFFF"/>
          </a:solidFill>
          <a:ln w="6350">
            <a:solidFill>
              <a:srgbClr val="D4E2E6"/>
            </a:solidFill>
            <a:prstDash val="solid"/>
          </a:ln>
        </p:spPr>
      </p:sp>
      <p:sp>
        <p:nvSpPr>
          <p:cNvPr id="19" name="Text 17"/>
          <p:cNvSpPr/>
          <p:nvPr/>
        </p:nvSpPr>
        <p:spPr>
          <a:xfrm>
            <a:off x="3095155" y="2446020"/>
            <a:ext cx="2156253"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Nữ 40–70 tuổi</a:t>
            </a:r>
            <a:endParaRPr lang="en-US" sz="980" dirty="0"/>
          </a:p>
        </p:txBody>
      </p:sp>
      <p:sp>
        <p:nvSpPr>
          <p:cNvPr id="20" name="Shape 18"/>
          <p:cNvSpPr/>
          <p:nvPr/>
        </p:nvSpPr>
        <p:spPr>
          <a:xfrm>
            <a:off x="5287984" y="2400300"/>
            <a:ext cx="6416336" cy="662940"/>
          </a:xfrm>
          <a:prstGeom prst="rect">
            <a:avLst/>
          </a:prstGeom>
          <a:solidFill>
            <a:srgbClr val="FFFFFF"/>
          </a:solidFill>
          <a:ln w="6350">
            <a:solidFill>
              <a:srgbClr val="D4E2E6"/>
            </a:solidFill>
            <a:prstDash val="solid"/>
          </a:ln>
        </p:spPr>
      </p:sp>
      <p:sp>
        <p:nvSpPr>
          <p:cNvPr id="21" name="Text 19"/>
          <p:cNvSpPr/>
          <p:nvPr/>
        </p:nvSpPr>
        <p:spPr>
          <a:xfrm>
            <a:off x="5324560" y="2446020"/>
            <a:ext cx="6343184"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Khám lâm sàng tuyến vú; siêu âm tuyến vú hai bên hoặc chụp X-quang tuyến vú</a:t>
            </a:r>
            <a:endParaRPr lang="en-US" sz="980" dirty="0"/>
          </a:p>
        </p:txBody>
      </p:sp>
      <p:sp>
        <p:nvSpPr>
          <p:cNvPr id="22" name="Shape 20"/>
          <p:cNvSpPr/>
          <p:nvPr/>
        </p:nvSpPr>
        <p:spPr>
          <a:xfrm>
            <a:off x="502920" y="3063240"/>
            <a:ext cx="2555659" cy="662940"/>
          </a:xfrm>
          <a:prstGeom prst="rect">
            <a:avLst/>
          </a:prstGeom>
          <a:solidFill>
            <a:srgbClr val="F3F8F9"/>
          </a:solidFill>
          <a:ln w="6350">
            <a:solidFill>
              <a:srgbClr val="D4E2E6"/>
            </a:solidFill>
            <a:prstDash val="solid"/>
          </a:ln>
        </p:spPr>
      </p:sp>
      <p:sp>
        <p:nvSpPr>
          <p:cNvPr id="23" name="Text 21"/>
          <p:cNvSpPr/>
          <p:nvPr/>
        </p:nvSpPr>
        <p:spPr>
          <a:xfrm>
            <a:off x="539496" y="3108960"/>
            <a:ext cx="2482507"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Ung thư cổ tử cung</a:t>
            </a:r>
            <a:endParaRPr lang="en-US" sz="980" dirty="0"/>
          </a:p>
        </p:txBody>
      </p:sp>
      <p:sp>
        <p:nvSpPr>
          <p:cNvPr id="24" name="Shape 22"/>
          <p:cNvSpPr/>
          <p:nvPr/>
        </p:nvSpPr>
        <p:spPr>
          <a:xfrm>
            <a:off x="3058579" y="3063240"/>
            <a:ext cx="2229405" cy="662940"/>
          </a:xfrm>
          <a:prstGeom prst="rect">
            <a:avLst/>
          </a:prstGeom>
          <a:solidFill>
            <a:srgbClr val="F3F8F9"/>
          </a:solidFill>
          <a:ln w="6350">
            <a:solidFill>
              <a:srgbClr val="D4E2E6"/>
            </a:solidFill>
            <a:prstDash val="solid"/>
          </a:ln>
        </p:spPr>
      </p:sp>
      <p:sp>
        <p:nvSpPr>
          <p:cNvPr id="25" name="Text 23"/>
          <p:cNvSpPr/>
          <p:nvPr/>
        </p:nvSpPr>
        <p:spPr>
          <a:xfrm>
            <a:off x="3095155" y="3108960"/>
            <a:ext cx="2156253"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Nữ 30–49 tuổi</a:t>
            </a:r>
            <a:endParaRPr lang="en-US" sz="980" dirty="0"/>
          </a:p>
        </p:txBody>
      </p:sp>
      <p:sp>
        <p:nvSpPr>
          <p:cNvPr id="26" name="Shape 24"/>
          <p:cNvSpPr/>
          <p:nvPr/>
        </p:nvSpPr>
        <p:spPr>
          <a:xfrm>
            <a:off x="5287984" y="3063240"/>
            <a:ext cx="6416336" cy="662940"/>
          </a:xfrm>
          <a:prstGeom prst="rect">
            <a:avLst/>
          </a:prstGeom>
          <a:solidFill>
            <a:srgbClr val="F3F8F9"/>
          </a:solidFill>
          <a:ln w="6350">
            <a:solidFill>
              <a:srgbClr val="D4E2E6"/>
            </a:solidFill>
            <a:prstDash val="solid"/>
          </a:ln>
        </p:spPr>
      </p:sp>
      <p:sp>
        <p:nvSpPr>
          <p:cNvPr id="27" name="Text 25"/>
          <p:cNvSpPr/>
          <p:nvPr/>
        </p:nvSpPr>
        <p:spPr>
          <a:xfrm>
            <a:off x="5324560" y="3108960"/>
            <a:ext cx="6343184"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Soi cổ tử cung + nghiệm pháp Acid Acetic (VIA) hoặc xét nghiệm tế bào cổ tử cung</a:t>
            </a:r>
            <a:endParaRPr lang="en-US" sz="980" dirty="0"/>
          </a:p>
        </p:txBody>
      </p:sp>
      <p:sp>
        <p:nvSpPr>
          <p:cNvPr id="28" name="Shape 26"/>
          <p:cNvSpPr/>
          <p:nvPr/>
        </p:nvSpPr>
        <p:spPr>
          <a:xfrm>
            <a:off x="502920" y="3726180"/>
            <a:ext cx="2555659" cy="662940"/>
          </a:xfrm>
          <a:prstGeom prst="rect">
            <a:avLst/>
          </a:prstGeom>
          <a:solidFill>
            <a:srgbClr val="FFFFFF"/>
          </a:solidFill>
          <a:ln w="6350">
            <a:solidFill>
              <a:srgbClr val="D4E2E6"/>
            </a:solidFill>
            <a:prstDash val="solid"/>
          </a:ln>
        </p:spPr>
      </p:sp>
      <p:sp>
        <p:nvSpPr>
          <p:cNvPr id="29" name="Text 27"/>
          <p:cNvSpPr/>
          <p:nvPr/>
        </p:nvSpPr>
        <p:spPr>
          <a:xfrm>
            <a:off x="539496" y="3771900"/>
            <a:ext cx="2482507"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Ung thư khoang miệng</a:t>
            </a:r>
            <a:endParaRPr lang="en-US" sz="980" dirty="0"/>
          </a:p>
        </p:txBody>
      </p:sp>
      <p:sp>
        <p:nvSpPr>
          <p:cNvPr id="30" name="Shape 28"/>
          <p:cNvSpPr/>
          <p:nvPr/>
        </p:nvSpPr>
        <p:spPr>
          <a:xfrm>
            <a:off x="3058579" y="3726180"/>
            <a:ext cx="2229405" cy="662940"/>
          </a:xfrm>
          <a:prstGeom prst="rect">
            <a:avLst/>
          </a:prstGeom>
          <a:solidFill>
            <a:srgbClr val="FFFFFF"/>
          </a:solidFill>
          <a:ln w="6350">
            <a:solidFill>
              <a:srgbClr val="D4E2E6"/>
            </a:solidFill>
            <a:prstDash val="solid"/>
          </a:ln>
        </p:spPr>
      </p:sp>
      <p:sp>
        <p:nvSpPr>
          <p:cNvPr id="31" name="Text 29"/>
          <p:cNvSpPr/>
          <p:nvPr/>
        </p:nvSpPr>
        <p:spPr>
          <a:xfrm>
            <a:off x="3095155" y="3771900"/>
            <a:ext cx="2156253"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Nam &gt;45 tuổi</a:t>
            </a:r>
            <a:endParaRPr lang="en-US" sz="980" dirty="0"/>
          </a:p>
        </p:txBody>
      </p:sp>
      <p:sp>
        <p:nvSpPr>
          <p:cNvPr id="32" name="Shape 30"/>
          <p:cNvSpPr/>
          <p:nvPr/>
        </p:nvSpPr>
        <p:spPr>
          <a:xfrm>
            <a:off x="5287984" y="3726180"/>
            <a:ext cx="6416336" cy="662940"/>
          </a:xfrm>
          <a:prstGeom prst="rect">
            <a:avLst/>
          </a:prstGeom>
          <a:solidFill>
            <a:srgbClr val="FFFFFF"/>
          </a:solidFill>
          <a:ln w="6350">
            <a:solidFill>
              <a:srgbClr val="D4E2E6"/>
            </a:solidFill>
            <a:prstDash val="solid"/>
          </a:ln>
        </p:spPr>
      </p:sp>
      <p:sp>
        <p:nvSpPr>
          <p:cNvPr id="33" name="Text 31"/>
          <p:cNvSpPr/>
          <p:nvPr/>
        </p:nvSpPr>
        <p:spPr>
          <a:xfrm>
            <a:off x="5324560" y="3771900"/>
            <a:ext cx="6343184"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Khám lâm sàng, khám khoang miệng bằng đèn huỳnh quang</a:t>
            </a:r>
            <a:endParaRPr lang="en-US" sz="980" dirty="0"/>
          </a:p>
        </p:txBody>
      </p:sp>
      <p:sp>
        <p:nvSpPr>
          <p:cNvPr id="34" name="Shape 32"/>
          <p:cNvSpPr/>
          <p:nvPr/>
        </p:nvSpPr>
        <p:spPr>
          <a:xfrm>
            <a:off x="502920" y="4389120"/>
            <a:ext cx="2555659" cy="662940"/>
          </a:xfrm>
          <a:prstGeom prst="rect">
            <a:avLst/>
          </a:prstGeom>
          <a:solidFill>
            <a:srgbClr val="F3F8F9"/>
          </a:solidFill>
          <a:ln w="6350">
            <a:solidFill>
              <a:srgbClr val="D4E2E6"/>
            </a:solidFill>
            <a:prstDash val="solid"/>
          </a:ln>
        </p:spPr>
      </p:sp>
      <p:sp>
        <p:nvSpPr>
          <p:cNvPr id="35" name="Text 33"/>
          <p:cNvSpPr/>
          <p:nvPr/>
        </p:nvSpPr>
        <p:spPr>
          <a:xfrm>
            <a:off x="539496" y="4434840"/>
            <a:ext cx="2482507"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Ung thư đại - trực tràng</a:t>
            </a:r>
            <a:endParaRPr lang="en-US" sz="980" dirty="0"/>
          </a:p>
        </p:txBody>
      </p:sp>
      <p:sp>
        <p:nvSpPr>
          <p:cNvPr id="36" name="Shape 34"/>
          <p:cNvSpPr/>
          <p:nvPr/>
        </p:nvSpPr>
        <p:spPr>
          <a:xfrm>
            <a:off x="3058579" y="4389120"/>
            <a:ext cx="2229405" cy="662940"/>
          </a:xfrm>
          <a:prstGeom prst="rect">
            <a:avLst/>
          </a:prstGeom>
          <a:solidFill>
            <a:srgbClr val="F3F8F9"/>
          </a:solidFill>
          <a:ln w="6350">
            <a:solidFill>
              <a:srgbClr val="D4E2E6"/>
            </a:solidFill>
            <a:prstDash val="solid"/>
          </a:ln>
        </p:spPr>
      </p:sp>
      <p:sp>
        <p:nvSpPr>
          <p:cNvPr id="37" name="Text 35"/>
          <p:cNvSpPr/>
          <p:nvPr/>
        </p:nvSpPr>
        <p:spPr>
          <a:xfrm>
            <a:off x="3095155" y="4434840"/>
            <a:ext cx="2156253"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Tuổi ≥50</a:t>
            </a:r>
            <a:endParaRPr lang="en-US" sz="980" dirty="0"/>
          </a:p>
        </p:txBody>
      </p:sp>
      <p:sp>
        <p:nvSpPr>
          <p:cNvPr id="38" name="Shape 36"/>
          <p:cNvSpPr/>
          <p:nvPr/>
        </p:nvSpPr>
        <p:spPr>
          <a:xfrm>
            <a:off x="5287984" y="4389120"/>
            <a:ext cx="6416336" cy="662940"/>
          </a:xfrm>
          <a:prstGeom prst="rect">
            <a:avLst/>
          </a:prstGeom>
          <a:solidFill>
            <a:srgbClr val="F3F8F9"/>
          </a:solidFill>
          <a:ln w="6350">
            <a:solidFill>
              <a:srgbClr val="D4E2E6"/>
            </a:solidFill>
            <a:prstDash val="solid"/>
          </a:ln>
        </p:spPr>
      </p:sp>
      <p:sp>
        <p:nvSpPr>
          <p:cNvPr id="39" name="Text 37"/>
          <p:cNvSpPr/>
          <p:nvPr/>
        </p:nvSpPr>
        <p:spPr>
          <a:xfrm>
            <a:off x="5324560" y="4434840"/>
            <a:ext cx="6343184"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Test nhanh tìm hồng cầu ẩn trong phân</a:t>
            </a:r>
            <a:endParaRPr lang="en-US" sz="980" dirty="0"/>
          </a:p>
        </p:txBody>
      </p:sp>
      <p:sp>
        <p:nvSpPr>
          <p:cNvPr id="40" name="Shape 38"/>
          <p:cNvSpPr/>
          <p:nvPr/>
        </p:nvSpPr>
        <p:spPr>
          <a:xfrm>
            <a:off x="502920" y="5052060"/>
            <a:ext cx="2555659" cy="662940"/>
          </a:xfrm>
          <a:prstGeom prst="rect">
            <a:avLst/>
          </a:prstGeom>
          <a:solidFill>
            <a:srgbClr val="FFFFFF"/>
          </a:solidFill>
          <a:ln w="6350">
            <a:solidFill>
              <a:srgbClr val="D4E2E6"/>
            </a:solidFill>
            <a:prstDash val="solid"/>
          </a:ln>
        </p:spPr>
      </p:sp>
      <p:sp>
        <p:nvSpPr>
          <p:cNvPr id="41" name="Text 39"/>
          <p:cNvSpPr/>
          <p:nvPr/>
        </p:nvSpPr>
        <p:spPr>
          <a:xfrm>
            <a:off x="539496" y="5097780"/>
            <a:ext cx="2482507"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Ung thư tuyến tiền liệt</a:t>
            </a:r>
            <a:endParaRPr lang="en-US" sz="980" dirty="0"/>
          </a:p>
        </p:txBody>
      </p:sp>
      <p:sp>
        <p:nvSpPr>
          <p:cNvPr id="42" name="Shape 40"/>
          <p:cNvSpPr/>
          <p:nvPr/>
        </p:nvSpPr>
        <p:spPr>
          <a:xfrm>
            <a:off x="3058579" y="5052060"/>
            <a:ext cx="2229405" cy="662940"/>
          </a:xfrm>
          <a:prstGeom prst="rect">
            <a:avLst/>
          </a:prstGeom>
          <a:solidFill>
            <a:srgbClr val="FFFFFF"/>
          </a:solidFill>
          <a:ln w="6350">
            <a:solidFill>
              <a:srgbClr val="D4E2E6"/>
            </a:solidFill>
            <a:prstDash val="solid"/>
          </a:ln>
        </p:spPr>
      </p:sp>
      <p:sp>
        <p:nvSpPr>
          <p:cNvPr id="43" name="Text 41"/>
          <p:cNvSpPr/>
          <p:nvPr/>
        </p:nvSpPr>
        <p:spPr>
          <a:xfrm>
            <a:off x="3095155" y="5097780"/>
            <a:ext cx="2156253"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Nam 50–69 tuổi</a:t>
            </a:r>
            <a:endParaRPr lang="en-US" sz="980" dirty="0"/>
          </a:p>
        </p:txBody>
      </p:sp>
      <p:sp>
        <p:nvSpPr>
          <p:cNvPr id="44" name="Shape 42"/>
          <p:cNvSpPr/>
          <p:nvPr/>
        </p:nvSpPr>
        <p:spPr>
          <a:xfrm>
            <a:off x="5287984" y="5052060"/>
            <a:ext cx="6416336" cy="662940"/>
          </a:xfrm>
          <a:prstGeom prst="rect">
            <a:avLst/>
          </a:prstGeom>
          <a:solidFill>
            <a:srgbClr val="FFFFFF"/>
          </a:solidFill>
          <a:ln w="6350">
            <a:solidFill>
              <a:srgbClr val="D4E2E6"/>
            </a:solidFill>
            <a:prstDash val="solid"/>
          </a:ln>
        </p:spPr>
      </p:sp>
      <p:sp>
        <p:nvSpPr>
          <p:cNvPr id="45" name="Text 43"/>
          <p:cNvSpPr/>
          <p:nvPr/>
        </p:nvSpPr>
        <p:spPr>
          <a:xfrm>
            <a:off x="5324560" y="5097780"/>
            <a:ext cx="6343184" cy="608076"/>
          </a:xfrm>
          <a:prstGeom prst="rect">
            <a:avLst/>
          </a:prstGeom>
          <a:noFill/>
          <a:ln/>
        </p:spPr>
        <p:txBody>
          <a:bodyPr wrap="square" lIns="127" tIns="127" rIns="127" bIns="127" rtlCol="0" anchor="ctr">
            <a:normAutofit/>
          </a:bodyPr>
          <a:lstStyle/>
          <a:p>
            <a:pPr marL="0" indent="0">
              <a:buNone/>
            </a:pPr>
            <a:r>
              <a:rPr lang="en-US" sz="980" dirty="0">
                <a:solidFill>
                  <a:srgbClr val="073642"/>
                </a:solidFill>
              </a:rPr>
              <a:t>Định lượng PSA toàn phần trong máu</a:t>
            </a:r>
            <a:endParaRPr lang="en-US" sz="980" dirty="0"/>
          </a:p>
        </p:txBody>
      </p:sp>
      <p:sp>
        <p:nvSpPr>
          <p:cNvPr id="46" name="Text 44"/>
          <p:cNvSpPr/>
          <p:nvPr/>
        </p:nvSpPr>
        <p:spPr>
          <a:xfrm>
            <a:off x="713232" y="5897880"/>
            <a:ext cx="10607040" cy="219456"/>
          </a:xfrm>
          <a:prstGeom prst="rect">
            <a:avLst/>
          </a:prstGeom>
          <a:noFill/>
          <a:ln/>
        </p:spPr>
        <p:txBody>
          <a:bodyPr wrap="square" lIns="0" tIns="0" rIns="0" bIns="0" rtlCol="0" anchor="ctr"/>
          <a:lstStyle/>
          <a:p>
            <a:pPr marL="0" indent="0">
              <a:buNone/>
            </a:pPr>
            <a:r>
              <a:rPr lang="en-US" sz="1150" dirty="0">
                <a:solidFill>
                  <a:srgbClr val="5C6670"/>
                </a:solidFill>
              </a:rPr>
              <a:t>Các nội dung này thực hiện theo hướng dẫn chuyên môn hiện hành và khả năng đáp ứng của cơ sở khám.</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Danh mục sàng lọc</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10</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DANH MỤC 12 BỆNH</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Nhóm rối loạn tâm thần trong danh mục sàng lọc</a:t>
            </a:r>
            <a:endParaRPr lang="en-US" sz="2800" dirty="0"/>
          </a:p>
        </p:txBody>
      </p:sp>
      <p:sp>
        <p:nvSpPr>
          <p:cNvPr id="10" name="Shape 8"/>
          <p:cNvSpPr/>
          <p:nvPr/>
        </p:nvSpPr>
        <p:spPr>
          <a:xfrm>
            <a:off x="777240" y="2011680"/>
            <a:ext cx="3474720" cy="1234440"/>
          </a:xfrm>
          <a:prstGeom prst="roundRect">
            <a:avLst>
              <a:gd name="adj" fmla="val 5926"/>
            </a:avLst>
          </a:prstGeom>
          <a:solidFill>
            <a:srgbClr val="FFFFFF"/>
          </a:solidFill>
          <a:ln w="12700">
            <a:solidFill>
              <a:srgbClr val="CFE1E6"/>
            </a:solidFill>
            <a:prstDash val="solid"/>
          </a:ln>
        </p:spPr>
      </p:sp>
      <p:sp>
        <p:nvSpPr>
          <p:cNvPr id="11" name="Shape 9"/>
          <p:cNvSpPr/>
          <p:nvPr/>
        </p:nvSpPr>
        <p:spPr>
          <a:xfrm>
            <a:off x="777240" y="2011680"/>
            <a:ext cx="64008" cy="1234440"/>
          </a:xfrm>
          <a:prstGeom prst="rect">
            <a:avLst/>
          </a:prstGeom>
          <a:solidFill>
            <a:srgbClr val="0B7C82"/>
          </a:solidFill>
          <a:ln w="12700">
            <a:solidFill>
              <a:srgbClr val="0B7C82"/>
            </a:solidFill>
            <a:prstDash val="solid"/>
          </a:ln>
        </p:spPr>
      </p:sp>
      <p:sp>
        <p:nvSpPr>
          <p:cNvPr id="12" name="Text 10"/>
          <p:cNvSpPr/>
          <p:nvPr/>
        </p:nvSpPr>
        <p:spPr>
          <a:xfrm>
            <a:off x="941832" y="2121408"/>
            <a:ext cx="320040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Rối loạn trầm cảm</a:t>
            </a:r>
            <a:endParaRPr lang="en-US" sz="1600" dirty="0"/>
          </a:p>
        </p:txBody>
      </p:sp>
      <p:sp>
        <p:nvSpPr>
          <p:cNvPr id="13" name="Text 11"/>
          <p:cNvSpPr/>
          <p:nvPr/>
        </p:nvSpPr>
        <p:spPr>
          <a:xfrm>
            <a:off x="941832" y="2487168"/>
            <a:ext cx="3200400" cy="667512"/>
          </a:xfrm>
          <a:prstGeom prst="rect">
            <a:avLst/>
          </a:prstGeom>
          <a:noFill/>
          <a:ln/>
        </p:spPr>
        <p:txBody>
          <a:bodyPr wrap="square" lIns="254" tIns="254" rIns="254" bIns="254" rtlCol="0" anchor="ctr">
            <a:normAutofit/>
          </a:bodyPr>
          <a:lstStyle/>
          <a:p>
            <a:pPr marL="0" indent="0">
              <a:buNone/>
            </a:pPr>
            <a:r>
              <a:rPr lang="en-US" sz="1300" dirty="0">
                <a:solidFill>
                  <a:srgbClr val="5C6670"/>
                </a:solidFill>
              </a:rPr>
              <a:t>Đối tượng: tuổi ≥18. Nội dung: khám bệnh + thang đánh giá trầm cảm Beck (BDI).</a:t>
            </a:r>
            <a:endParaRPr lang="en-US" sz="1300" dirty="0"/>
          </a:p>
        </p:txBody>
      </p:sp>
      <p:sp>
        <p:nvSpPr>
          <p:cNvPr id="14" name="Shape 12"/>
          <p:cNvSpPr/>
          <p:nvPr/>
        </p:nvSpPr>
        <p:spPr>
          <a:xfrm>
            <a:off x="4389120" y="2011680"/>
            <a:ext cx="3474720" cy="1234440"/>
          </a:xfrm>
          <a:prstGeom prst="roundRect">
            <a:avLst>
              <a:gd name="adj" fmla="val 5926"/>
            </a:avLst>
          </a:prstGeom>
          <a:solidFill>
            <a:srgbClr val="FFFFFF"/>
          </a:solidFill>
          <a:ln w="12700">
            <a:solidFill>
              <a:srgbClr val="CFE1E6"/>
            </a:solidFill>
            <a:prstDash val="solid"/>
          </a:ln>
        </p:spPr>
      </p:sp>
      <p:sp>
        <p:nvSpPr>
          <p:cNvPr id="15" name="Shape 13"/>
          <p:cNvSpPr/>
          <p:nvPr/>
        </p:nvSpPr>
        <p:spPr>
          <a:xfrm>
            <a:off x="4389120" y="2011680"/>
            <a:ext cx="64008" cy="1234440"/>
          </a:xfrm>
          <a:prstGeom prst="rect">
            <a:avLst/>
          </a:prstGeom>
          <a:solidFill>
            <a:srgbClr val="2E9E65"/>
          </a:solidFill>
          <a:ln w="12700">
            <a:solidFill>
              <a:srgbClr val="2E9E65"/>
            </a:solidFill>
            <a:prstDash val="solid"/>
          </a:ln>
        </p:spPr>
      </p:sp>
      <p:sp>
        <p:nvSpPr>
          <p:cNvPr id="16" name="Text 14"/>
          <p:cNvSpPr/>
          <p:nvPr/>
        </p:nvSpPr>
        <p:spPr>
          <a:xfrm>
            <a:off x="4553712" y="2121408"/>
            <a:ext cx="320040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Rối loạn lo âu</a:t>
            </a:r>
            <a:endParaRPr lang="en-US" sz="1600" dirty="0"/>
          </a:p>
        </p:txBody>
      </p:sp>
      <p:sp>
        <p:nvSpPr>
          <p:cNvPr id="17" name="Text 15"/>
          <p:cNvSpPr/>
          <p:nvPr/>
        </p:nvSpPr>
        <p:spPr>
          <a:xfrm>
            <a:off x="4553712" y="2487168"/>
            <a:ext cx="3200400" cy="667512"/>
          </a:xfrm>
          <a:prstGeom prst="rect">
            <a:avLst/>
          </a:prstGeom>
          <a:noFill/>
          <a:ln/>
        </p:spPr>
        <p:txBody>
          <a:bodyPr wrap="square" lIns="254" tIns="254" rIns="254" bIns="254" rtlCol="0" anchor="ctr">
            <a:normAutofit/>
          </a:bodyPr>
          <a:lstStyle/>
          <a:p>
            <a:pPr marL="0" indent="0">
              <a:buNone/>
            </a:pPr>
            <a:r>
              <a:rPr lang="en-US" sz="1300" dirty="0">
                <a:solidFill>
                  <a:srgbClr val="5C6670"/>
                </a:solidFill>
              </a:rPr>
              <a:t>Đối tượng: tuổi ≥18. Nội dung: khám bệnh + thang đánh giá lo âu Zung.</a:t>
            </a:r>
            <a:endParaRPr lang="en-US" sz="1300" dirty="0"/>
          </a:p>
        </p:txBody>
      </p:sp>
      <p:sp>
        <p:nvSpPr>
          <p:cNvPr id="18" name="Shape 16"/>
          <p:cNvSpPr/>
          <p:nvPr/>
        </p:nvSpPr>
        <p:spPr>
          <a:xfrm>
            <a:off x="8001000" y="2011680"/>
            <a:ext cx="3383280" cy="1234440"/>
          </a:xfrm>
          <a:prstGeom prst="roundRect">
            <a:avLst>
              <a:gd name="adj" fmla="val 5926"/>
            </a:avLst>
          </a:prstGeom>
          <a:solidFill>
            <a:srgbClr val="FFFFFF"/>
          </a:solidFill>
          <a:ln w="12700">
            <a:solidFill>
              <a:srgbClr val="CFE1E6"/>
            </a:solidFill>
            <a:prstDash val="solid"/>
          </a:ln>
        </p:spPr>
      </p:sp>
      <p:sp>
        <p:nvSpPr>
          <p:cNvPr id="19" name="Shape 17"/>
          <p:cNvSpPr/>
          <p:nvPr/>
        </p:nvSpPr>
        <p:spPr>
          <a:xfrm>
            <a:off x="8001000" y="2011680"/>
            <a:ext cx="64008" cy="1234440"/>
          </a:xfrm>
          <a:prstGeom prst="rect">
            <a:avLst/>
          </a:prstGeom>
          <a:solidFill>
            <a:srgbClr val="F08A24"/>
          </a:solidFill>
          <a:ln w="12700">
            <a:solidFill>
              <a:srgbClr val="F08A24"/>
            </a:solidFill>
            <a:prstDash val="solid"/>
          </a:ln>
        </p:spPr>
      </p:sp>
      <p:sp>
        <p:nvSpPr>
          <p:cNvPr id="20" name="Text 18"/>
          <p:cNvSpPr/>
          <p:nvPr/>
        </p:nvSpPr>
        <p:spPr>
          <a:xfrm>
            <a:off x="8165592" y="2121408"/>
            <a:ext cx="310896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Rối loạn tâm thần do rượu</a:t>
            </a:r>
            <a:endParaRPr lang="en-US" sz="1600" dirty="0"/>
          </a:p>
        </p:txBody>
      </p:sp>
      <p:sp>
        <p:nvSpPr>
          <p:cNvPr id="21" name="Text 19"/>
          <p:cNvSpPr/>
          <p:nvPr/>
        </p:nvSpPr>
        <p:spPr>
          <a:xfrm>
            <a:off x="8165592" y="2487168"/>
            <a:ext cx="3108960" cy="667512"/>
          </a:xfrm>
          <a:prstGeom prst="rect">
            <a:avLst/>
          </a:prstGeom>
          <a:noFill/>
          <a:ln/>
        </p:spPr>
        <p:txBody>
          <a:bodyPr wrap="square" lIns="254" tIns="254" rIns="254" bIns="254" rtlCol="0" anchor="ctr">
            <a:normAutofit/>
          </a:bodyPr>
          <a:lstStyle/>
          <a:p>
            <a:pPr marL="0" indent="0">
              <a:buNone/>
            </a:pPr>
            <a:r>
              <a:rPr lang="en-US" sz="1260" dirty="0">
                <a:solidFill>
                  <a:srgbClr val="5C6670"/>
                </a:solidFill>
              </a:rPr>
              <a:t>Đối tượng: tuổi ≥18, có tiền sử uống rượu. Nội dung: khám bệnh + thang đánh giá mức độ sử dụng rượu AUDIT.</a:t>
            </a:r>
            <a:endParaRPr lang="en-US" sz="1260" dirty="0"/>
          </a:p>
        </p:txBody>
      </p:sp>
      <p:sp>
        <p:nvSpPr>
          <p:cNvPr id="22" name="Shape 20"/>
          <p:cNvSpPr/>
          <p:nvPr/>
        </p:nvSpPr>
        <p:spPr>
          <a:xfrm>
            <a:off x="1097280" y="4160519"/>
            <a:ext cx="9921240" cy="1639143"/>
          </a:xfrm>
          <a:prstGeom prst="roundRect">
            <a:avLst>
              <a:gd name="adj" fmla="val 8421"/>
            </a:avLst>
          </a:prstGeom>
          <a:solidFill>
            <a:srgbClr val="E8F4F5"/>
          </a:solidFill>
          <a:ln w="12700">
            <a:solidFill>
              <a:srgbClr val="C4DADE"/>
            </a:solidFill>
            <a:prstDash val="solid"/>
          </a:ln>
        </p:spPr>
      </p:sp>
      <p:sp>
        <p:nvSpPr>
          <p:cNvPr id="23" name="Text 21"/>
          <p:cNvSpPr/>
          <p:nvPr/>
        </p:nvSpPr>
        <p:spPr>
          <a:xfrm>
            <a:off x="1173480" y="4160519"/>
            <a:ext cx="9723120" cy="1329944"/>
          </a:xfrm>
          <a:prstGeom prst="rect">
            <a:avLst/>
          </a:prstGeom>
          <a:noFill/>
          <a:ln/>
        </p:spPr>
        <p:txBody>
          <a:bodyPr wrap="square" lIns="0" tIns="0" rIns="0" bIns="0" rtlCol="0" anchor="ctr">
            <a:normAutofit/>
          </a:bodyPr>
          <a:lstStyle/>
          <a:p>
            <a:pPr algn="just"/>
            <a:r>
              <a:rPr lang="en-US" sz="1220" b="1" dirty="0">
                <a:solidFill>
                  <a:srgbClr val="073642"/>
                </a:solidFill>
              </a:rPr>
              <a:t>L</a:t>
            </a:r>
            <a:r>
              <a:rPr lang="vi-VN" sz="1220" b="1" dirty="0">
                <a:solidFill>
                  <a:srgbClr val="073642"/>
                </a:solidFill>
              </a:rPr>
              <a:t>ư</a:t>
            </a:r>
            <a:r>
              <a:rPr lang="en-US" sz="1220" b="1" dirty="0">
                <a:solidFill>
                  <a:srgbClr val="073642"/>
                </a:solidFill>
              </a:rPr>
              <a:t>u ý: </a:t>
            </a:r>
            <a:r>
              <a:rPr lang="vi-VN" sz="1220" b="1" dirty="0">
                <a:solidFill>
                  <a:srgbClr val="073642"/>
                </a:solidFill>
              </a:rPr>
              <a:t>Tổ chức triển khai bảo đảm tiết kiệm, hiệu quả, tránh lãng phí, phù hợp với điều kiện thực tế và nguồn lực của từng đơn vị.</a:t>
            </a:r>
            <a:endParaRPr lang="en-US" sz="1220" b="1" dirty="0">
              <a:solidFill>
                <a:srgbClr val="073642"/>
              </a:solidFill>
            </a:endParaRPr>
          </a:p>
          <a:p>
            <a:pPr algn="just"/>
            <a:r>
              <a:rPr lang="en-US" sz="1220" dirty="0">
                <a:solidFill>
                  <a:srgbClr val="073642"/>
                </a:solidFill>
              </a:rPr>
              <a:t>- </a:t>
            </a:r>
            <a:r>
              <a:rPr lang="en-US" sz="1220" dirty="0" err="1">
                <a:solidFill>
                  <a:srgbClr val="073642"/>
                </a:solidFill>
              </a:rPr>
              <a:t>Đối</a:t>
            </a:r>
            <a:r>
              <a:rPr lang="en-US" sz="1220" dirty="0">
                <a:solidFill>
                  <a:srgbClr val="073642"/>
                </a:solidFill>
              </a:rPr>
              <a:t> </a:t>
            </a:r>
            <a:r>
              <a:rPr lang="en-US" sz="1220" dirty="0" err="1">
                <a:solidFill>
                  <a:srgbClr val="073642"/>
                </a:solidFill>
              </a:rPr>
              <a:t>với</a:t>
            </a:r>
            <a:r>
              <a:rPr lang="en-US" sz="1220" dirty="0">
                <a:solidFill>
                  <a:srgbClr val="073642"/>
                </a:solidFill>
              </a:rPr>
              <a:t> </a:t>
            </a:r>
            <a:r>
              <a:rPr lang="en-US" sz="1220" dirty="0" err="1">
                <a:solidFill>
                  <a:srgbClr val="073642"/>
                </a:solidFill>
              </a:rPr>
              <a:t>nhóm</a:t>
            </a:r>
            <a:r>
              <a:rPr lang="en-US" sz="1220" dirty="0">
                <a:solidFill>
                  <a:srgbClr val="073642"/>
                </a:solidFill>
              </a:rPr>
              <a:t> </a:t>
            </a:r>
            <a:r>
              <a:rPr lang="en-US" sz="1220" dirty="0" err="1">
                <a:solidFill>
                  <a:srgbClr val="073642"/>
                </a:solidFill>
              </a:rPr>
              <a:t>bệnh</a:t>
            </a:r>
            <a:r>
              <a:rPr lang="en-US" sz="1220" dirty="0">
                <a:solidFill>
                  <a:srgbClr val="073642"/>
                </a:solidFill>
              </a:rPr>
              <a:t> </a:t>
            </a:r>
            <a:r>
              <a:rPr lang="en-US" sz="1220" dirty="0" err="1">
                <a:solidFill>
                  <a:srgbClr val="073642"/>
                </a:solidFill>
              </a:rPr>
              <a:t>tâm</a:t>
            </a:r>
            <a:r>
              <a:rPr lang="en-US" sz="1220" dirty="0">
                <a:solidFill>
                  <a:srgbClr val="073642"/>
                </a:solidFill>
              </a:rPr>
              <a:t> </a:t>
            </a:r>
            <a:r>
              <a:rPr lang="en-US" sz="1220" dirty="0" err="1">
                <a:solidFill>
                  <a:srgbClr val="073642"/>
                </a:solidFill>
              </a:rPr>
              <a:t>thần</a:t>
            </a:r>
            <a:r>
              <a:rPr lang="en-US" sz="1220" dirty="0">
                <a:solidFill>
                  <a:srgbClr val="073642"/>
                </a:solidFill>
              </a:rPr>
              <a:t> </a:t>
            </a:r>
            <a:r>
              <a:rPr lang="en-US" sz="1220" dirty="0" err="1">
                <a:solidFill>
                  <a:srgbClr val="073642"/>
                </a:solidFill>
              </a:rPr>
              <a:t>có</a:t>
            </a:r>
            <a:r>
              <a:rPr lang="en-US" sz="1220" dirty="0">
                <a:solidFill>
                  <a:srgbClr val="073642"/>
                </a:solidFill>
              </a:rPr>
              <a:t> </a:t>
            </a:r>
            <a:r>
              <a:rPr lang="en-US" sz="1220" dirty="0" err="1">
                <a:solidFill>
                  <a:srgbClr val="073642"/>
                </a:solidFill>
              </a:rPr>
              <a:t>thể</a:t>
            </a:r>
            <a:r>
              <a:rPr lang="en-US" sz="1220" dirty="0">
                <a:solidFill>
                  <a:srgbClr val="073642"/>
                </a:solidFill>
              </a:rPr>
              <a:t> </a:t>
            </a:r>
            <a:r>
              <a:rPr lang="en-US" sz="1220" dirty="0" err="1">
                <a:solidFill>
                  <a:srgbClr val="073642"/>
                </a:solidFill>
              </a:rPr>
              <a:t>thực</a:t>
            </a:r>
            <a:r>
              <a:rPr lang="en-US" sz="1220" dirty="0">
                <a:solidFill>
                  <a:srgbClr val="073642"/>
                </a:solidFill>
              </a:rPr>
              <a:t> </a:t>
            </a:r>
            <a:r>
              <a:rPr lang="en-US" sz="1220" dirty="0" err="1">
                <a:solidFill>
                  <a:srgbClr val="073642"/>
                </a:solidFill>
              </a:rPr>
              <a:t>hiện</a:t>
            </a:r>
            <a:r>
              <a:rPr lang="en-US" sz="1220" dirty="0">
                <a:solidFill>
                  <a:srgbClr val="073642"/>
                </a:solidFill>
              </a:rPr>
              <a:t> </a:t>
            </a:r>
            <a:r>
              <a:rPr lang="en-US" sz="1220" dirty="0" err="1">
                <a:solidFill>
                  <a:srgbClr val="073642"/>
                </a:solidFill>
              </a:rPr>
              <a:t>sàng</a:t>
            </a:r>
            <a:r>
              <a:rPr lang="en-US" sz="1220" dirty="0">
                <a:solidFill>
                  <a:srgbClr val="073642"/>
                </a:solidFill>
              </a:rPr>
              <a:t> </a:t>
            </a:r>
            <a:r>
              <a:rPr lang="en-US" sz="1220" dirty="0" err="1">
                <a:solidFill>
                  <a:srgbClr val="073642"/>
                </a:solidFill>
              </a:rPr>
              <a:t>lọc</a:t>
            </a:r>
            <a:r>
              <a:rPr lang="en-US" sz="1220" dirty="0">
                <a:solidFill>
                  <a:srgbClr val="073642"/>
                </a:solidFill>
              </a:rPr>
              <a:t> </a:t>
            </a:r>
            <a:r>
              <a:rPr lang="en-US" sz="1220" dirty="0" err="1">
                <a:solidFill>
                  <a:srgbClr val="073642"/>
                </a:solidFill>
              </a:rPr>
              <a:t>gồm</a:t>
            </a:r>
            <a:r>
              <a:rPr lang="en-US" sz="1220" dirty="0">
                <a:solidFill>
                  <a:srgbClr val="073642"/>
                </a:solidFill>
              </a:rPr>
              <a:t>: </a:t>
            </a:r>
            <a:r>
              <a:rPr lang="en-US" sz="1220" dirty="0" err="1">
                <a:solidFill>
                  <a:srgbClr val="073642"/>
                </a:solidFill>
              </a:rPr>
              <a:t>Rối</a:t>
            </a:r>
            <a:r>
              <a:rPr lang="en-US" sz="1220" dirty="0">
                <a:solidFill>
                  <a:srgbClr val="073642"/>
                </a:solidFill>
              </a:rPr>
              <a:t> </a:t>
            </a:r>
            <a:r>
              <a:rPr lang="en-US" sz="1220" dirty="0" err="1">
                <a:solidFill>
                  <a:srgbClr val="073642"/>
                </a:solidFill>
              </a:rPr>
              <a:t>loạn</a:t>
            </a:r>
            <a:r>
              <a:rPr lang="en-US" sz="1220" dirty="0">
                <a:solidFill>
                  <a:srgbClr val="073642"/>
                </a:solidFill>
              </a:rPr>
              <a:t> </a:t>
            </a:r>
            <a:r>
              <a:rPr lang="en-US" sz="1220" dirty="0" err="1">
                <a:solidFill>
                  <a:srgbClr val="073642"/>
                </a:solidFill>
              </a:rPr>
              <a:t>trầm</a:t>
            </a:r>
            <a:r>
              <a:rPr lang="en-US" sz="1220" dirty="0">
                <a:solidFill>
                  <a:srgbClr val="073642"/>
                </a:solidFill>
              </a:rPr>
              <a:t> </a:t>
            </a:r>
            <a:r>
              <a:rPr lang="en-US" sz="1220" dirty="0" err="1">
                <a:solidFill>
                  <a:srgbClr val="073642"/>
                </a:solidFill>
              </a:rPr>
              <a:t>cảm</a:t>
            </a:r>
            <a:r>
              <a:rPr lang="en-US" sz="1220" dirty="0">
                <a:solidFill>
                  <a:srgbClr val="073642"/>
                </a:solidFill>
              </a:rPr>
              <a:t>, </a:t>
            </a:r>
            <a:r>
              <a:rPr lang="en-US" sz="1220" dirty="0" err="1">
                <a:solidFill>
                  <a:srgbClr val="073642"/>
                </a:solidFill>
              </a:rPr>
              <a:t>Rối</a:t>
            </a:r>
            <a:r>
              <a:rPr lang="en-US" sz="1220" dirty="0">
                <a:solidFill>
                  <a:srgbClr val="073642"/>
                </a:solidFill>
              </a:rPr>
              <a:t> </a:t>
            </a:r>
            <a:r>
              <a:rPr lang="en-US" sz="1220" dirty="0" err="1">
                <a:solidFill>
                  <a:srgbClr val="073642"/>
                </a:solidFill>
              </a:rPr>
              <a:t>loạn</a:t>
            </a:r>
            <a:r>
              <a:rPr lang="en-US" sz="1220" dirty="0">
                <a:solidFill>
                  <a:srgbClr val="073642"/>
                </a:solidFill>
              </a:rPr>
              <a:t> lo </a:t>
            </a:r>
            <a:r>
              <a:rPr lang="en-US" sz="1220" dirty="0" err="1">
                <a:solidFill>
                  <a:srgbClr val="073642"/>
                </a:solidFill>
              </a:rPr>
              <a:t>âu</a:t>
            </a:r>
            <a:r>
              <a:rPr lang="en-US" sz="1220" dirty="0">
                <a:solidFill>
                  <a:srgbClr val="073642"/>
                </a:solidFill>
              </a:rPr>
              <a:t>, </a:t>
            </a:r>
            <a:r>
              <a:rPr lang="en-US" sz="1220" dirty="0" err="1">
                <a:solidFill>
                  <a:srgbClr val="073642"/>
                </a:solidFill>
              </a:rPr>
              <a:t>Rối</a:t>
            </a:r>
            <a:r>
              <a:rPr lang="en-US" sz="1220" dirty="0">
                <a:solidFill>
                  <a:srgbClr val="073642"/>
                </a:solidFill>
              </a:rPr>
              <a:t> </a:t>
            </a:r>
            <a:r>
              <a:rPr lang="en-US" sz="1220" dirty="0" err="1">
                <a:solidFill>
                  <a:srgbClr val="073642"/>
                </a:solidFill>
              </a:rPr>
              <a:t>loạn</a:t>
            </a:r>
            <a:r>
              <a:rPr lang="en-US" sz="1220" dirty="0">
                <a:solidFill>
                  <a:srgbClr val="073642"/>
                </a:solidFill>
              </a:rPr>
              <a:t> </a:t>
            </a:r>
            <a:r>
              <a:rPr lang="en-US" sz="1220" dirty="0" err="1">
                <a:solidFill>
                  <a:srgbClr val="073642"/>
                </a:solidFill>
              </a:rPr>
              <a:t>tâm</a:t>
            </a:r>
            <a:r>
              <a:rPr lang="en-US" sz="1220" dirty="0">
                <a:solidFill>
                  <a:srgbClr val="073642"/>
                </a:solidFill>
              </a:rPr>
              <a:t> </a:t>
            </a:r>
            <a:r>
              <a:rPr lang="en-US" sz="1220" dirty="0" err="1">
                <a:solidFill>
                  <a:srgbClr val="073642"/>
                </a:solidFill>
              </a:rPr>
              <a:t>thần</a:t>
            </a:r>
            <a:r>
              <a:rPr lang="en-US" sz="1220" dirty="0">
                <a:solidFill>
                  <a:srgbClr val="073642"/>
                </a:solidFill>
              </a:rPr>
              <a:t> do r</a:t>
            </a:r>
            <a:r>
              <a:rPr lang="vi-VN" sz="1220" dirty="0">
                <a:solidFill>
                  <a:srgbClr val="073642"/>
                </a:solidFill>
              </a:rPr>
              <a:t>ư</a:t>
            </a:r>
            <a:r>
              <a:rPr lang="en-US" sz="1220" dirty="0" err="1">
                <a:solidFill>
                  <a:srgbClr val="073642"/>
                </a:solidFill>
              </a:rPr>
              <a:t>ợu</a:t>
            </a:r>
            <a:r>
              <a:rPr lang="en-US" sz="1220" dirty="0">
                <a:solidFill>
                  <a:srgbClr val="073642"/>
                </a:solidFill>
              </a:rPr>
              <a:t> </a:t>
            </a:r>
            <a:r>
              <a:rPr lang="en-US" sz="1220" dirty="0" err="1">
                <a:solidFill>
                  <a:srgbClr val="073642"/>
                </a:solidFill>
              </a:rPr>
              <a:t>và</a:t>
            </a:r>
            <a:r>
              <a:rPr lang="en-US" sz="1220" dirty="0">
                <a:solidFill>
                  <a:srgbClr val="073642"/>
                </a:solidFill>
              </a:rPr>
              <a:t> </a:t>
            </a:r>
            <a:r>
              <a:rPr lang="en-US" sz="1220" dirty="0" err="1">
                <a:solidFill>
                  <a:srgbClr val="073642"/>
                </a:solidFill>
              </a:rPr>
              <a:t>sa</a:t>
            </a:r>
            <a:r>
              <a:rPr lang="en-US" sz="1220" dirty="0">
                <a:solidFill>
                  <a:srgbClr val="073642"/>
                </a:solidFill>
              </a:rPr>
              <a:t> </a:t>
            </a:r>
            <a:r>
              <a:rPr lang="en-US" sz="1220" dirty="0" err="1">
                <a:solidFill>
                  <a:srgbClr val="073642"/>
                </a:solidFill>
              </a:rPr>
              <a:t>sút</a:t>
            </a:r>
            <a:r>
              <a:rPr lang="en-US" sz="1220" dirty="0">
                <a:solidFill>
                  <a:srgbClr val="073642"/>
                </a:solidFill>
              </a:rPr>
              <a:t> </a:t>
            </a:r>
            <a:r>
              <a:rPr lang="en-US" sz="1220" dirty="0" err="1">
                <a:solidFill>
                  <a:srgbClr val="073642"/>
                </a:solidFill>
              </a:rPr>
              <a:t>trí</a:t>
            </a:r>
            <a:r>
              <a:rPr lang="en-US" sz="1220" dirty="0">
                <a:solidFill>
                  <a:srgbClr val="073642"/>
                </a:solidFill>
              </a:rPr>
              <a:t> </a:t>
            </a:r>
            <a:r>
              <a:rPr lang="en-US" sz="1220" dirty="0" err="1">
                <a:solidFill>
                  <a:srgbClr val="073642"/>
                </a:solidFill>
              </a:rPr>
              <a:t>tuệ</a:t>
            </a:r>
            <a:r>
              <a:rPr lang="en-US" sz="1220" dirty="0">
                <a:solidFill>
                  <a:srgbClr val="073642"/>
                </a:solidFill>
              </a:rPr>
              <a:t> (</a:t>
            </a:r>
            <a:r>
              <a:rPr lang="en-US" sz="1220" dirty="0" err="1">
                <a:solidFill>
                  <a:srgbClr val="073642"/>
                </a:solidFill>
              </a:rPr>
              <a:t>bổ</a:t>
            </a:r>
            <a:r>
              <a:rPr lang="en-US" sz="1220" dirty="0">
                <a:solidFill>
                  <a:srgbClr val="073642"/>
                </a:solidFill>
              </a:rPr>
              <a:t> sung </a:t>
            </a:r>
            <a:r>
              <a:rPr lang="en-US" sz="1220" dirty="0" err="1">
                <a:solidFill>
                  <a:srgbClr val="073642"/>
                </a:solidFill>
              </a:rPr>
              <a:t>theo</a:t>
            </a:r>
            <a:r>
              <a:rPr lang="en-US" sz="1220" dirty="0">
                <a:solidFill>
                  <a:srgbClr val="073642"/>
                </a:solidFill>
              </a:rPr>
              <a:t> </a:t>
            </a:r>
            <a:r>
              <a:rPr lang="en-US" sz="1220" dirty="0" err="1">
                <a:solidFill>
                  <a:srgbClr val="073642"/>
                </a:solidFill>
              </a:rPr>
              <a:t>Quyết</a:t>
            </a:r>
            <a:r>
              <a:rPr lang="en-US" sz="1220" dirty="0">
                <a:solidFill>
                  <a:srgbClr val="073642"/>
                </a:solidFill>
              </a:rPr>
              <a:t> </a:t>
            </a:r>
            <a:r>
              <a:rPr lang="en-US" sz="1220" dirty="0" err="1">
                <a:solidFill>
                  <a:srgbClr val="073642"/>
                </a:solidFill>
              </a:rPr>
              <a:t>định</a:t>
            </a:r>
            <a:r>
              <a:rPr lang="en-US" sz="1220" dirty="0">
                <a:solidFill>
                  <a:srgbClr val="073642"/>
                </a:solidFill>
              </a:rPr>
              <a:t> </a:t>
            </a:r>
            <a:r>
              <a:rPr lang="en-US" sz="1220" dirty="0" err="1">
                <a:solidFill>
                  <a:srgbClr val="073642"/>
                </a:solidFill>
              </a:rPr>
              <a:t>số</a:t>
            </a:r>
            <a:r>
              <a:rPr lang="en-US" sz="1220" dirty="0">
                <a:solidFill>
                  <a:srgbClr val="073642"/>
                </a:solidFill>
              </a:rPr>
              <a:t> 1981/QĐ-BYT </a:t>
            </a:r>
            <a:r>
              <a:rPr lang="en-US" sz="1220" dirty="0" err="1">
                <a:solidFill>
                  <a:srgbClr val="073642"/>
                </a:solidFill>
              </a:rPr>
              <a:t>ngày</a:t>
            </a:r>
            <a:r>
              <a:rPr lang="en-US" sz="1220" dirty="0">
                <a:solidFill>
                  <a:srgbClr val="073642"/>
                </a:solidFill>
              </a:rPr>
              <a:t> 01/7/2026.</a:t>
            </a:r>
          </a:p>
          <a:p>
            <a:pPr algn="just"/>
            <a:r>
              <a:rPr lang="en-US" sz="1220" dirty="0">
                <a:solidFill>
                  <a:srgbClr val="073642"/>
                </a:solidFill>
              </a:rPr>
              <a:t>- </a:t>
            </a:r>
            <a:r>
              <a:rPr lang="vi-VN" sz="1220" dirty="0">
                <a:solidFill>
                  <a:srgbClr val="073642"/>
                </a:solidFill>
              </a:rPr>
              <a:t>Việc khám, sàng lọc tăng huyết áp và đái tháo đường type 2 được tổ chức lồng ghép, thực hiện chung cho đối tượng từ đủ 45 tuổi trở lê</a:t>
            </a:r>
            <a:r>
              <a:rPr lang="en-US" sz="1220" dirty="0">
                <a:solidFill>
                  <a:srgbClr val="073642"/>
                </a:solidFill>
              </a:rPr>
              <a:t>n</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Quy trình khám</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11</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TỪ PHIẾU NGUY CƠ ĐẾN QUẢN LÝ SAU KHÁM</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Quy trình chuyên môn khám sàng lọc 6 bước</a:t>
            </a:r>
            <a:endParaRPr lang="en-US" sz="2800" dirty="0"/>
          </a:p>
        </p:txBody>
      </p:sp>
      <p:sp>
        <p:nvSpPr>
          <p:cNvPr id="10" name="Shape 8"/>
          <p:cNvSpPr/>
          <p:nvPr/>
        </p:nvSpPr>
        <p:spPr>
          <a:xfrm>
            <a:off x="731520" y="1920240"/>
            <a:ext cx="384048" cy="384048"/>
          </a:xfrm>
          <a:prstGeom prst="ellipse">
            <a:avLst/>
          </a:prstGeom>
          <a:solidFill>
            <a:srgbClr val="0B7C82"/>
          </a:solidFill>
          <a:ln w="12700">
            <a:solidFill>
              <a:srgbClr val="0B7C82"/>
            </a:solidFill>
            <a:prstDash val="solid"/>
          </a:ln>
        </p:spPr>
      </p:sp>
      <p:sp>
        <p:nvSpPr>
          <p:cNvPr id="11" name="Text 9"/>
          <p:cNvSpPr/>
          <p:nvPr/>
        </p:nvSpPr>
        <p:spPr>
          <a:xfrm>
            <a:off x="731520" y="200253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2" name="Text 10"/>
          <p:cNvSpPr/>
          <p:nvPr/>
        </p:nvSpPr>
        <p:spPr>
          <a:xfrm>
            <a:off x="1280160" y="1965960"/>
            <a:ext cx="4754880" cy="502920"/>
          </a:xfrm>
          <a:prstGeom prst="rect">
            <a:avLst/>
          </a:prstGeom>
          <a:noFill/>
          <a:ln/>
        </p:spPr>
        <p:txBody>
          <a:bodyPr wrap="square" lIns="0" tIns="0" rIns="0" bIns="0" rtlCol="0" anchor="ctr">
            <a:normAutofit/>
          </a:bodyPr>
          <a:lstStyle/>
          <a:p>
            <a:pPr marL="0" indent="0">
              <a:buNone/>
            </a:pPr>
            <a:r>
              <a:rPr lang="en-US" sz="1240" dirty="0">
                <a:solidFill>
                  <a:srgbClr val="073642"/>
                </a:solidFill>
              </a:rPr>
              <a:t>Người dân tự điền phiếu đánh giá nguy cơ theo phụ lục</a:t>
            </a:r>
            <a:endParaRPr lang="en-US" sz="1240" dirty="0"/>
          </a:p>
        </p:txBody>
      </p:sp>
      <p:sp>
        <p:nvSpPr>
          <p:cNvPr id="13" name="Shape 11"/>
          <p:cNvSpPr/>
          <p:nvPr/>
        </p:nvSpPr>
        <p:spPr>
          <a:xfrm>
            <a:off x="6309360" y="1920240"/>
            <a:ext cx="384048" cy="384048"/>
          </a:xfrm>
          <a:prstGeom prst="ellipse">
            <a:avLst/>
          </a:prstGeom>
          <a:solidFill>
            <a:srgbClr val="0B7C82"/>
          </a:solidFill>
          <a:ln w="12700">
            <a:solidFill>
              <a:srgbClr val="0B7C82"/>
            </a:solidFill>
            <a:prstDash val="solid"/>
          </a:ln>
        </p:spPr>
      </p:sp>
      <p:sp>
        <p:nvSpPr>
          <p:cNvPr id="14" name="Text 12"/>
          <p:cNvSpPr/>
          <p:nvPr/>
        </p:nvSpPr>
        <p:spPr>
          <a:xfrm>
            <a:off x="6309360" y="200253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5" name="Text 13"/>
          <p:cNvSpPr/>
          <p:nvPr/>
        </p:nvSpPr>
        <p:spPr>
          <a:xfrm>
            <a:off x="6858000" y="1965960"/>
            <a:ext cx="4754880" cy="502920"/>
          </a:xfrm>
          <a:prstGeom prst="rect">
            <a:avLst/>
          </a:prstGeom>
          <a:noFill/>
          <a:ln/>
        </p:spPr>
        <p:txBody>
          <a:bodyPr wrap="square" lIns="0" tIns="0" rIns="0" bIns="0" rtlCol="0" anchor="ctr">
            <a:normAutofit/>
          </a:bodyPr>
          <a:lstStyle/>
          <a:p>
            <a:pPr marL="0" indent="0">
              <a:buNone/>
            </a:pPr>
            <a:r>
              <a:rPr lang="en-US" sz="1240" dirty="0">
                <a:solidFill>
                  <a:srgbClr val="073642"/>
                </a:solidFill>
              </a:rPr>
              <a:t>Cán bộ y tế kiểm tra phiếu, khai thác yếu tố nguy cơ, triệu chứng nghi ngờ</a:t>
            </a:r>
            <a:endParaRPr lang="en-US" sz="1240" dirty="0"/>
          </a:p>
        </p:txBody>
      </p:sp>
      <p:sp>
        <p:nvSpPr>
          <p:cNvPr id="16" name="Shape 14"/>
          <p:cNvSpPr/>
          <p:nvPr/>
        </p:nvSpPr>
        <p:spPr>
          <a:xfrm>
            <a:off x="731520" y="2999232"/>
            <a:ext cx="384048" cy="384048"/>
          </a:xfrm>
          <a:prstGeom prst="ellipse">
            <a:avLst/>
          </a:prstGeom>
          <a:solidFill>
            <a:srgbClr val="0B7C82"/>
          </a:solidFill>
          <a:ln w="12700">
            <a:solidFill>
              <a:srgbClr val="0B7C82"/>
            </a:solidFill>
            <a:prstDash val="solid"/>
          </a:ln>
        </p:spPr>
      </p:sp>
      <p:sp>
        <p:nvSpPr>
          <p:cNvPr id="17" name="Text 15"/>
          <p:cNvSpPr/>
          <p:nvPr/>
        </p:nvSpPr>
        <p:spPr>
          <a:xfrm>
            <a:off x="731520" y="3081528"/>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8" name="Text 16"/>
          <p:cNvSpPr/>
          <p:nvPr/>
        </p:nvSpPr>
        <p:spPr>
          <a:xfrm>
            <a:off x="1280160" y="3044952"/>
            <a:ext cx="4754880" cy="502920"/>
          </a:xfrm>
          <a:prstGeom prst="rect">
            <a:avLst/>
          </a:prstGeom>
          <a:noFill/>
          <a:ln/>
        </p:spPr>
        <p:txBody>
          <a:bodyPr wrap="square" lIns="0" tIns="0" rIns="0" bIns="0" rtlCol="0" anchor="ctr">
            <a:normAutofit/>
          </a:bodyPr>
          <a:lstStyle/>
          <a:p>
            <a:r>
              <a:rPr lang="en-US" sz="1240" dirty="0">
                <a:solidFill>
                  <a:srgbClr val="073642"/>
                </a:solidFill>
              </a:rPr>
              <a:t>Đo chiều cao, cân nặng, vòng eo, tính BMI, đo </a:t>
            </a:r>
            <a:r>
              <a:rPr lang="en-US" sz="1240" dirty="0" err="1">
                <a:solidFill>
                  <a:srgbClr val="073642"/>
                </a:solidFill>
              </a:rPr>
              <a:t>huyết</a:t>
            </a:r>
            <a:r>
              <a:rPr lang="en-US" sz="1240" dirty="0">
                <a:solidFill>
                  <a:srgbClr val="073642"/>
                </a:solidFill>
              </a:rPr>
              <a:t> </a:t>
            </a:r>
            <a:r>
              <a:rPr lang="en-US" sz="1240" dirty="0" err="1">
                <a:solidFill>
                  <a:srgbClr val="073642"/>
                </a:solidFill>
              </a:rPr>
              <a:t>áp</a:t>
            </a:r>
            <a:r>
              <a:rPr lang="en-US" sz="1240" dirty="0">
                <a:solidFill>
                  <a:srgbClr val="073642"/>
                </a:solidFill>
              </a:rPr>
              <a:t> </a:t>
            </a:r>
            <a:r>
              <a:rPr lang="en-US" sz="1240" dirty="0" err="1">
                <a:solidFill>
                  <a:srgbClr val="073642"/>
                </a:solidFill>
              </a:rPr>
              <a:t>phù</a:t>
            </a:r>
            <a:r>
              <a:rPr lang="en-US" sz="1240" dirty="0">
                <a:solidFill>
                  <a:srgbClr val="073642"/>
                </a:solidFill>
              </a:rPr>
              <a:t> </a:t>
            </a:r>
            <a:r>
              <a:rPr lang="en-US" sz="1240" dirty="0" err="1">
                <a:solidFill>
                  <a:srgbClr val="073642"/>
                </a:solidFill>
              </a:rPr>
              <a:t>hợp</a:t>
            </a:r>
            <a:r>
              <a:rPr lang="en-US" sz="1240" dirty="0">
                <a:solidFill>
                  <a:srgbClr val="073642"/>
                </a:solidFill>
              </a:rPr>
              <a:t> </a:t>
            </a:r>
            <a:r>
              <a:rPr lang="en-US" sz="1240" dirty="0" err="1">
                <a:solidFill>
                  <a:srgbClr val="073642"/>
                </a:solidFill>
              </a:rPr>
              <a:t>với</a:t>
            </a:r>
            <a:r>
              <a:rPr lang="en-US" sz="1240" dirty="0">
                <a:solidFill>
                  <a:srgbClr val="073642"/>
                </a:solidFill>
              </a:rPr>
              <a:t> </a:t>
            </a:r>
            <a:r>
              <a:rPr lang="en-US" sz="1240" dirty="0" err="1">
                <a:solidFill>
                  <a:srgbClr val="073642"/>
                </a:solidFill>
              </a:rPr>
              <a:t>bệnh</a:t>
            </a:r>
            <a:r>
              <a:rPr lang="en-US" sz="1240" dirty="0">
                <a:solidFill>
                  <a:srgbClr val="073642"/>
                </a:solidFill>
              </a:rPr>
              <a:t> </a:t>
            </a:r>
            <a:r>
              <a:rPr lang="en-US" sz="1240" dirty="0" err="1">
                <a:solidFill>
                  <a:srgbClr val="073642"/>
                </a:solidFill>
              </a:rPr>
              <a:t>sàng</a:t>
            </a:r>
            <a:r>
              <a:rPr lang="en-US" sz="1240" dirty="0">
                <a:solidFill>
                  <a:srgbClr val="073642"/>
                </a:solidFill>
              </a:rPr>
              <a:t> </a:t>
            </a:r>
            <a:r>
              <a:rPr lang="en-US" sz="1240" dirty="0" err="1">
                <a:solidFill>
                  <a:srgbClr val="073642"/>
                </a:solidFill>
              </a:rPr>
              <a:t>lọc</a:t>
            </a:r>
            <a:endParaRPr lang="en-US" sz="1240" dirty="0"/>
          </a:p>
        </p:txBody>
      </p:sp>
      <p:sp>
        <p:nvSpPr>
          <p:cNvPr id="19" name="Shape 17"/>
          <p:cNvSpPr/>
          <p:nvPr/>
        </p:nvSpPr>
        <p:spPr>
          <a:xfrm>
            <a:off x="6309360" y="2999232"/>
            <a:ext cx="384048" cy="384048"/>
          </a:xfrm>
          <a:prstGeom prst="ellipse">
            <a:avLst/>
          </a:prstGeom>
          <a:solidFill>
            <a:srgbClr val="2E9E65"/>
          </a:solidFill>
          <a:ln w="12700">
            <a:solidFill>
              <a:srgbClr val="2E9E65"/>
            </a:solidFill>
            <a:prstDash val="solid"/>
          </a:ln>
        </p:spPr>
      </p:sp>
      <p:sp>
        <p:nvSpPr>
          <p:cNvPr id="20" name="Text 18"/>
          <p:cNvSpPr/>
          <p:nvPr/>
        </p:nvSpPr>
        <p:spPr>
          <a:xfrm>
            <a:off x="6309360" y="3081528"/>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1" name="Text 19"/>
          <p:cNvSpPr/>
          <p:nvPr/>
        </p:nvSpPr>
        <p:spPr>
          <a:xfrm>
            <a:off x="6858000" y="3044952"/>
            <a:ext cx="4754880" cy="502920"/>
          </a:xfrm>
          <a:prstGeom prst="rect">
            <a:avLst/>
          </a:prstGeom>
          <a:noFill/>
          <a:ln/>
        </p:spPr>
        <p:txBody>
          <a:bodyPr wrap="square" lIns="0" tIns="0" rIns="0" bIns="0" rtlCol="0" anchor="ctr">
            <a:normAutofit/>
          </a:bodyPr>
          <a:lstStyle/>
          <a:p>
            <a:pPr marL="0" indent="0">
              <a:buNone/>
            </a:pPr>
            <a:r>
              <a:rPr lang="en-US" sz="1240" dirty="0">
                <a:solidFill>
                  <a:srgbClr val="073642"/>
                </a:solidFill>
              </a:rPr>
              <a:t>Khám lâm sàng cơ bản và triệu chứng bất thường phù hợp với bệnh sàng lọc</a:t>
            </a:r>
            <a:endParaRPr lang="en-US" sz="1240" dirty="0"/>
          </a:p>
        </p:txBody>
      </p:sp>
      <p:sp>
        <p:nvSpPr>
          <p:cNvPr id="22" name="Shape 20"/>
          <p:cNvSpPr/>
          <p:nvPr/>
        </p:nvSpPr>
        <p:spPr>
          <a:xfrm>
            <a:off x="731520" y="4078224"/>
            <a:ext cx="384048" cy="384048"/>
          </a:xfrm>
          <a:prstGeom prst="ellipse">
            <a:avLst/>
          </a:prstGeom>
          <a:solidFill>
            <a:srgbClr val="2E9E65"/>
          </a:solidFill>
          <a:ln w="12700">
            <a:solidFill>
              <a:srgbClr val="2E9E65"/>
            </a:solidFill>
            <a:prstDash val="solid"/>
          </a:ln>
        </p:spPr>
      </p:sp>
      <p:sp>
        <p:nvSpPr>
          <p:cNvPr id="23" name="Text 21"/>
          <p:cNvSpPr/>
          <p:nvPr/>
        </p:nvSpPr>
        <p:spPr>
          <a:xfrm>
            <a:off x="731520" y="4160520"/>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4" name="Text 22"/>
          <p:cNvSpPr/>
          <p:nvPr/>
        </p:nvSpPr>
        <p:spPr>
          <a:xfrm>
            <a:off x="1280160" y="4123944"/>
            <a:ext cx="4754880" cy="502920"/>
          </a:xfrm>
          <a:prstGeom prst="rect">
            <a:avLst/>
          </a:prstGeom>
          <a:noFill/>
          <a:ln/>
        </p:spPr>
        <p:txBody>
          <a:bodyPr wrap="square" lIns="0" tIns="0" rIns="0" bIns="0" rtlCol="0" anchor="ctr">
            <a:normAutofit/>
          </a:bodyPr>
          <a:lstStyle/>
          <a:p>
            <a:pPr marL="0" indent="0">
              <a:buNone/>
            </a:pPr>
            <a:r>
              <a:rPr lang="en-US" sz="1240" dirty="0">
                <a:solidFill>
                  <a:srgbClr val="073642"/>
                </a:solidFill>
              </a:rPr>
              <a:t>Xét nghiệm cận lâm sàng phù hợp với bệnh sàng lọc</a:t>
            </a:r>
            <a:endParaRPr lang="en-US" sz="1240" dirty="0"/>
          </a:p>
        </p:txBody>
      </p:sp>
      <p:sp>
        <p:nvSpPr>
          <p:cNvPr id="25" name="Shape 23"/>
          <p:cNvSpPr/>
          <p:nvPr/>
        </p:nvSpPr>
        <p:spPr>
          <a:xfrm>
            <a:off x="6309360" y="4078224"/>
            <a:ext cx="384048" cy="384048"/>
          </a:xfrm>
          <a:prstGeom prst="ellipse">
            <a:avLst/>
          </a:prstGeom>
          <a:solidFill>
            <a:srgbClr val="F08A24"/>
          </a:solidFill>
          <a:ln w="12700">
            <a:solidFill>
              <a:srgbClr val="F08A24"/>
            </a:solidFill>
            <a:prstDash val="solid"/>
          </a:ln>
        </p:spPr>
      </p:sp>
      <p:sp>
        <p:nvSpPr>
          <p:cNvPr id="26" name="Text 24"/>
          <p:cNvSpPr/>
          <p:nvPr/>
        </p:nvSpPr>
        <p:spPr>
          <a:xfrm>
            <a:off x="6309360" y="4160520"/>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6</a:t>
            </a:r>
            <a:endParaRPr lang="en-US" sz="1000" dirty="0"/>
          </a:p>
        </p:txBody>
      </p:sp>
      <p:sp>
        <p:nvSpPr>
          <p:cNvPr id="27" name="Text 25"/>
          <p:cNvSpPr/>
          <p:nvPr/>
        </p:nvSpPr>
        <p:spPr>
          <a:xfrm>
            <a:off x="6858000" y="4123944"/>
            <a:ext cx="4754880" cy="502920"/>
          </a:xfrm>
          <a:prstGeom prst="rect">
            <a:avLst/>
          </a:prstGeom>
          <a:noFill/>
          <a:ln/>
        </p:spPr>
        <p:txBody>
          <a:bodyPr wrap="square" lIns="0" tIns="0" rIns="0" bIns="0" rtlCol="0" anchor="ctr">
            <a:normAutofit/>
          </a:bodyPr>
          <a:lstStyle/>
          <a:p>
            <a:pPr marL="0" indent="0">
              <a:buNone/>
            </a:pPr>
            <a:r>
              <a:rPr lang="en-US" sz="1240" dirty="0">
                <a:solidFill>
                  <a:srgbClr val="073642"/>
                </a:solidFill>
              </a:rPr>
              <a:t>Kết luận, tư vấn, chuyển tuyến khi cần; lập danh sách theo dõi và liên thông HSSKĐT</a:t>
            </a:r>
            <a:endParaRPr lang="en-US" sz="1240" dirty="0"/>
          </a:p>
        </p:txBody>
      </p:sp>
      <p:sp>
        <p:nvSpPr>
          <p:cNvPr id="28" name="Shape 26"/>
          <p:cNvSpPr/>
          <p:nvPr/>
        </p:nvSpPr>
        <p:spPr>
          <a:xfrm>
            <a:off x="1097280" y="5486400"/>
            <a:ext cx="9966960" cy="438912"/>
          </a:xfrm>
          <a:prstGeom prst="roundRect">
            <a:avLst>
              <a:gd name="adj" fmla="val 16667"/>
            </a:avLst>
          </a:prstGeom>
          <a:solidFill>
            <a:srgbClr val="FFF7E8"/>
          </a:solidFill>
          <a:ln w="12700">
            <a:solidFill>
              <a:srgbClr val="F7D7A8"/>
            </a:solidFill>
            <a:prstDash val="solid"/>
          </a:ln>
        </p:spPr>
      </p:sp>
      <p:sp>
        <p:nvSpPr>
          <p:cNvPr id="29" name="Text 27"/>
          <p:cNvSpPr/>
          <p:nvPr/>
        </p:nvSpPr>
        <p:spPr>
          <a:xfrm>
            <a:off x="1325880" y="5650992"/>
            <a:ext cx="9418320" cy="109728"/>
          </a:xfrm>
          <a:prstGeom prst="rect">
            <a:avLst/>
          </a:prstGeom>
          <a:noFill/>
          <a:ln/>
        </p:spPr>
        <p:txBody>
          <a:bodyPr wrap="square" lIns="0" tIns="0" rIns="0" bIns="0" rtlCol="0" anchor="ctr"/>
          <a:lstStyle/>
          <a:p>
            <a:pPr marL="0" indent="0" algn="ctr">
              <a:buNone/>
            </a:pPr>
            <a:r>
              <a:rPr lang="en-US" sz="1160" b="1" dirty="0">
                <a:solidFill>
                  <a:srgbClr val="073642"/>
                </a:solidFill>
              </a:rPr>
              <a:t>Bước 1 do người dân tự điền; bước 2–6 do cán bộ y tế thực hiện, bảo đảm điều kiện chuyên môn theo quy định.</a:t>
            </a:r>
            <a:endParaRPr lang="en-US" sz="11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Phiếu sàng lọc</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13</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PHỤ LỤC – BIỂU MẪU</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Phiếu sàng lọc và nguyên tắc sử dụng</a:t>
            </a:r>
            <a:endParaRPr lang="en-US" sz="2800" dirty="0"/>
          </a:p>
        </p:txBody>
      </p:sp>
      <p:sp>
        <p:nvSpPr>
          <p:cNvPr id="10" name="Shape 8"/>
          <p:cNvSpPr/>
          <p:nvPr/>
        </p:nvSpPr>
        <p:spPr>
          <a:xfrm>
            <a:off x="685800" y="1874520"/>
            <a:ext cx="2514600" cy="1097280"/>
          </a:xfrm>
          <a:prstGeom prst="roundRect">
            <a:avLst>
              <a:gd name="adj" fmla="val 6667"/>
            </a:avLst>
          </a:prstGeom>
          <a:solidFill>
            <a:srgbClr val="FFFFFF"/>
          </a:solidFill>
          <a:ln w="12700">
            <a:solidFill>
              <a:srgbClr val="CFE1E6"/>
            </a:solidFill>
            <a:prstDash val="solid"/>
          </a:ln>
        </p:spPr>
      </p:sp>
      <p:sp>
        <p:nvSpPr>
          <p:cNvPr id="11" name="Shape 9"/>
          <p:cNvSpPr/>
          <p:nvPr/>
        </p:nvSpPr>
        <p:spPr>
          <a:xfrm>
            <a:off x="685800" y="1874520"/>
            <a:ext cx="64008" cy="1097280"/>
          </a:xfrm>
          <a:prstGeom prst="rect">
            <a:avLst/>
          </a:prstGeom>
          <a:solidFill>
            <a:srgbClr val="0B7C82"/>
          </a:solidFill>
          <a:ln w="12700">
            <a:solidFill>
              <a:srgbClr val="0B7C82"/>
            </a:solidFill>
            <a:prstDash val="solid"/>
          </a:ln>
        </p:spPr>
      </p:sp>
      <p:sp>
        <p:nvSpPr>
          <p:cNvPr id="12" name="Text 10"/>
          <p:cNvSpPr/>
          <p:nvPr/>
        </p:nvSpPr>
        <p:spPr>
          <a:xfrm>
            <a:off x="850392" y="1984248"/>
            <a:ext cx="22402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Hành chính</a:t>
            </a:r>
            <a:endParaRPr lang="en-US" sz="1600" dirty="0"/>
          </a:p>
        </p:txBody>
      </p:sp>
      <p:sp>
        <p:nvSpPr>
          <p:cNvPr id="13" name="Text 11"/>
          <p:cNvSpPr/>
          <p:nvPr/>
        </p:nvSpPr>
        <p:spPr>
          <a:xfrm>
            <a:off x="850392" y="2350008"/>
            <a:ext cx="2240280" cy="530352"/>
          </a:xfrm>
          <a:prstGeom prst="rect">
            <a:avLst/>
          </a:prstGeom>
          <a:noFill/>
          <a:ln/>
        </p:spPr>
        <p:txBody>
          <a:bodyPr wrap="square" lIns="254" tIns="254" rIns="254" bIns="254" rtlCol="0" anchor="ctr">
            <a:normAutofit lnSpcReduction="10000"/>
          </a:bodyPr>
          <a:lstStyle/>
          <a:p>
            <a:pPr marL="0" indent="0">
              <a:buNone/>
            </a:pPr>
            <a:r>
              <a:rPr lang="en-US" sz="1180" dirty="0">
                <a:solidFill>
                  <a:srgbClr val="5C6670"/>
                </a:solidFill>
              </a:rPr>
              <a:t>Họ tên, ngày sinh, CCCD/số định danh, BHYT, địa chỉ, liên hệ khi cần báo tin.</a:t>
            </a:r>
            <a:endParaRPr lang="en-US" sz="1180" dirty="0"/>
          </a:p>
        </p:txBody>
      </p:sp>
      <p:sp>
        <p:nvSpPr>
          <p:cNvPr id="14" name="Shape 12"/>
          <p:cNvSpPr/>
          <p:nvPr/>
        </p:nvSpPr>
        <p:spPr>
          <a:xfrm>
            <a:off x="3429000" y="1874520"/>
            <a:ext cx="2514600" cy="1097280"/>
          </a:xfrm>
          <a:prstGeom prst="roundRect">
            <a:avLst>
              <a:gd name="adj" fmla="val 6667"/>
            </a:avLst>
          </a:prstGeom>
          <a:solidFill>
            <a:srgbClr val="FFFFFF"/>
          </a:solidFill>
          <a:ln w="12700">
            <a:solidFill>
              <a:srgbClr val="CFE1E6"/>
            </a:solidFill>
            <a:prstDash val="solid"/>
          </a:ln>
        </p:spPr>
      </p:sp>
      <p:sp>
        <p:nvSpPr>
          <p:cNvPr id="15" name="Shape 13"/>
          <p:cNvSpPr/>
          <p:nvPr/>
        </p:nvSpPr>
        <p:spPr>
          <a:xfrm>
            <a:off x="3429000" y="1874520"/>
            <a:ext cx="64008" cy="1097280"/>
          </a:xfrm>
          <a:prstGeom prst="rect">
            <a:avLst/>
          </a:prstGeom>
          <a:solidFill>
            <a:srgbClr val="2E9E65"/>
          </a:solidFill>
          <a:ln w="12700">
            <a:solidFill>
              <a:srgbClr val="2E9E65"/>
            </a:solidFill>
            <a:prstDash val="solid"/>
          </a:ln>
        </p:spPr>
      </p:sp>
      <p:sp>
        <p:nvSpPr>
          <p:cNvPr id="16" name="Text 14"/>
          <p:cNvSpPr/>
          <p:nvPr/>
        </p:nvSpPr>
        <p:spPr>
          <a:xfrm>
            <a:off x="3593592" y="1984248"/>
            <a:ext cx="22402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Tiền sử</a:t>
            </a:r>
            <a:endParaRPr lang="en-US" sz="1600" dirty="0"/>
          </a:p>
        </p:txBody>
      </p:sp>
      <p:sp>
        <p:nvSpPr>
          <p:cNvPr id="17" name="Text 15"/>
          <p:cNvSpPr/>
          <p:nvPr/>
        </p:nvSpPr>
        <p:spPr>
          <a:xfrm>
            <a:off x="3593592" y="2350008"/>
            <a:ext cx="2240280" cy="530352"/>
          </a:xfrm>
          <a:prstGeom prst="rect">
            <a:avLst/>
          </a:prstGeom>
          <a:noFill/>
          <a:ln/>
        </p:spPr>
        <p:txBody>
          <a:bodyPr wrap="square" lIns="254" tIns="254" rIns="254" bIns="254" rtlCol="0" anchor="ctr">
            <a:normAutofit lnSpcReduction="10000"/>
          </a:bodyPr>
          <a:lstStyle/>
          <a:p>
            <a:pPr marL="0" indent="0">
              <a:buNone/>
            </a:pPr>
            <a:r>
              <a:rPr lang="en-US" sz="1180" dirty="0">
                <a:solidFill>
                  <a:srgbClr val="5C6670"/>
                </a:solidFill>
              </a:rPr>
              <a:t>THA, ĐTĐ, BPTNMT, hen, ung thư, đột quỵ, thận mạn, rối loạn tâm thần.</a:t>
            </a:r>
            <a:endParaRPr lang="en-US" sz="1180" dirty="0"/>
          </a:p>
        </p:txBody>
      </p:sp>
      <p:sp>
        <p:nvSpPr>
          <p:cNvPr id="18" name="Shape 16"/>
          <p:cNvSpPr/>
          <p:nvPr/>
        </p:nvSpPr>
        <p:spPr>
          <a:xfrm>
            <a:off x="6172200" y="1874520"/>
            <a:ext cx="2514600" cy="1097280"/>
          </a:xfrm>
          <a:prstGeom prst="roundRect">
            <a:avLst>
              <a:gd name="adj" fmla="val 6667"/>
            </a:avLst>
          </a:prstGeom>
          <a:solidFill>
            <a:srgbClr val="FFFFFF"/>
          </a:solidFill>
          <a:ln w="12700">
            <a:solidFill>
              <a:srgbClr val="CFE1E6"/>
            </a:solidFill>
            <a:prstDash val="solid"/>
          </a:ln>
        </p:spPr>
      </p:sp>
      <p:sp>
        <p:nvSpPr>
          <p:cNvPr id="19" name="Shape 17"/>
          <p:cNvSpPr/>
          <p:nvPr/>
        </p:nvSpPr>
        <p:spPr>
          <a:xfrm>
            <a:off x="6172200" y="1874520"/>
            <a:ext cx="64008" cy="1097280"/>
          </a:xfrm>
          <a:prstGeom prst="rect">
            <a:avLst/>
          </a:prstGeom>
          <a:solidFill>
            <a:srgbClr val="F08A24"/>
          </a:solidFill>
          <a:ln w="12700">
            <a:solidFill>
              <a:srgbClr val="F08A24"/>
            </a:solidFill>
            <a:prstDash val="solid"/>
          </a:ln>
        </p:spPr>
      </p:sp>
      <p:sp>
        <p:nvSpPr>
          <p:cNvPr id="20" name="Text 18"/>
          <p:cNvSpPr/>
          <p:nvPr/>
        </p:nvSpPr>
        <p:spPr>
          <a:xfrm>
            <a:off x="6336792" y="1984248"/>
            <a:ext cx="22402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Yếu tố nguy cơ</a:t>
            </a:r>
            <a:endParaRPr lang="en-US" sz="1600" dirty="0"/>
          </a:p>
        </p:txBody>
      </p:sp>
      <p:sp>
        <p:nvSpPr>
          <p:cNvPr id="21" name="Text 19"/>
          <p:cNvSpPr/>
          <p:nvPr/>
        </p:nvSpPr>
        <p:spPr>
          <a:xfrm>
            <a:off x="6336792" y="2350008"/>
            <a:ext cx="2240280" cy="530352"/>
          </a:xfrm>
          <a:prstGeom prst="rect">
            <a:avLst/>
          </a:prstGeom>
          <a:noFill/>
          <a:ln/>
        </p:spPr>
        <p:txBody>
          <a:bodyPr wrap="square" lIns="254" tIns="254" rIns="254" bIns="254" rtlCol="0" anchor="ctr">
            <a:normAutofit/>
          </a:bodyPr>
          <a:lstStyle/>
          <a:p>
            <a:pPr marL="0" indent="0">
              <a:buNone/>
            </a:pPr>
            <a:r>
              <a:rPr lang="en-US" sz="1150" dirty="0">
                <a:solidFill>
                  <a:srgbClr val="5C6670"/>
                </a:solidFill>
              </a:rPr>
              <a:t>Thuốc lá, rượu bia, ăn mặn, ít rau quả, ít vận động, căng thẳng, khói/bụi nghề nghiệp.</a:t>
            </a:r>
            <a:endParaRPr lang="en-US" sz="1150" dirty="0"/>
          </a:p>
        </p:txBody>
      </p:sp>
      <p:sp>
        <p:nvSpPr>
          <p:cNvPr id="22" name="Shape 20"/>
          <p:cNvSpPr/>
          <p:nvPr/>
        </p:nvSpPr>
        <p:spPr>
          <a:xfrm>
            <a:off x="8915400" y="1874520"/>
            <a:ext cx="2468880" cy="1097280"/>
          </a:xfrm>
          <a:prstGeom prst="roundRect">
            <a:avLst>
              <a:gd name="adj" fmla="val 6667"/>
            </a:avLst>
          </a:prstGeom>
          <a:solidFill>
            <a:srgbClr val="FFFFFF"/>
          </a:solidFill>
          <a:ln w="12700">
            <a:solidFill>
              <a:srgbClr val="CFE1E6"/>
            </a:solidFill>
            <a:prstDash val="solid"/>
          </a:ln>
        </p:spPr>
      </p:sp>
      <p:sp>
        <p:nvSpPr>
          <p:cNvPr id="23" name="Shape 21"/>
          <p:cNvSpPr/>
          <p:nvPr/>
        </p:nvSpPr>
        <p:spPr>
          <a:xfrm>
            <a:off x="8915400" y="1874520"/>
            <a:ext cx="64008" cy="1097280"/>
          </a:xfrm>
          <a:prstGeom prst="rect">
            <a:avLst/>
          </a:prstGeom>
          <a:solidFill>
            <a:srgbClr val="075B63"/>
          </a:solidFill>
          <a:ln w="12700">
            <a:solidFill>
              <a:srgbClr val="075B63"/>
            </a:solidFill>
            <a:prstDash val="solid"/>
          </a:ln>
        </p:spPr>
      </p:sp>
      <p:sp>
        <p:nvSpPr>
          <p:cNvPr id="24" name="Text 22"/>
          <p:cNvSpPr/>
          <p:nvPr/>
        </p:nvSpPr>
        <p:spPr>
          <a:xfrm>
            <a:off x="9079992" y="1984248"/>
            <a:ext cx="219456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Dấu hiệu sức khỏe</a:t>
            </a:r>
            <a:endParaRPr lang="en-US" sz="1600" dirty="0"/>
          </a:p>
        </p:txBody>
      </p:sp>
      <p:sp>
        <p:nvSpPr>
          <p:cNvPr id="25" name="Text 23"/>
          <p:cNvSpPr/>
          <p:nvPr/>
        </p:nvSpPr>
        <p:spPr>
          <a:xfrm>
            <a:off x="9079992" y="2350008"/>
            <a:ext cx="2194560" cy="530352"/>
          </a:xfrm>
          <a:prstGeom prst="rect">
            <a:avLst/>
          </a:prstGeom>
          <a:noFill/>
          <a:ln/>
        </p:spPr>
        <p:txBody>
          <a:bodyPr wrap="square" lIns="254" tIns="254" rIns="254" bIns="254" rtlCol="0" anchor="ctr">
            <a:normAutofit/>
          </a:bodyPr>
          <a:lstStyle/>
          <a:p>
            <a:pPr marL="0" indent="0">
              <a:buNone/>
            </a:pPr>
            <a:r>
              <a:rPr lang="en-US" sz="1130" dirty="0">
                <a:solidFill>
                  <a:srgbClr val="5C6670"/>
                </a:solidFill>
              </a:rPr>
              <a:t>Mệt mỏi, sụt cân, khó thở, ho kéo dài, đau ngực, phù, tiểu bất thường, dấu hiệu thần kinh.</a:t>
            </a:r>
            <a:endParaRPr lang="en-US" sz="1130" dirty="0"/>
          </a:p>
        </p:txBody>
      </p:sp>
      <p:sp>
        <p:nvSpPr>
          <p:cNvPr id="26" name="Text 24"/>
          <p:cNvSpPr/>
          <p:nvPr/>
        </p:nvSpPr>
        <p:spPr>
          <a:xfrm>
            <a:off x="822960" y="3611880"/>
            <a:ext cx="2560320" cy="219456"/>
          </a:xfrm>
          <a:prstGeom prst="rect">
            <a:avLst/>
          </a:prstGeom>
          <a:noFill/>
          <a:ln/>
        </p:spPr>
        <p:txBody>
          <a:bodyPr wrap="square" lIns="0" tIns="0" rIns="0" bIns="0" rtlCol="0" anchor="ctr"/>
          <a:lstStyle/>
          <a:p>
            <a:pPr marL="0" indent="0">
              <a:buNone/>
            </a:pPr>
            <a:r>
              <a:rPr lang="en-US" sz="1600" b="1" dirty="0">
                <a:solidFill>
                  <a:srgbClr val="0B7C82"/>
                </a:solidFill>
              </a:rPr>
              <a:t>L</a:t>
            </a:r>
            <a:r>
              <a:rPr lang="vi-VN" sz="1600" b="1" dirty="0">
                <a:solidFill>
                  <a:srgbClr val="0B7C82"/>
                </a:solidFill>
              </a:rPr>
              <a:t>ư</a:t>
            </a:r>
            <a:r>
              <a:rPr lang="en-US" sz="1600" b="1" dirty="0">
                <a:solidFill>
                  <a:srgbClr val="0B7C82"/>
                </a:solidFill>
              </a:rPr>
              <a:t>u ý</a:t>
            </a:r>
            <a:endParaRPr lang="en-US" sz="1600" dirty="0"/>
          </a:p>
        </p:txBody>
      </p:sp>
      <p:sp>
        <p:nvSpPr>
          <p:cNvPr id="27" name="Text 25"/>
          <p:cNvSpPr/>
          <p:nvPr/>
        </p:nvSpPr>
        <p:spPr>
          <a:xfrm>
            <a:off x="914400" y="3977640"/>
            <a:ext cx="10424160" cy="1097280"/>
          </a:xfrm>
          <a:prstGeom prst="rect">
            <a:avLst/>
          </a:prstGeom>
          <a:noFill/>
          <a:ln/>
        </p:spPr>
        <p:txBody>
          <a:bodyPr wrap="square" lIns="635" tIns="635" rIns="635" bIns="635" rtlCol="0" anchor="ctr">
            <a:normAutofit lnSpcReduction="10000"/>
          </a:bodyPr>
          <a:lstStyle/>
          <a:p>
            <a:pPr marL="0" indent="0">
              <a:spcBef>
                <a:spcPts val="600"/>
              </a:spcBef>
              <a:spcAft>
                <a:spcPts val="600"/>
              </a:spcAft>
              <a:buNone/>
            </a:pPr>
            <a:r>
              <a:rPr lang="en-US" sz="1300" dirty="0">
                <a:solidFill>
                  <a:srgbClr val="073642"/>
                </a:solidFill>
              </a:rPr>
              <a:t>• Người dân tự điền trước; cán bộ y tế kiểm tra, làm rõ các yếu tố nguy cơ và dấu hiệu </a:t>
            </a:r>
            <a:r>
              <a:rPr lang="en-US" sz="1300" dirty="0" err="1">
                <a:solidFill>
                  <a:srgbClr val="073642"/>
                </a:solidFill>
              </a:rPr>
              <a:t>nghi</a:t>
            </a:r>
            <a:r>
              <a:rPr lang="en-US" sz="1300" dirty="0">
                <a:solidFill>
                  <a:srgbClr val="073642"/>
                </a:solidFill>
              </a:rPr>
              <a:t> </a:t>
            </a:r>
            <a:r>
              <a:rPr lang="en-US" sz="1300" dirty="0" err="1">
                <a:solidFill>
                  <a:srgbClr val="073642"/>
                </a:solidFill>
              </a:rPr>
              <a:t>ngờ</a:t>
            </a:r>
            <a:r>
              <a:rPr lang="en-US" sz="1300" dirty="0">
                <a:solidFill>
                  <a:srgbClr val="073642"/>
                </a:solidFill>
              </a:rPr>
              <a:t> </a:t>
            </a:r>
            <a:r>
              <a:rPr lang="en-US" sz="1300" i="1" dirty="0">
                <a:solidFill>
                  <a:srgbClr val="073642"/>
                </a:solidFill>
              </a:rPr>
              <a:t>(Tr</a:t>
            </a:r>
            <a:r>
              <a:rPr lang="vi-VN" sz="1300" i="1" dirty="0">
                <a:solidFill>
                  <a:srgbClr val="073642"/>
                </a:solidFill>
              </a:rPr>
              <a:t>ư</a:t>
            </a:r>
            <a:r>
              <a:rPr lang="en-US" sz="1300" i="1" dirty="0" err="1">
                <a:solidFill>
                  <a:srgbClr val="073642"/>
                </a:solidFill>
              </a:rPr>
              <a:t>ờng</a:t>
            </a:r>
            <a:r>
              <a:rPr lang="en-US" sz="1300" i="1" dirty="0">
                <a:solidFill>
                  <a:srgbClr val="073642"/>
                </a:solidFill>
              </a:rPr>
              <a:t> </a:t>
            </a:r>
            <a:r>
              <a:rPr lang="en-US" sz="1300" i="1" dirty="0" err="1">
                <a:solidFill>
                  <a:srgbClr val="073642"/>
                </a:solidFill>
              </a:rPr>
              <a:t>hợp</a:t>
            </a:r>
            <a:r>
              <a:rPr lang="en-US" sz="1300" i="1" dirty="0">
                <a:solidFill>
                  <a:srgbClr val="073642"/>
                </a:solidFill>
              </a:rPr>
              <a:t> ng</a:t>
            </a:r>
            <a:r>
              <a:rPr lang="vi-VN" sz="1300" i="1" dirty="0">
                <a:solidFill>
                  <a:srgbClr val="073642"/>
                </a:solidFill>
              </a:rPr>
              <a:t>ư</a:t>
            </a:r>
            <a:r>
              <a:rPr lang="en-US" sz="1300" i="1" dirty="0" err="1">
                <a:solidFill>
                  <a:srgbClr val="073642"/>
                </a:solidFill>
              </a:rPr>
              <a:t>ời</a:t>
            </a:r>
            <a:r>
              <a:rPr lang="en-US" sz="1300" i="1" dirty="0">
                <a:solidFill>
                  <a:srgbClr val="073642"/>
                </a:solidFill>
              </a:rPr>
              <a:t> </a:t>
            </a:r>
            <a:r>
              <a:rPr lang="en-US" sz="1300" i="1" dirty="0" err="1">
                <a:solidFill>
                  <a:srgbClr val="073642"/>
                </a:solidFill>
              </a:rPr>
              <a:t>dân</a:t>
            </a:r>
            <a:r>
              <a:rPr lang="en-US" sz="1300" i="1" dirty="0">
                <a:solidFill>
                  <a:srgbClr val="073642"/>
                </a:solidFill>
              </a:rPr>
              <a:t> </a:t>
            </a:r>
            <a:r>
              <a:rPr lang="en-US" sz="1300" i="1" dirty="0" err="1">
                <a:solidFill>
                  <a:srgbClr val="073642"/>
                </a:solidFill>
              </a:rPr>
              <a:t>đã</a:t>
            </a:r>
            <a:r>
              <a:rPr lang="en-US" sz="1300" i="1" dirty="0">
                <a:solidFill>
                  <a:srgbClr val="073642"/>
                </a:solidFill>
              </a:rPr>
              <a:t> </a:t>
            </a:r>
            <a:r>
              <a:rPr lang="en-US" sz="1300" i="1" dirty="0" err="1">
                <a:solidFill>
                  <a:srgbClr val="073642"/>
                </a:solidFill>
              </a:rPr>
              <a:t>có</a:t>
            </a:r>
            <a:r>
              <a:rPr lang="en-US" sz="1300" i="1" dirty="0">
                <a:solidFill>
                  <a:srgbClr val="073642"/>
                </a:solidFill>
              </a:rPr>
              <a:t> </a:t>
            </a:r>
            <a:r>
              <a:rPr lang="en-US" sz="1300" i="1" dirty="0" err="1">
                <a:solidFill>
                  <a:srgbClr val="073642"/>
                </a:solidFill>
              </a:rPr>
              <a:t>bệnh</a:t>
            </a:r>
            <a:r>
              <a:rPr lang="en-US" sz="1300" i="1" dirty="0">
                <a:solidFill>
                  <a:srgbClr val="073642"/>
                </a:solidFill>
              </a:rPr>
              <a:t> </a:t>
            </a:r>
            <a:r>
              <a:rPr lang="en-US" sz="1300" i="1" dirty="0" err="1">
                <a:solidFill>
                  <a:srgbClr val="073642"/>
                </a:solidFill>
              </a:rPr>
              <a:t>thì</a:t>
            </a:r>
            <a:r>
              <a:rPr lang="en-US" sz="1300" i="1" dirty="0">
                <a:solidFill>
                  <a:srgbClr val="073642"/>
                </a:solidFill>
              </a:rPr>
              <a:t> </a:t>
            </a:r>
            <a:r>
              <a:rPr lang="en-US" sz="1300" i="1" dirty="0" err="1">
                <a:solidFill>
                  <a:srgbClr val="073642"/>
                </a:solidFill>
              </a:rPr>
              <a:t>không</a:t>
            </a:r>
            <a:r>
              <a:rPr lang="en-US" sz="1300" i="1" dirty="0">
                <a:solidFill>
                  <a:srgbClr val="073642"/>
                </a:solidFill>
              </a:rPr>
              <a:t> </a:t>
            </a:r>
            <a:r>
              <a:rPr lang="en-US" sz="1300" i="1" dirty="0" err="1">
                <a:solidFill>
                  <a:srgbClr val="073642"/>
                </a:solidFill>
              </a:rPr>
              <a:t>khám</a:t>
            </a:r>
            <a:r>
              <a:rPr lang="en-US" sz="1300" i="1" dirty="0">
                <a:solidFill>
                  <a:srgbClr val="073642"/>
                </a:solidFill>
              </a:rPr>
              <a:t> </a:t>
            </a:r>
            <a:r>
              <a:rPr lang="en-US" sz="1300" i="1" dirty="0" err="1">
                <a:solidFill>
                  <a:srgbClr val="073642"/>
                </a:solidFill>
              </a:rPr>
              <a:t>sàng</a:t>
            </a:r>
            <a:r>
              <a:rPr lang="en-US" sz="1300" i="1" dirty="0">
                <a:solidFill>
                  <a:srgbClr val="073642"/>
                </a:solidFill>
              </a:rPr>
              <a:t> </a:t>
            </a:r>
            <a:r>
              <a:rPr lang="en-US" sz="1300" i="1" dirty="0" err="1">
                <a:solidFill>
                  <a:srgbClr val="073642"/>
                </a:solidFill>
              </a:rPr>
              <a:t>lọc</a:t>
            </a:r>
            <a:r>
              <a:rPr lang="en-US" sz="1300" i="1" dirty="0">
                <a:solidFill>
                  <a:srgbClr val="073642"/>
                </a:solidFill>
              </a:rPr>
              <a:t>, </a:t>
            </a:r>
            <a:r>
              <a:rPr lang="en-US" sz="1300" i="1" dirty="0" err="1">
                <a:solidFill>
                  <a:srgbClr val="073642"/>
                </a:solidFill>
              </a:rPr>
              <a:t>chuyển</a:t>
            </a:r>
            <a:r>
              <a:rPr lang="en-US" sz="1300" i="1" dirty="0">
                <a:solidFill>
                  <a:srgbClr val="073642"/>
                </a:solidFill>
              </a:rPr>
              <a:t> qua t</a:t>
            </a:r>
            <a:r>
              <a:rPr lang="vi-VN" sz="1300" i="1" dirty="0">
                <a:solidFill>
                  <a:srgbClr val="073642"/>
                </a:solidFill>
              </a:rPr>
              <a:t>ư</a:t>
            </a:r>
            <a:r>
              <a:rPr lang="en-US" sz="1300" i="1" dirty="0">
                <a:solidFill>
                  <a:srgbClr val="073642"/>
                </a:solidFill>
              </a:rPr>
              <a:t> </a:t>
            </a:r>
            <a:r>
              <a:rPr lang="en-US" sz="1300" i="1" dirty="0" err="1">
                <a:solidFill>
                  <a:srgbClr val="073642"/>
                </a:solidFill>
              </a:rPr>
              <a:t>vấn</a:t>
            </a:r>
            <a:r>
              <a:rPr lang="en-US" sz="1300" i="1" dirty="0">
                <a:solidFill>
                  <a:srgbClr val="073642"/>
                </a:solidFill>
              </a:rPr>
              <a:t> </a:t>
            </a:r>
            <a:r>
              <a:rPr lang="en-US" sz="1300" i="1" dirty="0" err="1">
                <a:solidFill>
                  <a:srgbClr val="073642"/>
                </a:solidFill>
              </a:rPr>
              <a:t>sức</a:t>
            </a:r>
            <a:r>
              <a:rPr lang="en-US" sz="1300" i="1" dirty="0">
                <a:solidFill>
                  <a:srgbClr val="073642"/>
                </a:solidFill>
              </a:rPr>
              <a:t> </a:t>
            </a:r>
            <a:r>
              <a:rPr lang="en-US" sz="1300" i="1" dirty="0" err="1">
                <a:solidFill>
                  <a:srgbClr val="073642"/>
                </a:solidFill>
              </a:rPr>
              <a:t>sức</a:t>
            </a:r>
            <a:r>
              <a:rPr lang="en-US" sz="1300" i="1" dirty="0">
                <a:solidFill>
                  <a:srgbClr val="073642"/>
                </a:solidFill>
              </a:rPr>
              <a:t> </a:t>
            </a:r>
            <a:r>
              <a:rPr lang="en-US" sz="1300" i="1" dirty="0" err="1">
                <a:solidFill>
                  <a:srgbClr val="073642"/>
                </a:solidFill>
              </a:rPr>
              <a:t>khỏe</a:t>
            </a:r>
            <a:r>
              <a:rPr lang="en-US" sz="1300" i="1" dirty="0">
                <a:solidFill>
                  <a:srgbClr val="073642"/>
                </a:solidFill>
              </a:rPr>
              <a:t> </a:t>
            </a:r>
            <a:r>
              <a:rPr lang="en-US" sz="1300" i="1" dirty="0" err="1">
                <a:solidFill>
                  <a:srgbClr val="073642"/>
                </a:solidFill>
              </a:rPr>
              <a:t>và</a:t>
            </a:r>
            <a:r>
              <a:rPr lang="en-US" sz="1300" i="1" dirty="0">
                <a:solidFill>
                  <a:srgbClr val="073642"/>
                </a:solidFill>
              </a:rPr>
              <a:t> h</a:t>
            </a:r>
            <a:r>
              <a:rPr lang="vi-VN" sz="1300" i="1" dirty="0">
                <a:solidFill>
                  <a:srgbClr val="073642"/>
                </a:solidFill>
              </a:rPr>
              <a:t>ư</a:t>
            </a:r>
            <a:r>
              <a:rPr lang="en-US" sz="1300" i="1" dirty="0" err="1">
                <a:solidFill>
                  <a:srgbClr val="073642"/>
                </a:solidFill>
              </a:rPr>
              <a:t>ớng</a:t>
            </a:r>
            <a:r>
              <a:rPr lang="en-US" sz="1300" i="1" dirty="0">
                <a:solidFill>
                  <a:srgbClr val="073642"/>
                </a:solidFill>
              </a:rPr>
              <a:t> </a:t>
            </a:r>
            <a:r>
              <a:rPr lang="en-US" sz="1300" i="1" dirty="0" err="1">
                <a:solidFill>
                  <a:srgbClr val="073642"/>
                </a:solidFill>
              </a:rPr>
              <a:t>dẫn</a:t>
            </a:r>
            <a:r>
              <a:rPr lang="en-US" sz="1300" i="1" dirty="0">
                <a:solidFill>
                  <a:srgbClr val="073642"/>
                </a:solidFill>
              </a:rPr>
              <a:t> </a:t>
            </a:r>
            <a:r>
              <a:rPr lang="en-US" sz="1300" i="1" dirty="0" err="1">
                <a:solidFill>
                  <a:srgbClr val="073642"/>
                </a:solidFill>
              </a:rPr>
              <a:t>điều</a:t>
            </a:r>
            <a:r>
              <a:rPr lang="en-US" sz="1300" i="1" dirty="0">
                <a:solidFill>
                  <a:srgbClr val="073642"/>
                </a:solidFill>
              </a:rPr>
              <a:t> </a:t>
            </a:r>
            <a:r>
              <a:rPr lang="en-US" sz="1300" i="1" dirty="0" err="1">
                <a:solidFill>
                  <a:srgbClr val="073642"/>
                </a:solidFill>
              </a:rPr>
              <a:t>trị</a:t>
            </a:r>
            <a:r>
              <a:rPr lang="en-US" sz="1300" i="1" dirty="0">
                <a:solidFill>
                  <a:srgbClr val="073642"/>
                </a:solidFill>
              </a:rPr>
              <a:t> </a:t>
            </a:r>
            <a:r>
              <a:rPr lang="en-US" sz="1300" i="1" dirty="0" err="1">
                <a:solidFill>
                  <a:srgbClr val="073642"/>
                </a:solidFill>
              </a:rPr>
              <a:t>tại</a:t>
            </a:r>
            <a:r>
              <a:rPr lang="en-US" sz="1300" i="1" dirty="0">
                <a:solidFill>
                  <a:srgbClr val="073642"/>
                </a:solidFill>
              </a:rPr>
              <a:t> c</a:t>
            </a:r>
            <a:r>
              <a:rPr lang="vi-VN" sz="1300" i="1" dirty="0">
                <a:solidFill>
                  <a:srgbClr val="073642"/>
                </a:solidFill>
              </a:rPr>
              <a:t>ơ</a:t>
            </a:r>
            <a:r>
              <a:rPr lang="en-US" sz="1300" i="1" dirty="0">
                <a:solidFill>
                  <a:srgbClr val="073642"/>
                </a:solidFill>
              </a:rPr>
              <a:t> </a:t>
            </a:r>
            <a:r>
              <a:rPr lang="en-US" sz="1300" i="1" dirty="0" err="1">
                <a:solidFill>
                  <a:srgbClr val="073642"/>
                </a:solidFill>
              </a:rPr>
              <a:t>sở</a:t>
            </a:r>
            <a:r>
              <a:rPr lang="en-US" sz="1300" i="1" dirty="0">
                <a:solidFill>
                  <a:srgbClr val="073642"/>
                </a:solidFill>
              </a:rPr>
              <a:t> y </a:t>
            </a:r>
            <a:r>
              <a:rPr lang="en-US" sz="1300" i="1" dirty="0" err="1">
                <a:solidFill>
                  <a:srgbClr val="073642"/>
                </a:solidFill>
              </a:rPr>
              <a:t>tế</a:t>
            </a:r>
            <a:r>
              <a:rPr lang="en-US" sz="1300" i="1" dirty="0">
                <a:solidFill>
                  <a:srgbClr val="073642"/>
                </a:solidFill>
              </a:rPr>
              <a:t> </a:t>
            </a:r>
            <a:r>
              <a:rPr lang="en-US" sz="1300" i="1" dirty="0" err="1">
                <a:solidFill>
                  <a:srgbClr val="073642"/>
                </a:solidFill>
              </a:rPr>
              <a:t>trong</a:t>
            </a:r>
            <a:r>
              <a:rPr lang="en-US" sz="1300" i="1" dirty="0">
                <a:solidFill>
                  <a:srgbClr val="073642"/>
                </a:solidFill>
              </a:rPr>
              <a:t> tr</a:t>
            </a:r>
            <a:r>
              <a:rPr lang="vi-VN" sz="1300" i="1" dirty="0">
                <a:solidFill>
                  <a:srgbClr val="073642"/>
                </a:solidFill>
              </a:rPr>
              <a:t>ư</a:t>
            </a:r>
            <a:r>
              <a:rPr lang="en-US" sz="1300" i="1" dirty="0" err="1">
                <a:solidFill>
                  <a:srgbClr val="073642"/>
                </a:solidFill>
              </a:rPr>
              <a:t>ờng</a:t>
            </a:r>
            <a:r>
              <a:rPr lang="en-US" sz="1300" i="1" dirty="0">
                <a:solidFill>
                  <a:srgbClr val="073642"/>
                </a:solidFill>
              </a:rPr>
              <a:t> </a:t>
            </a:r>
            <a:r>
              <a:rPr lang="en-US" sz="1300" i="1" dirty="0" err="1">
                <a:solidFill>
                  <a:srgbClr val="073642"/>
                </a:solidFill>
              </a:rPr>
              <a:t>hợp</a:t>
            </a:r>
            <a:r>
              <a:rPr lang="en-US" sz="1300" i="1" dirty="0">
                <a:solidFill>
                  <a:srgbClr val="073642"/>
                </a:solidFill>
              </a:rPr>
              <a:t> </a:t>
            </a:r>
            <a:r>
              <a:rPr lang="en-US" sz="1300" i="1" dirty="0" err="1">
                <a:solidFill>
                  <a:srgbClr val="073642"/>
                </a:solidFill>
              </a:rPr>
              <a:t>cần</a:t>
            </a:r>
            <a:r>
              <a:rPr lang="en-US" sz="1300" i="1" dirty="0">
                <a:solidFill>
                  <a:srgbClr val="073642"/>
                </a:solidFill>
              </a:rPr>
              <a:t> </a:t>
            </a:r>
            <a:r>
              <a:rPr lang="en-US" sz="1300" i="1" dirty="0" err="1">
                <a:solidFill>
                  <a:srgbClr val="073642"/>
                </a:solidFill>
              </a:rPr>
              <a:t>thiết</a:t>
            </a:r>
            <a:r>
              <a:rPr lang="en-US" sz="1300" i="1" dirty="0">
                <a:solidFill>
                  <a:srgbClr val="073642"/>
                </a:solidFill>
              </a:rPr>
              <a:t>)</a:t>
            </a:r>
            <a:r>
              <a:rPr lang="en-US" sz="1300" dirty="0">
                <a:solidFill>
                  <a:srgbClr val="073642"/>
                </a:solidFill>
              </a:rPr>
              <a:t>
• Các câu trả lời “có” là cơ </a:t>
            </a:r>
            <a:r>
              <a:rPr lang="en-US" sz="1300" dirty="0" err="1">
                <a:solidFill>
                  <a:srgbClr val="073642"/>
                </a:solidFill>
              </a:rPr>
              <a:t>sở</a:t>
            </a:r>
            <a:r>
              <a:rPr lang="en-US" sz="1300" dirty="0">
                <a:solidFill>
                  <a:srgbClr val="073642"/>
                </a:solidFill>
              </a:rPr>
              <a:t> </a:t>
            </a:r>
            <a:r>
              <a:rPr lang="en-US" sz="1300" dirty="0" err="1">
                <a:solidFill>
                  <a:srgbClr val="073642"/>
                </a:solidFill>
              </a:rPr>
              <a:t>thực</a:t>
            </a:r>
            <a:r>
              <a:rPr lang="en-US" sz="1300" dirty="0">
                <a:solidFill>
                  <a:srgbClr val="073642"/>
                </a:solidFill>
              </a:rPr>
              <a:t> </a:t>
            </a:r>
            <a:r>
              <a:rPr lang="en-US" sz="1300" dirty="0" err="1">
                <a:solidFill>
                  <a:srgbClr val="073642"/>
                </a:solidFill>
              </a:rPr>
              <a:t>hiện</a:t>
            </a:r>
            <a:r>
              <a:rPr lang="en-US" sz="1300" dirty="0">
                <a:solidFill>
                  <a:srgbClr val="073642"/>
                </a:solidFill>
              </a:rPr>
              <a:t> </a:t>
            </a:r>
            <a:r>
              <a:rPr lang="en-US" sz="1300" dirty="0" err="1">
                <a:solidFill>
                  <a:srgbClr val="073642"/>
                </a:solidFill>
              </a:rPr>
              <a:t>các</a:t>
            </a:r>
            <a:r>
              <a:rPr lang="en-US" sz="1300" dirty="0">
                <a:solidFill>
                  <a:srgbClr val="073642"/>
                </a:solidFill>
              </a:rPr>
              <a:t> </a:t>
            </a:r>
            <a:r>
              <a:rPr lang="en-US" sz="1300" dirty="0" err="1">
                <a:solidFill>
                  <a:srgbClr val="073642"/>
                </a:solidFill>
              </a:rPr>
              <a:t>bước</a:t>
            </a:r>
            <a:r>
              <a:rPr lang="en-US" sz="1300" dirty="0">
                <a:solidFill>
                  <a:srgbClr val="073642"/>
                </a:solidFill>
              </a:rPr>
              <a:t> khai thác, khám, chỉ định và xử trí tiếp theo.
• Phiếu, kết quả khám, kết luận tư vấn và danh sách nguy cơ cao phải được lưu trữ phục vụ quản lý, báo cáo, thanh quyết toán.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Tổ chức điểm khám</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14</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TỔ CHỨC ĐIỂM KHÁM</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Bố trí điểm khám: một chiều, thuận tiện, an toàn</a:t>
            </a:r>
            <a:endParaRPr lang="en-US" sz="2800" dirty="0"/>
          </a:p>
        </p:txBody>
      </p:sp>
      <p:sp>
        <p:nvSpPr>
          <p:cNvPr id="10" name="Shape 8"/>
          <p:cNvSpPr/>
          <p:nvPr/>
        </p:nvSpPr>
        <p:spPr>
          <a:xfrm>
            <a:off x="457200" y="2148840"/>
            <a:ext cx="1508760" cy="685800"/>
          </a:xfrm>
          <a:prstGeom prst="roundRect">
            <a:avLst>
              <a:gd name="adj" fmla="val 10667"/>
            </a:avLst>
          </a:prstGeom>
          <a:solidFill>
            <a:srgbClr val="E4F4F4"/>
          </a:solidFill>
          <a:ln w="12700">
            <a:solidFill>
              <a:srgbClr val="CFE1E6"/>
            </a:solidFill>
            <a:prstDash val="solid"/>
          </a:ln>
        </p:spPr>
      </p:sp>
      <p:sp>
        <p:nvSpPr>
          <p:cNvPr id="11" name="Text 9"/>
          <p:cNvSpPr/>
          <p:nvPr/>
        </p:nvSpPr>
        <p:spPr>
          <a:xfrm>
            <a:off x="566928" y="2331720"/>
            <a:ext cx="1289304" cy="228600"/>
          </a:xfrm>
          <a:prstGeom prst="rect">
            <a:avLst/>
          </a:prstGeom>
          <a:noFill/>
          <a:ln/>
        </p:spPr>
        <p:txBody>
          <a:bodyPr wrap="square" lIns="0" tIns="0" rIns="0" bIns="0" rtlCol="0" anchor="ctr">
            <a:normAutofit fontScale="85000" lnSpcReduction="10000"/>
          </a:bodyPr>
          <a:lstStyle/>
          <a:p>
            <a:pPr marL="0" indent="0" algn="ctr">
              <a:buNone/>
            </a:pPr>
            <a:r>
              <a:rPr lang="en-US" sz="1030" b="1" dirty="0">
                <a:solidFill>
                  <a:srgbClr val="073642"/>
                </a:solidFill>
              </a:rPr>
              <a:t>Tiếp nhận &amp; phát phiếu</a:t>
            </a:r>
            <a:endParaRPr lang="en-US" sz="1030" dirty="0"/>
          </a:p>
        </p:txBody>
      </p:sp>
      <p:sp>
        <p:nvSpPr>
          <p:cNvPr id="12" name="Shape 10"/>
          <p:cNvSpPr/>
          <p:nvPr/>
        </p:nvSpPr>
        <p:spPr>
          <a:xfrm>
            <a:off x="2029968" y="2359152"/>
            <a:ext cx="228600" cy="228600"/>
          </a:xfrm>
          <a:prstGeom prst="chevron">
            <a:avLst/>
          </a:prstGeom>
          <a:solidFill>
            <a:srgbClr val="0B7C82"/>
          </a:solidFill>
          <a:ln w="12700">
            <a:solidFill>
              <a:srgbClr val="0B7C82"/>
            </a:solidFill>
            <a:prstDash val="solid"/>
          </a:ln>
        </p:spPr>
      </p:sp>
      <p:sp>
        <p:nvSpPr>
          <p:cNvPr id="13" name="Shape 11"/>
          <p:cNvSpPr/>
          <p:nvPr/>
        </p:nvSpPr>
        <p:spPr>
          <a:xfrm>
            <a:off x="2395728" y="2148840"/>
            <a:ext cx="1508760" cy="685800"/>
          </a:xfrm>
          <a:prstGeom prst="roundRect">
            <a:avLst>
              <a:gd name="adj" fmla="val 10667"/>
            </a:avLst>
          </a:prstGeom>
          <a:solidFill>
            <a:srgbClr val="E4F4F4"/>
          </a:solidFill>
          <a:ln w="12700">
            <a:solidFill>
              <a:srgbClr val="CFE1E6"/>
            </a:solidFill>
            <a:prstDash val="solid"/>
          </a:ln>
        </p:spPr>
      </p:sp>
      <p:sp>
        <p:nvSpPr>
          <p:cNvPr id="14" name="Text 12"/>
          <p:cNvSpPr/>
          <p:nvPr/>
        </p:nvSpPr>
        <p:spPr>
          <a:xfrm>
            <a:off x="2505456" y="2331720"/>
            <a:ext cx="1289304" cy="228600"/>
          </a:xfrm>
          <a:prstGeom prst="rect">
            <a:avLst/>
          </a:prstGeom>
          <a:noFill/>
          <a:ln/>
        </p:spPr>
        <p:txBody>
          <a:bodyPr wrap="square" lIns="0" tIns="0" rIns="0" bIns="0" rtlCol="0" anchor="ctr">
            <a:normAutofit/>
          </a:bodyPr>
          <a:lstStyle/>
          <a:p>
            <a:pPr marL="0" indent="0" algn="ctr">
              <a:buNone/>
            </a:pPr>
            <a:r>
              <a:rPr lang="en-US" sz="1030" b="1" dirty="0">
                <a:solidFill>
                  <a:srgbClr val="073642"/>
                </a:solidFill>
              </a:rPr>
              <a:t>Kiểm tra phiếu</a:t>
            </a:r>
            <a:endParaRPr lang="en-US" sz="1030" dirty="0"/>
          </a:p>
        </p:txBody>
      </p:sp>
      <p:sp>
        <p:nvSpPr>
          <p:cNvPr id="15" name="Shape 13"/>
          <p:cNvSpPr/>
          <p:nvPr/>
        </p:nvSpPr>
        <p:spPr>
          <a:xfrm>
            <a:off x="3968496" y="2359152"/>
            <a:ext cx="228600" cy="228600"/>
          </a:xfrm>
          <a:prstGeom prst="chevron">
            <a:avLst/>
          </a:prstGeom>
          <a:solidFill>
            <a:srgbClr val="0B7C82"/>
          </a:solidFill>
          <a:ln w="12700">
            <a:solidFill>
              <a:srgbClr val="0B7C82"/>
            </a:solidFill>
            <a:prstDash val="solid"/>
          </a:ln>
        </p:spPr>
      </p:sp>
      <p:sp>
        <p:nvSpPr>
          <p:cNvPr id="16" name="Shape 14"/>
          <p:cNvSpPr/>
          <p:nvPr/>
        </p:nvSpPr>
        <p:spPr>
          <a:xfrm>
            <a:off x="4334256" y="2148840"/>
            <a:ext cx="1508760" cy="685800"/>
          </a:xfrm>
          <a:prstGeom prst="roundRect">
            <a:avLst>
              <a:gd name="adj" fmla="val 10667"/>
            </a:avLst>
          </a:prstGeom>
          <a:solidFill>
            <a:srgbClr val="EAF6ED"/>
          </a:solidFill>
          <a:ln w="12700">
            <a:solidFill>
              <a:srgbClr val="CFE1E6"/>
            </a:solidFill>
            <a:prstDash val="solid"/>
          </a:ln>
        </p:spPr>
      </p:sp>
      <p:sp>
        <p:nvSpPr>
          <p:cNvPr id="17" name="Text 15"/>
          <p:cNvSpPr/>
          <p:nvPr/>
        </p:nvSpPr>
        <p:spPr>
          <a:xfrm>
            <a:off x="4443984" y="2331720"/>
            <a:ext cx="1289304" cy="228600"/>
          </a:xfrm>
          <a:prstGeom prst="rect">
            <a:avLst/>
          </a:prstGeom>
          <a:noFill/>
          <a:ln/>
        </p:spPr>
        <p:txBody>
          <a:bodyPr wrap="square" lIns="0" tIns="0" rIns="0" bIns="0" rtlCol="0" anchor="ctr">
            <a:normAutofit fontScale="92500"/>
          </a:bodyPr>
          <a:lstStyle/>
          <a:p>
            <a:pPr marL="0" indent="0" algn="ctr">
              <a:buNone/>
            </a:pPr>
            <a:r>
              <a:rPr lang="en-US" sz="1030" b="1" dirty="0">
                <a:solidFill>
                  <a:srgbClr val="073642"/>
                </a:solidFill>
              </a:rPr>
              <a:t>Đo chỉ số &amp; huyết áp</a:t>
            </a:r>
            <a:endParaRPr lang="en-US" sz="1030" dirty="0"/>
          </a:p>
        </p:txBody>
      </p:sp>
      <p:sp>
        <p:nvSpPr>
          <p:cNvPr id="18" name="Shape 16"/>
          <p:cNvSpPr/>
          <p:nvPr/>
        </p:nvSpPr>
        <p:spPr>
          <a:xfrm>
            <a:off x="5907024" y="2359152"/>
            <a:ext cx="228600" cy="228600"/>
          </a:xfrm>
          <a:prstGeom prst="chevron">
            <a:avLst/>
          </a:prstGeom>
          <a:solidFill>
            <a:srgbClr val="0B7C82"/>
          </a:solidFill>
          <a:ln w="12700">
            <a:solidFill>
              <a:srgbClr val="0B7C82"/>
            </a:solidFill>
            <a:prstDash val="solid"/>
          </a:ln>
        </p:spPr>
      </p:sp>
      <p:sp>
        <p:nvSpPr>
          <p:cNvPr id="19" name="Shape 17"/>
          <p:cNvSpPr/>
          <p:nvPr/>
        </p:nvSpPr>
        <p:spPr>
          <a:xfrm>
            <a:off x="6272784" y="2148840"/>
            <a:ext cx="1508760" cy="685800"/>
          </a:xfrm>
          <a:prstGeom prst="roundRect">
            <a:avLst>
              <a:gd name="adj" fmla="val 10667"/>
            </a:avLst>
          </a:prstGeom>
          <a:solidFill>
            <a:srgbClr val="EAF6ED"/>
          </a:solidFill>
          <a:ln w="12700">
            <a:solidFill>
              <a:srgbClr val="CFE1E6"/>
            </a:solidFill>
            <a:prstDash val="solid"/>
          </a:ln>
        </p:spPr>
      </p:sp>
      <p:sp>
        <p:nvSpPr>
          <p:cNvPr id="20" name="Text 18"/>
          <p:cNvSpPr/>
          <p:nvPr/>
        </p:nvSpPr>
        <p:spPr>
          <a:xfrm>
            <a:off x="6382512" y="2331720"/>
            <a:ext cx="1289304" cy="228600"/>
          </a:xfrm>
          <a:prstGeom prst="rect">
            <a:avLst/>
          </a:prstGeom>
          <a:noFill/>
          <a:ln/>
        </p:spPr>
        <p:txBody>
          <a:bodyPr wrap="square" lIns="0" tIns="0" rIns="0" bIns="0" rtlCol="0" anchor="ctr">
            <a:normAutofit/>
          </a:bodyPr>
          <a:lstStyle/>
          <a:p>
            <a:pPr marL="0" indent="0" algn="ctr">
              <a:buNone/>
            </a:pPr>
            <a:r>
              <a:rPr lang="en-US" sz="1030" b="1" dirty="0">
                <a:solidFill>
                  <a:srgbClr val="073642"/>
                </a:solidFill>
              </a:rPr>
              <a:t>Khám lâm sàng</a:t>
            </a:r>
            <a:endParaRPr lang="en-US" sz="1030" dirty="0"/>
          </a:p>
        </p:txBody>
      </p:sp>
      <p:sp>
        <p:nvSpPr>
          <p:cNvPr id="21" name="Shape 19"/>
          <p:cNvSpPr/>
          <p:nvPr/>
        </p:nvSpPr>
        <p:spPr>
          <a:xfrm>
            <a:off x="7845552" y="2359152"/>
            <a:ext cx="228600" cy="228600"/>
          </a:xfrm>
          <a:prstGeom prst="chevron">
            <a:avLst/>
          </a:prstGeom>
          <a:solidFill>
            <a:srgbClr val="0B7C82"/>
          </a:solidFill>
          <a:ln w="12700">
            <a:solidFill>
              <a:srgbClr val="0B7C82"/>
            </a:solidFill>
            <a:prstDash val="solid"/>
          </a:ln>
        </p:spPr>
      </p:sp>
      <p:sp>
        <p:nvSpPr>
          <p:cNvPr id="22" name="Shape 20"/>
          <p:cNvSpPr/>
          <p:nvPr/>
        </p:nvSpPr>
        <p:spPr>
          <a:xfrm>
            <a:off x="8211312" y="2148840"/>
            <a:ext cx="1508760" cy="685800"/>
          </a:xfrm>
          <a:prstGeom prst="roundRect">
            <a:avLst>
              <a:gd name="adj" fmla="val 10667"/>
            </a:avLst>
          </a:prstGeom>
          <a:solidFill>
            <a:srgbClr val="FFF0DC"/>
          </a:solidFill>
          <a:ln w="12700">
            <a:solidFill>
              <a:srgbClr val="CFE1E6"/>
            </a:solidFill>
            <a:prstDash val="solid"/>
          </a:ln>
        </p:spPr>
      </p:sp>
      <p:sp>
        <p:nvSpPr>
          <p:cNvPr id="23" name="Text 21"/>
          <p:cNvSpPr/>
          <p:nvPr/>
        </p:nvSpPr>
        <p:spPr>
          <a:xfrm>
            <a:off x="8321040" y="2331720"/>
            <a:ext cx="1289304" cy="228600"/>
          </a:xfrm>
          <a:prstGeom prst="rect">
            <a:avLst/>
          </a:prstGeom>
          <a:noFill/>
          <a:ln/>
        </p:spPr>
        <p:txBody>
          <a:bodyPr wrap="square" lIns="0" tIns="0" rIns="0" bIns="0" rtlCol="0" anchor="ctr">
            <a:normAutofit/>
          </a:bodyPr>
          <a:lstStyle/>
          <a:p>
            <a:pPr marL="0" indent="0" algn="ctr">
              <a:buNone/>
            </a:pPr>
            <a:r>
              <a:rPr lang="en-US" sz="1030" b="1" dirty="0">
                <a:solidFill>
                  <a:srgbClr val="073642"/>
                </a:solidFill>
              </a:rPr>
              <a:t>Cận lâm sàng</a:t>
            </a:r>
            <a:endParaRPr lang="en-US" sz="1030" dirty="0"/>
          </a:p>
        </p:txBody>
      </p:sp>
      <p:sp>
        <p:nvSpPr>
          <p:cNvPr id="24" name="Shape 22"/>
          <p:cNvSpPr/>
          <p:nvPr/>
        </p:nvSpPr>
        <p:spPr>
          <a:xfrm>
            <a:off x="9784080" y="2359152"/>
            <a:ext cx="228600" cy="228600"/>
          </a:xfrm>
          <a:prstGeom prst="chevron">
            <a:avLst/>
          </a:prstGeom>
          <a:solidFill>
            <a:srgbClr val="0B7C82"/>
          </a:solidFill>
          <a:ln w="12700">
            <a:solidFill>
              <a:srgbClr val="0B7C82"/>
            </a:solidFill>
            <a:prstDash val="solid"/>
          </a:ln>
        </p:spPr>
      </p:sp>
      <p:sp>
        <p:nvSpPr>
          <p:cNvPr id="25" name="Shape 23"/>
          <p:cNvSpPr/>
          <p:nvPr/>
        </p:nvSpPr>
        <p:spPr>
          <a:xfrm>
            <a:off x="10149840" y="2148840"/>
            <a:ext cx="1508760" cy="685800"/>
          </a:xfrm>
          <a:prstGeom prst="roundRect">
            <a:avLst>
              <a:gd name="adj" fmla="val 10667"/>
            </a:avLst>
          </a:prstGeom>
          <a:solidFill>
            <a:srgbClr val="FFF0DC"/>
          </a:solidFill>
          <a:ln w="12700">
            <a:solidFill>
              <a:srgbClr val="CFE1E6"/>
            </a:solidFill>
            <a:prstDash val="solid"/>
          </a:ln>
        </p:spPr>
      </p:sp>
      <p:sp>
        <p:nvSpPr>
          <p:cNvPr id="26" name="Text 24"/>
          <p:cNvSpPr/>
          <p:nvPr/>
        </p:nvSpPr>
        <p:spPr>
          <a:xfrm>
            <a:off x="10259568" y="2331720"/>
            <a:ext cx="1289304" cy="228600"/>
          </a:xfrm>
          <a:prstGeom prst="rect">
            <a:avLst/>
          </a:prstGeom>
          <a:noFill/>
          <a:ln/>
        </p:spPr>
        <p:txBody>
          <a:bodyPr wrap="square" lIns="0" tIns="0" rIns="0" bIns="0" rtlCol="0" anchor="ctr">
            <a:normAutofit/>
          </a:bodyPr>
          <a:lstStyle/>
          <a:p>
            <a:pPr marL="0" indent="0" algn="ctr">
              <a:buNone/>
            </a:pPr>
            <a:r>
              <a:rPr lang="en-US" sz="1030" b="1" dirty="0">
                <a:solidFill>
                  <a:srgbClr val="073642"/>
                </a:solidFill>
              </a:rPr>
              <a:t>Kết luận &amp; tư vấn</a:t>
            </a:r>
            <a:endParaRPr lang="en-US" sz="1030" dirty="0"/>
          </a:p>
        </p:txBody>
      </p:sp>
      <p:sp>
        <p:nvSpPr>
          <p:cNvPr id="27" name="Shape 25"/>
          <p:cNvSpPr/>
          <p:nvPr/>
        </p:nvSpPr>
        <p:spPr>
          <a:xfrm>
            <a:off x="777240" y="3703320"/>
            <a:ext cx="5029200" cy="1051560"/>
          </a:xfrm>
          <a:prstGeom prst="roundRect">
            <a:avLst>
              <a:gd name="adj" fmla="val 6957"/>
            </a:avLst>
          </a:prstGeom>
          <a:solidFill>
            <a:srgbClr val="FFFFFF"/>
          </a:solidFill>
          <a:ln w="12700">
            <a:solidFill>
              <a:srgbClr val="CFE1E6"/>
            </a:solidFill>
            <a:prstDash val="solid"/>
          </a:ln>
        </p:spPr>
      </p:sp>
      <p:sp>
        <p:nvSpPr>
          <p:cNvPr id="28" name="Shape 26"/>
          <p:cNvSpPr/>
          <p:nvPr/>
        </p:nvSpPr>
        <p:spPr>
          <a:xfrm>
            <a:off x="777240" y="3703320"/>
            <a:ext cx="64008" cy="1051560"/>
          </a:xfrm>
          <a:prstGeom prst="rect">
            <a:avLst/>
          </a:prstGeom>
          <a:solidFill>
            <a:srgbClr val="0B7C82"/>
          </a:solidFill>
          <a:ln w="12700">
            <a:solidFill>
              <a:srgbClr val="0B7C82"/>
            </a:solidFill>
            <a:prstDash val="solid"/>
          </a:ln>
        </p:spPr>
      </p:sp>
      <p:sp>
        <p:nvSpPr>
          <p:cNvPr id="29" name="Text 27"/>
          <p:cNvSpPr/>
          <p:nvPr/>
        </p:nvSpPr>
        <p:spPr>
          <a:xfrm>
            <a:off x="941832" y="3813048"/>
            <a:ext cx="47548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Yêu cầu điểm khám</a:t>
            </a:r>
            <a:endParaRPr lang="en-US" sz="1600" dirty="0"/>
          </a:p>
        </p:txBody>
      </p:sp>
      <p:sp>
        <p:nvSpPr>
          <p:cNvPr id="30" name="Text 28"/>
          <p:cNvSpPr/>
          <p:nvPr/>
        </p:nvSpPr>
        <p:spPr>
          <a:xfrm>
            <a:off x="941832" y="4178808"/>
            <a:ext cx="4754880" cy="484632"/>
          </a:xfrm>
          <a:prstGeom prst="rect">
            <a:avLst/>
          </a:prstGeom>
          <a:noFill/>
          <a:ln/>
        </p:spPr>
        <p:txBody>
          <a:bodyPr wrap="square" lIns="254" tIns="254" rIns="254" bIns="254" rtlCol="0" anchor="ctr">
            <a:normAutofit fontScale="92500" lnSpcReduction="10000"/>
          </a:bodyPr>
          <a:lstStyle/>
          <a:p>
            <a:pPr marL="0" indent="0">
              <a:buNone/>
            </a:pPr>
            <a:r>
              <a:rPr lang="en-US" sz="1230" dirty="0">
                <a:solidFill>
                  <a:srgbClr val="5C6670"/>
                </a:solidFill>
              </a:rPr>
              <a:t>Thuận tiện cho đối tượng; bảo đảm an ninh, quy trình khám, nhân lực chuyên môn, thiết bị, vật tư y tế, kiểm soát nhiễm khuẩn và điều kiện theo quy định.</a:t>
            </a:r>
            <a:endParaRPr lang="en-US" sz="1230" dirty="0"/>
          </a:p>
        </p:txBody>
      </p:sp>
      <p:sp>
        <p:nvSpPr>
          <p:cNvPr id="31" name="Shape 29"/>
          <p:cNvSpPr/>
          <p:nvPr/>
        </p:nvSpPr>
        <p:spPr>
          <a:xfrm>
            <a:off x="6263640" y="3703320"/>
            <a:ext cx="4983480" cy="1051560"/>
          </a:xfrm>
          <a:prstGeom prst="roundRect">
            <a:avLst>
              <a:gd name="adj" fmla="val 6957"/>
            </a:avLst>
          </a:prstGeom>
          <a:solidFill>
            <a:srgbClr val="FFFFFF"/>
          </a:solidFill>
          <a:ln w="12700">
            <a:solidFill>
              <a:srgbClr val="CFE1E6"/>
            </a:solidFill>
            <a:prstDash val="solid"/>
          </a:ln>
        </p:spPr>
      </p:sp>
      <p:sp>
        <p:nvSpPr>
          <p:cNvPr id="32" name="Shape 30"/>
          <p:cNvSpPr/>
          <p:nvPr/>
        </p:nvSpPr>
        <p:spPr>
          <a:xfrm>
            <a:off x="6263640" y="3703320"/>
            <a:ext cx="64008" cy="1051560"/>
          </a:xfrm>
          <a:prstGeom prst="rect">
            <a:avLst/>
          </a:prstGeom>
          <a:solidFill>
            <a:srgbClr val="2E9E65"/>
          </a:solidFill>
          <a:ln w="12700">
            <a:solidFill>
              <a:srgbClr val="2E9E65"/>
            </a:solidFill>
            <a:prstDash val="solid"/>
          </a:ln>
        </p:spPr>
      </p:sp>
      <p:sp>
        <p:nvSpPr>
          <p:cNvPr id="33" name="Text 31"/>
          <p:cNvSpPr/>
          <p:nvPr/>
        </p:nvSpPr>
        <p:spPr>
          <a:xfrm>
            <a:off x="6428232" y="3813048"/>
            <a:ext cx="4709160" cy="256032"/>
          </a:xfrm>
          <a:prstGeom prst="rect">
            <a:avLst/>
          </a:prstGeom>
          <a:noFill/>
          <a:ln/>
        </p:spPr>
        <p:txBody>
          <a:bodyPr wrap="square" lIns="0" tIns="0" rIns="0" bIns="0" rtlCol="0" anchor="ctr">
            <a:normAutofit/>
          </a:bodyPr>
          <a:lstStyle/>
          <a:p>
            <a:pPr marL="0" indent="0">
              <a:buNone/>
            </a:pPr>
            <a:r>
              <a:rPr lang="en-US" sz="1600" b="1" dirty="0" err="1">
                <a:solidFill>
                  <a:srgbClr val="073642"/>
                </a:solidFill>
              </a:rPr>
              <a:t>Địa</a:t>
            </a:r>
            <a:r>
              <a:rPr lang="en-US" sz="1600" b="1" dirty="0">
                <a:solidFill>
                  <a:srgbClr val="073642"/>
                </a:solidFill>
              </a:rPr>
              <a:t> </a:t>
            </a:r>
            <a:r>
              <a:rPr lang="en-US" sz="1600" b="1" dirty="0" err="1">
                <a:solidFill>
                  <a:srgbClr val="073642"/>
                </a:solidFill>
              </a:rPr>
              <a:t>điểm</a:t>
            </a:r>
            <a:r>
              <a:rPr lang="en-US" sz="1600" b="1" dirty="0">
                <a:solidFill>
                  <a:srgbClr val="073642"/>
                </a:solidFill>
              </a:rPr>
              <a:t> </a:t>
            </a:r>
            <a:r>
              <a:rPr lang="en-US" sz="1600" b="1" dirty="0" err="1">
                <a:solidFill>
                  <a:srgbClr val="073642"/>
                </a:solidFill>
              </a:rPr>
              <a:t>khám</a:t>
            </a:r>
            <a:endParaRPr lang="en-US" sz="1600" dirty="0"/>
          </a:p>
        </p:txBody>
      </p:sp>
      <p:sp>
        <p:nvSpPr>
          <p:cNvPr id="34" name="Text 32"/>
          <p:cNvSpPr/>
          <p:nvPr/>
        </p:nvSpPr>
        <p:spPr>
          <a:xfrm>
            <a:off x="6428232" y="4178808"/>
            <a:ext cx="4709160" cy="484632"/>
          </a:xfrm>
          <a:prstGeom prst="rect">
            <a:avLst/>
          </a:prstGeom>
          <a:noFill/>
          <a:ln/>
        </p:spPr>
        <p:txBody>
          <a:bodyPr wrap="square" lIns="254" tIns="254" rIns="254" bIns="254" rtlCol="0" anchor="ctr">
            <a:normAutofit fontScale="92500"/>
          </a:bodyPr>
          <a:lstStyle/>
          <a:p>
            <a:pPr marL="0" indent="0">
              <a:buNone/>
            </a:pPr>
            <a:r>
              <a:rPr lang="en-US" sz="1230" dirty="0">
                <a:solidFill>
                  <a:srgbClr val="5C6670"/>
                </a:solidFill>
              </a:rPr>
              <a:t>Khám tại Trạm Y tế hoặc khám lưu động tại tổ/cụm dân cư; người cao tuổi, neo đơn, đi lại khó khăn có thể bố trí phương án phù hợp tại gia đình.</a:t>
            </a:r>
            <a:endParaRPr lang="en-US" sz="1230" dirty="0"/>
          </a:p>
        </p:txBody>
      </p:sp>
      <p:sp>
        <p:nvSpPr>
          <p:cNvPr id="35" name="Text 33"/>
          <p:cNvSpPr/>
          <p:nvPr/>
        </p:nvSpPr>
        <p:spPr>
          <a:xfrm>
            <a:off x="868680" y="5394960"/>
            <a:ext cx="10424160" cy="237744"/>
          </a:xfrm>
          <a:prstGeom prst="rect">
            <a:avLst/>
          </a:prstGeom>
          <a:noFill/>
          <a:ln/>
        </p:spPr>
        <p:txBody>
          <a:bodyPr wrap="square" lIns="0" tIns="0" rIns="0" bIns="0" rtlCol="0" anchor="ctr"/>
          <a:lstStyle/>
          <a:p>
            <a:pPr marL="0" indent="0" algn="ctr">
              <a:buNone/>
            </a:pPr>
            <a:r>
              <a:rPr lang="en-US" sz="1300" b="1" dirty="0">
                <a:solidFill>
                  <a:srgbClr val="075B63"/>
                </a:solidFill>
              </a:rPr>
              <a:t>Nguyên tắc vận hành: phân luồng rõ • lịch theo khung giờ • hạn chế ùn ứ • xử lý ngay vướng mắc tại điểm khám.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CNTT – dữ liệu</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16</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CNTT – THỐNG KÊ – GIÁM SÁT</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Cập nhật dữ liệu, ký số và liên thông HSSKĐT</a:t>
            </a:r>
            <a:endParaRPr lang="en-US" sz="2800" dirty="0"/>
          </a:p>
        </p:txBody>
      </p:sp>
      <p:sp>
        <p:nvSpPr>
          <p:cNvPr id="10" name="Shape 8"/>
          <p:cNvSpPr/>
          <p:nvPr/>
        </p:nvSpPr>
        <p:spPr>
          <a:xfrm>
            <a:off x="731520" y="1828800"/>
            <a:ext cx="3429000" cy="1097280"/>
          </a:xfrm>
          <a:prstGeom prst="roundRect">
            <a:avLst>
              <a:gd name="adj" fmla="val 6667"/>
            </a:avLst>
          </a:prstGeom>
          <a:solidFill>
            <a:srgbClr val="FFFFFF"/>
          </a:solidFill>
          <a:ln w="12700">
            <a:solidFill>
              <a:srgbClr val="CFE1E6"/>
            </a:solidFill>
            <a:prstDash val="solid"/>
          </a:ln>
        </p:spPr>
      </p:sp>
      <p:sp>
        <p:nvSpPr>
          <p:cNvPr id="11" name="Shape 9"/>
          <p:cNvSpPr/>
          <p:nvPr/>
        </p:nvSpPr>
        <p:spPr>
          <a:xfrm>
            <a:off x="731520" y="1828800"/>
            <a:ext cx="64008" cy="1097280"/>
          </a:xfrm>
          <a:prstGeom prst="rect">
            <a:avLst/>
          </a:prstGeom>
          <a:solidFill>
            <a:srgbClr val="0B7C82"/>
          </a:solidFill>
          <a:ln w="12700">
            <a:solidFill>
              <a:srgbClr val="0B7C82"/>
            </a:solidFill>
            <a:prstDash val="solid"/>
          </a:ln>
        </p:spPr>
      </p:sp>
      <p:sp>
        <p:nvSpPr>
          <p:cNvPr id="12" name="Text 10"/>
          <p:cNvSpPr/>
          <p:nvPr/>
        </p:nvSpPr>
        <p:spPr>
          <a:xfrm>
            <a:off x="896112" y="1938528"/>
            <a:ext cx="31546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1. Thu thập đầy đủ</a:t>
            </a:r>
            <a:endParaRPr lang="en-US" sz="1600" dirty="0"/>
          </a:p>
        </p:txBody>
      </p:sp>
      <p:sp>
        <p:nvSpPr>
          <p:cNvPr id="13" name="Text 11"/>
          <p:cNvSpPr/>
          <p:nvPr/>
        </p:nvSpPr>
        <p:spPr>
          <a:xfrm>
            <a:off x="896112" y="2194560"/>
            <a:ext cx="3154680" cy="640080"/>
          </a:xfrm>
          <a:prstGeom prst="rect">
            <a:avLst/>
          </a:prstGeom>
          <a:noFill/>
          <a:ln/>
        </p:spPr>
        <p:txBody>
          <a:bodyPr wrap="square" lIns="254" tIns="254" rIns="254" bIns="254" rtlCol="0" anchor="ctr">
            <a:normAutofit fontScale="92500" lnSpcReduction="10000"/>
          </a:bodyPr>
          <a:lstStyle/>
          <a:p>
            <a:pPr marL="0" indent="0">
              <a:buNone/>
            </a:pPr>
            <a:r>
              <a:rPr lang="en-US" sz="1240" dirty="0">
                <a:solidFill>
                  <a:srgbClr val="5C6670"/>
                </a:solidFill>
              </a:rPr>
              <a:t>Cập nhật kết quả khám trên phần mềm quản lý KCB/phần mềm khám sức khỏe; bảo đảm đủ trường định danh, có CCCD/Mã định danh cá nhân.</a:t>
            </a:r>
            <a:endParaRPr lang="en-US" sz="1240" dirty="0"/>
          </a:p>
        </p:txBody>
      </p:sp>
      <p:sp>
        <p:nvSpPr>
          <p:cNvPr id="14" name="Shape 12"/>
          <p:cNvSpPr/>
          <p:nvPr/>
        </p:nvSpPr>
        <p:spPr>
          <a:xfrm>
            <a:off x="4389120" y="1828800"/>
            <a:ext cx="3429000" cy="1097280"/>
          </a:xfrm>
          <a:prstGeom prst="roundRect">
            <a:avLst>
              <a:gd name="adj" fmla="val 6667"/>
            </a:avLst>
          </a:prstGeom>
          <a:solidFill>
            <a:srgbClr val="FFFFFF"/>
          </a:solidFill>
          <a:ln w="12700">
            <a:solidFill>
              <a:srgbClr val="CFE1E6"/>
            </a:solidFill>
            <a:prstDash val="solid"/>
          </a:ln>
        </p:spPr>
      </p:sp>
      <p:sp>
        <p:nvSpPr>
          <p:cNvPr id="15" name="Shape 13"/>
          <p:cNvSpPr/>
          <p:nvPr/>
        </p:nvSpPr>
        <p:spPr>
          <a:xfrm>
            <a:off x="4389120" y="1828800"/>
            <a:ext cx="64008" cy="1097280"/>
          </a:xfrm>
          <a:prstGeom prst="rect">
            <a:avLst/>
          </a:prstGeom>
          <a:solidFill>
            <a:srgbClr val="2E9E65"/>
          </a:solidFill>
          <a:ln w="12700">
            <a:solidFill>
              <a:srgbClr val="2E9E65"/>
            </a:solidFill>
            <a:prstDash val="solid"/>
          </a:ln>
        </p:spPr>
      </p:sp>
      <p:sp>
        <p:nvSpPr>
          <p:cNvPr id="16" name="Text 14"/>
          <p:cNvSpPr/>
          <p:nvPr/>
        </p:nvSpPr>
        <p:spPr>
          <a:xfrm>
            <a:off x="4553712" y="1938528"/>
            <a:ext cx="31546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2. Ký số dữ liệu</a:t>
            </a:r>
            <a:endParaRPr lang="en-US" sz="1600" dirty="0"/>
          </a:p>
        </p:txBody>
      </p:sp>
      <p:sp>
        <p:nvSpPr>
          <p:cNvPr id="17" name="Text 15"/>
          <p:cNvSpPr/>
          <p:nvPr/>
        </p:nvSpPr>
        <p:spPr>
          <a:xfrm>
            <a:off x="4553712" y="2304288"/>
            <a:ext cx="3154680" cy="530352"/>
          </a:xfrm>
          <a:prstGeom prst="rect">
            <a:avLst/>
          </a:prstGeom>
          <a:noFill/>
          <a:ln/>
        </p:spPr>
        <p:txBody>
          <a:bodyPr wrap="square" lIns="254" tIns="254" rIns="254" bIns="254" rtlCol="0" anchor="ctr">
            <a:normAutofit lnSpcReduction="10000"/>
          </a:bodyPr>
          <a:lstStyle/>
          <a:p>
            <a:pPr marL="0" indent="0">
              <a:buNone/>
            </a:pPr>
            <a:r>
              <a:rPr lang="en-US" sz="1240" dirty="0">
                <a:solidFill>
                  <a:srgbClr val="5C6670"/>
                </a:solidFill>
              </a:rPr>
              <a:t>Dữ liệu phải được ký số; bảo đảm “đúng, đủ, sạch, sống”, xác thực, toàn vẹn, an toàn thông tin và bảo vệ dữ liệu cá nhân.</a:t>
            </a:r>
            <a:endParaRPr lang="en-US" sz="1240" dirty="0"/>
          </a:p>
        </p:txBody>
      </p:sp>
      <p:sp>
        <p:nvSpPr>
          <p:cNvPr id="18" name="Shape 16"/>
          <p:cNvSpPr/>
          <p:nvPr/>
        </p:nvSpPr>
        <p:spPr>
          <a:xfrm>
            <a:off x="8046720" y="1828800"/>
            <a:ext cx="3337560" cy="1097280"/>
          </a:xfrm>
          <a:prstGeom prst="roundRect">
            <a:avLst>
              <a:gd name="adj" fmla="val 6667"/>
            </a:avLst>
          </a:prstGeom>
          <a:solidFill>
            <a:srgbClr val="FFFFFF"/>
          </a:solidFill>
          <a:ln w="12700">
            <a:solidFill>
              <a:srgbClr val="CFE1E6"/>
            </a:solidFill>
            <a:prstDash val="solid"/>
          </a:ln>
        </p:spPr>
      </p:sp>
      <p:sp>
        <p:nvSpPr>
          <p:cNvPr id="19" name="Shape 17"/>
          <p:cNvSpPr/>
          <p:nvPr/>
        </p:nvSpPr>
        <p:spPr>
          <a:xfrm>
            <a:off x="8046720" y="1828800"/>
            <a:ext cx="64008" cy="1097280"/>
          </a:xfrm>
          <a:prstGeom prst="rect">
            <a:avLst/>
          </a:prstGeom>
          <a:solidFill>
            <a:srgbClr val="F08A24"/>
          </a:solidFill>
          <a:ln w="12700">
            <a:solidFill>
              <a:srgbClr val="F08A24"/>
            </a:solidFill>
            <a:prstDash val="solid"/>
          </a:ln>
        </p:spPr>
      </p:sp>
      <p:sp>
        <p:nvSpPr>
          <p:cNvPr id="20" name="Text 18"/>
          <p:cNvSpPr/>
          <p:nvPr/>
        </p:nvSpPr>
        <p:spPr>
          <a:xfrm>
            <a:off x="8211312" y="1938528"/>
            <a:ext cx="306324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3. Liên thông trong 24 giờ</a:t>
            </a:r>
            <a:endParaRPr lang="en-US" sz="1600" dirty="0"/>
          </a:p>
        </p:txBody>
      </p:sp>
      <p:sp>
        <p:nvSpPr>
          <p:cNvPr id="21" name="Text 19"/>
          <p:cNvSpPr/>
          <p:nvPr/>
        </p:nvSpPr>
        <p:spPr>
          <a:xfrm>
            <a:off x="8211312" y="2194560"/>
            <a:ext cx="3063240" cy="640080"/>
          </a:xfrm>
          <a:prstGeom prst="rect">
            <a:avLst/>
          </a:prstGeom>
          <a:noFill/>
          <a:ln/>
        </p:spPr>
        <p:txBody>
          <a:bodyPr wrap="square" lIns="254" tIns="254" rIns="254" bIns="254" rtlCol="0" anchor="ctr">
            <a:normAutofit fontScale="92500" lnSpcReduction="10000"/>
          </a:bodyPr>
          <a:lstStyle/>
          <a:p>
            <a:pPr marL="0" indent="0">
              <a:buNone/>
            </a:pPr>
            <a:r>
              <a:rPr lang="en-US" sz="1210" dirty="0">
                <a:solidFill>
                  <a:srgbClr val="5C6670"/>
                </a:solidFill>
              </a:rPr>
              <a:t>Dữ liệu từ cơ sở khám → Hệ thống HSSKĐT thành phố Hà Nội; hoàn thành cập nhật, ký số, liên thông chậm nhất 24 giờ sau khi kết thúc đợt khám.</a:t>
            </a:r>
            <a:endParaRPr lang="en-US" sz="1210" dirty="0"/>
          </a:p>
        </p:txBody>
      </p:sp>
      <p:sp>
        <p:nvSpPr>
          <p:cNvPr id="22" name="Shape 20"/>
          <p:cNvSpPr/>
          <p:nvPr/>
        </p:nvSpPr>
        <p:spPr>
          <a:xfrm>
            <a:off x="1005840" y="3822192"/>
            <a:ext cx="10149840" cy="841248"/>
          </a:xfrm>
          <a:prstGeom prst="roundRect">
            <a:avLst>
              <a:gd name="adj" fmla="val 8696"/>
            </a:avLst>
          </a:prstGeom>
          <a:solidFill>
            <a:srgbClr val="FFF7E8"/>
          </a:solidFill>
          <a:ln w="12700">
            <a:solidFill>
              <a:srgbClr val="F7D7A8"/>
            </a:solidFill>
            <a:prstDash val="solid"/>
          </a:ln>
        </p:spPr>
      </p:sp>
      <p:sp>
        <p:nvSpPr>
          <p:cNvPr id="23" name="Text 21"/>
          <p:cNvSpPr/>
          <p:nvPr/>
        </p:nvSpPr>
        <p:spPr>
          <a:xfrm>
            <a:off x="1234440" y="3977640"/>
            <a:ext cx="2057400" cy="164592"/>
          </a:xfrm>
          <a:prstGeom prst="rect">
            <a:avLst/>
          </a:prstGeom>
          <a:noFill/>
          <a:ln/>
        </p:spPr>
        <p:txBody>
          <a:bodyPr wrap="square" lIns="0" tIns="0" rIns="0" bIns="0" rtlCol="0" anchor="ctr"/>
          <a:lstStyle/>
          <a:p>
            <a:pPr marL="0" indent="0">
              <a:buNone/>
            </a:pPr>
            <a:r>
              <a:rPr lang="en-US" sz="1350" b="1" dirty="0">
                <a:solidFill>
                  <a:srgbClr val="073642"/>
                </a:solidFill>
              </a:rPr>
              <a:t>Quy tắc tính hoàn thành</a:t>
            </a:r>
            <a:endParaRPr lang="en-US" sz="1350" dirty="0"/>
          </a:p>
        </p:txBody>
      </p:sp>
      <p:sp>
        <p:nvSpPr>
          <p:cNvPr id="24" name="Text 22"/>
          <p:cNvSpPr/>
          <p:nvPr/>
        </p:nvSpPr>
        <p:spPr>
          <a:xfrm>
            <a:off x="3703320" y="3950208"/>
            <a:ext cx="7086600" cy="292608"/>
          </a:xfrm>
          <a:prstGeom prst="rect">
            <a:avLst/>
          </a:prstGeom>
          <a:noFill/>
          <a:ln/>
        </p:spPr>
        <p:txBody>
          <a:bodyPr wrap="square" lIns="0" tIns="0" rIns="0" bIns="0" rtlCol="0" anchor="ctr">
            <a:normAutofit fontScale="92500" lnSpcReduction="20000"/>
          </a:bodyPr>
          <a:lstStyle/>
          <a:p>
            <a:pPr marL="0" indent="0">
              <a:buNone/>
            </a:pPr>
            <a:r>
              <a:rPr lang="en-US" sz="1210" dirty="0">
                <a:solidFill>
                  <a:srgbClr val="073642"/>
                </a:solidFill>
              </a:rPr>
              <a:t>Chỉ tổng hợp là hoàn thành khi người dân đã được khám, có kết quả khám sàng lọc và dữ liệu đã được cập nhật đầy đủ, chính xác trên Hệ thống HSSKĐT Thành phố.</a:t>
            </a:r>
            <a:endParaRPr lang="en-US" sz="1210" dirty="0"/>
          </a:p>
        </p:txBody>
      </p:sp>
      <p:sp>
        <p:nvSpPr>
          <p:cNvPr id="25" name="Shape 23"/>
          <p:cNvSpPr/>
          <p:nvPr/>
        </p:nvSpPr>
        <p:spPr>
          <a:xfrm>
            <a:off x="1005840" y="5074919"/>
            <a:ext cx="10149840" cy="841247"/>
          </a:xfrm>
          <a:prstGeom prst="roundRect">
            <a:avLst>
              <a:gd name="adj" fmla="val 13793"/>
            </a:avLst>
          </a:prstGeom>
          <a:solidFill>
            <a:srgbClr val="FFFFFF"/>
          </a:solidFill>
          <a:ln w="12700">
            <a:solidFill>
              <a:srgbClr val="CFE1E6"/>
            </a:solidFill>
            <a:prstDash val="solid"/>
          </a:ln>
        </p:spPr>
      </p:sp>
      <p:sp>
        <p:nvSpPr>
          <p:cNvPr id="26" name="Shape 24"/>
          <p:cNvSpPr/>
          <p:nvPr/>
        </p:nvSpPr>
        <p:spPr>
          <a:xfrm>
            <a:off x="1005840" y="5074920"/>
            <a:ext cx="64008" cy="530352"/>
          </a:xfrm>
          <a:prstGeom prst="rect">
            <a:avLst/>
          </a:prstGeom>
          <a:solidFill>
            <a:srgbClr val="075B63"/>
          </a:solidFill>
          <a:ln w="12700">
            <a:solidFill>
              <a:srgbClr val="075B63"/>
            </a:solidFill>
            <a:prstDash val="solid"/>
          </a:ln>
        </p:spPr>
      </p:sp>
      <p:sp>
        <p:nvSpPr>
          <p:cNvPr id="27" name="Text 25"/>
          <p:cNvSpPr/>
          <p:nvPr/>
        </p:nvSpPr>
        <p:spPr>
          <a:xfrm>
            <a:off x="1170432" y="5184648"/>
            <a:ext cx="987552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Phòng Quản lý BHYT &amp; CNTT</a:t>
            </a:r>
            <a:endParaRPr lang="en-US" sz="1600" dirty="0"/>
          </a:p>
        </p:txBody>
      </p:sp>
      <p:sp>
        <p:nvSpPr>
          <p:cNvPr id="28" name="Text 26"/>
          <p:cNvSpPr/>
          <p:nvPr/>
        </p:nvSpPr>
        <p:spPr>
          <a:xfrm rot="10800000" flipV="1">
            <a:off x="1170432" y="5440680"/>
            <a:ext cx="9875520" cy="429768"/>
          </a:xfrm>
          <a:prstGeom prst="rect">
            <a:avLst/>
          </a:prstGeom>
          <a:noFill/>
          <a:ln/>
        </p:spPr>
        <p:txBody>
          <a:bodyPr wrap="square" lIns="254" tIns="254" rIns="254" bIns="254" rtlCol="0" anchor="ctr">
            <a:normAutofit/>
          </a:bodyPr>
          <a:lstStyle/>
          <a:p>
            <a:pPr marL="0" indent="0">
              <a:buNone/>
            </a:pPr>
            <a:r>
              <a:rPr lang="en-US" sz="1160" dirty="0">
                <a:solidFill>
                  <a:srgbClr val="5C6670"/>
                </a:solidFill>
              </a:rPr>
              <a:t>Hướng dẫn quy trình cập nhật, ký số, kết nối, liên thông; theo dõi số hồ sơ đã cập nhật, tỷ lệ liên thông thành công, dữ liệu lỗi/chưa đầy đủ.</a:t>
            </a:r>
            <a:endParaRPr lang="en-US" sz="11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Báo cáo – giám sát</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17</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BÁO CÁO THEO PHỤ LỤC</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Chế độ báo cáo, kiểm tra và giám sát tiến độ</a:t>
            </a:r>
            <a:endParaRPr lang="en-US" sz="2800" dirty="0"/>
          </a:p>
        </p:txBody>
      </p:sp>
      <p:sp>
        <p:nvSpPr>
          <p:cNvPr id="10" name="Shape 8"/>
          <p:cNvSpPr/>
          <p:nvPr/>
        </p:nvSpPr>
        <p:spPr>
          <a:xfrm>
            <a:off x="777240" y="1828800"/>
            <a:ext cx="5166360" cy="1005840"/>
          </a:xfrm>
          <a:prstGeom prst="roundRect">
            <a:avLst>
              <a:gd name="adj" fmla="val 7273"/>
            </a:avLst>
          </a:prstGeom>
          <a:solidFill>
            <a:srgbClr val="FFFFFF"/>
          </a:solidFill>
          <a:ln w="12700">
            <a:solidFill>
              <a:srgbClr val="CFE1E6"/>
            </a:solidFill>
            <a:prstDash val="solid"/>
          </a:ln>
        </p:spPr>
      </p:sp>
      <p:sp>
        <p:nvSpPr>
          <p:cNvPr id="11" name="Shape 9"/>
          <p:cNvSpPr/>
          <p:nvPr/>
        </p:nvSpPr>
        <p:spPr>
          <a:xfrm>
            <a:off x="777240" y="1828800"/>
            <a:ext cx="64008" cy="1005840"/>
          </a:xfrm>
          <a:prstGeom prst="rect">
            <a:avLst/>
          </a:prstGeom>
          <a:solidFill>
            <a:srgbClr val="0B7C82"/>
          </a:solidFill>
          <a:ln w="12700">
            <a:solidFill>
              <a:srgbClr val="0B7C82"/>
            </a:solidFill>
            <a:prstDash val="solid"/>
          </a:ln>
        </p:spPr>
      </p:sp>
      <p:sp>
        <p:nvSpPr>
          <p:cNvPr id="12" name="Text 10"/>
          <p:cNvSpPr/>
          <p:nvPr/>
        </p:nvSpPr>
        <p:spPr>
          <a:xfrm>
            <a:off x="941832" y="1938528"/>
            <a:ext cx="489204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Báo cáo định kỳ</a:t>
            </a:r>
            <a:endParaRPr lang="en-US" sz="1600" dirty="0"/>
          </a:p>
        </p:txBody>
      </p:sp>
      <p:sp>
        <p:nvSpPr>
          <p:cNvPr id="13" name="Text 11"/>
          <p:cNvSpPr/>
          <p:nvPr/>
        </p:nvSpPr>
        <p:spPr>
          <a:xfrm>
            <a:off x="941832" y="2304288"/>
            <a:ext cx="4892040" cy="438912"/>
          </a:xfrm>
          <a:prstGeom prst="rect">
            <a:avLst/>
          </a:prstGeom>
          <a:noFill/>
          <a:ln/>
        </p:spPr>
        <p:txBody>
          <a:bodyPr wrap="square" lIns="254" tIns="254" rIns="254" bIns="254" rtlCol="0" anchor="ctr">
            <a:normAutofit/>
          </a:bodyPr>
          <a:lstStyle/>
          <a:p>
            <a:pPr marL="0" indent="0">
              <a:buNone/>
            </a:pPr>
            <a:r>
              <a:rPr lang="en-US" sz="1300" dirty="0">
                <a:solidFill>
                  <a:srgbClr val="5C6670"/>
                </a:solidFill>
              </a:rPr>
              <a:t>UBND phường, xã báo cáo kết quả thực hiện về Sở Y tế trước ngày 05 hằng tháng hoặc đột xuất khi có yêu cầu.</a:t>
            </a:r>
            <a:endParaRPr lang="en-US" sz="1300" dirty="0"/>
          </a:p>
        </p:txBody>
      </p:sp>
      <p:sp>
        <p:nvSpPr>
          <p:cNvPr id="14" name="Shape 12"/>
          <p:cNvSpPr/>
          <p:nvPr/>
        </p:nvSpPr>
        <p:spPr>
          <a:xfrm>
            <a:off x="6263640" y="1828800"/>
            <a:ext cx="4983480" cy="1005840"/>
          </a:xfrm>
          <a:prstGeom prst="roundRect">
            <a:avLst>
              <a:gd name="adj" fmla="val 7273"/>
            </a:avLst>
          </a:prstGeom>
          <a:solidFill>
            <a:srgbClr val="FFFFFF"/>
          </a:solidFill>
          <a:ln w="12700">
            <a:solidFill>
              <a:srgbClr val="CFE1E6"/>
            </a:solidFill>
            <a:prstDash val="solid"/>
          </a:ln>
        </p:spPr>
      </p:sp>
      <p:sp>
        <p:nvSpPr>
          <p:cNvPr id="15" name="Shape 13"/>
          <p:cNvSpPr/>
          <p:nvPr/>
        </p:nvSpPr>
        <p:spPr>
          <a:xfrm>
            <a:off x="6263640" y="1828800"/>
            <a:ext cx="64008" cy="1005840"/>
          </a:xfrm>
          <a:prstGeom prst="rect">
            <a:avLst/>
          </a:prstGeom>
          <a:solidFill>
            <a:srgbClr val="2E9E65"/>
          </a:solidFill>
          <a:ln w="12700">
            <a:solidFill>
              <a:srgbClr val="2E9E65"/>
            </a:solidFill>
            <a:prstDash val="solid"/>
          </a:ln>
        </p:spPr>
      </p:sp>
      <p:sp>
        <p:nvSpPr>
          <p:cNvPr id="16" name="Text 14"/>
          <p:cNvSpPr/>
          <p:nvPr/>
        </p:nvSpPr>
        <p:spPr>
          <a:xfrm>
            <a:off x="6428232" y="1938528"/>
            <a:ext cx="470916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Kiểm tra, giám sát</a:t>
            </a:r>
            <a:endParaRPr lang="en-US" sz="1600" dirty="0"/>
          </a:p>
        </p:txBody>
      </p:sp>
      <p:sp>
        <p:nvSpPr>
          <p:cNvPr id="17" name="Text 15"/>
          <p:cNvSpPr/>
          <p:nvPr/>
        </p:nvSpPr>
        <p:spPr>
          <a:xfrm>
            <a:off x="6428232" y="2304288"/>
            <a:ext cx="4709160" cy="438912"/>
          </a:xfrm>
          <a:prstGeom prst="rect">
            <a:avLst/>
          </a:prstGeom>
          <a:noFill/>
          <a:ln/>
        </p:spPr>
        <p:txBody>
          <a:bodyPr wrap="square" lIns="254" tIns="254" rIns="254" bIns="254" rtlCol="0" anchor="ctr">
            <a:normAutofit/>
          </a:bodyPr>
          <a:lstStyle/>
          <a:p>
            <a:pPr marL="0" indent="0">
              <a:buNone/>
            </a:pPr>
            <a:r>
              <a:rPr lang="en-US" sz="1300" dirty="0">
                <a:solidFill>
                  <a:srgbClr val="5C6670"/>
                </a:solidFill>
              </a:rPr>
              <a:t>UBND phường, xã, Sở Y tế, UBND Thành phố kịp thời phát hiện, giải quyết hoặc kiến nghị giải quyết khó khăn, vướng mắc.</a:t>
            </a:r>
            <a:endParaRPr lang="en-US" sz="1300" dirty="0"/>
          </a:p>
        </p:txBody>
      </p:sp>
      <p:sp>
        <p:nvSpPr>
          <p:cNvPr id="18" name="Shape 16"/>
          <p:cNvSpPr/>
          <p:nvPr/>
        </p:nvSpPr>
        <p:spPr>
          <a:xfrm>
            <a:off x="822960" y="3401568"/>
            <a:ext cx="2121408" cy="524256"/>
          </a:xfrm>
          <a:prstGeom prst="rect">
            <a:avLst/>
          </a:prstGeom>
          <a:solidFill>
            <a:srgbClr val="075B63"/>
          </a:solidFill>
          <a:ln w="6350">
            <a:solidFill>
              <a:srgbClr val="FFFFFF"/>
            </a:solidFill>
            <a:prstDash val="solid"/>
          </a:ln>
        </p:spPr>
      </p:sp>
      <p:sp>
        <p:nvSpPr>
          <p:cNvPr id="19" name="Text 17"/>
          <p:cNvSpPr/>
          <p:nvPr/>
        </p:nvSpPr>
        <p:spPr>
          <a:xfrm>
            <a:off x="850392" y="3474720"/>
            <a:ext cx="2066544" cy="432816"/>
          </a:xfrm>
          <a:prstGeom prst="rect">
            <a:avLst/>
          </a:prstGeom>
          <a:noFill/>
          <a:ln/>
        </p:spPr>
        <p:txBody>
          <a:bodyPr wrap="square" lIns="254" tIns="254" rIns="254" bIns="254" rtlCol="0" anchor="ctr">
            <a:normAutofit/>
          </a:bodyPr>
          <a:lstStyle/>
          <a:p>
            <a:pPr marL="0" indent="0" algn="ctr">
              <a:buNone/>
            </a:pPr>
            <a:r>
              <a:rPr lang="en-US" sz="950" b="1" dirty="0">
                <a:solidFill>
                  <a:srgbClr val="FFFFFF"/>
                </a:solidFill>
              </a:rPr>
              <a:t>Mẫu báo cáo</a:t>
            </a:r>
            <a:endParaRPr lang="en-US" sz="950" dirty="0"/>
          </a:p>
        </p:txBody>
      </p:sp>
      <p:sp>
        <p:nvSpPr>
          <p:cNvPr id="20" name="Shape 18"/>
          <p:cNvSpPr/>
          <p:nvPr/>
        </p:nvSpPr>
        <p:spPr>
          <a:xfrm>
            <a:off x="2944368" y="3401568"/>
            <a:ext cx="2545690" cy="524256"/>
          </a:xfrm>
          <a:prstGeom prst="rect">
            <a:avLst/>
          </a:prstGeom>
          <a:solidFill>
            <a:srgbClr val="075B63"/>
          </a:solidFill>
          <a:ln w="6350">
            <a:solidFill>
              <a:srgbClr val="FFFFFF"/>
            </a:solidFill>
            <a:prstDash val="solid"/>
          </a:ln>
        </p:spPr>
      </p:sp>
      <p:sp>
        <p:nvSpPr>
          <p:cNvPr id="21" name="Text 19"/>
          <p:cNvSpPr/>
          <p:nvPr/>
        </p:nvSpPr>
        <p:spPr>
          <a:xfrm>
            <a:off x="2971800" y="3474720"/>
            <a:ext cx="2490826" cy="432816"/>
          </a:xfrm>
          <a:prstGeom prst="rect">
            <a:avLst/>
          </a:prstGeom>
          <a:noFill/>
          <a:ln/>
        </p:spPr>
        <p:txBody>
          <a:bodyPr wrap="square" lIns="254" tIns="254" rIns="254" bIns="254" rtlCol="0" anchor="ctr">
            <a:normAutofit/>
          </a:bodyPr>
          <a:lstStyle/>
          <a:p>
            <a:pPr marL="0" indent="0" algn="ctr">
              <a:buNone/>
            </a:pPr>
            <a:r>
              <a:rPr lang="en-US" sz="950" b="1" dirty="0">
                <a:solidFill>
                  <a:srgbClr val="FFFFFF"/>
                </a:solidFill>
              </a:rPr>
              <a:t>Mục đích sử dụng</a:t>
            </a:r>
            <a:endParaRPr lang="en-US" sz="950" dirty="0"/>
          </a:p>
        </p:txBody>
      </p:sp>
      <p:sp>
        <p:nvSpPr>
          <p:cNvPr id="22" name="Shape 20"/>
          <p:cNvSpPr/>
          <p:nvPr/>
        </p:nvSpPr>
        <p:spPr>
          <a:xfrm>
            <a:off x="5490058" y="3401568"/>
            <a:ext cx="5939942" cy="524256"/>
          </a:xfrm>
          <a:prstGeom prst="rect">
            <a:avLst/>
          </a:prstGeom>
          <a:solidFill>
            <a:srgbClr val="075B63"/>
          </a:solidFill>
          <a:ln w="6350">
            <a:solidFill>
              <a:srgbClr val="FFFFFF"/>
            </a:solidFill>
            <a:prstDash val="solid"/>
          </a:ln>
        </p:spPr>
      </p:sp>
      <p:sp>
        <p:nvSpPr>
          <p:cNvPr id="23" name="Text 21"/>
          <p:cNvSpPr/>
          <p:nvPr/>
        </p:nvSpPr>
        <p:spPr>
          <a:xfrm>
            <a:off x="5517490" y="3474720"/>
            <a:ext cx="5885078" cy="432816"/>
          </a:xfrm>
          <a:prstGeom prst="rect">
            <a:avLst/>
          </a:prstGeom>
          <a:noFill/>
          <a:ln/>
        </p:spPr>
        <p:txBody>
          <a:bodyPr wrap="square" lIns="254" tIns="254" rIns="254" bIns="254" rtlCol="0" anchor="ctr">
            <a:normAutofit/>
          </a:bodyPr>
          <a:lstStyle/>
          <a:p>
            <a:pPr marL="0" indent="0" algn="ctr">
              <a:buNone/>
            </a:pPr>
            <a:r>
              <a:rPr lang="en-US" sz="950" b="1" dirty="0">
                <a:solidFill>
                  <a:srgbClr val="FFFFFF"/>
                </a:solidFill>
              </a:rPr>
              <a:t>Thông tin trọng tâm</a:t>
            </a:r>
            <a:endParaRPr lang="en-US" sz="950" dirty="0"/>
          </a:p>
        </p:txBody>
      </p:sp>
      <p:sp>
        <p:nvSpPr>
          <p:cNvPr id="24" name="Shape 22"/>
          <p:cNvSpPr/>
          <p:nvPr/>
        </p:nvSpPr>
        <p:spPr>
          <a:xfrm>
            <a:off x="822960" y="3925824"/>
            <a:ext cx="2121408" cy="524256"/>
          </a:xfrm>
          <a:prstGeom prst="rect">
            <a:avLst/>
          </a:prstGeom>
          <a:solidFill>
            <a:srgbClr val="FFFFFF"/>
          </a:solidFill>
          <a:ln w="6350">
            <a:solidFill>
              <a:srgbClr val="D4E2E6"/>
            </a:solidFill>
            <a:prstDash val="solid"/>
          </a:ln>
        </p:spPr>
      </p:sp>
      <p:sp>
        <p:nvSpPr>
          <p:cNvPr id="25" name="Text 23"/>
          <p:cNvSpPr/>
          <p:nvPr/>
        </p:nvSpPr>
        <p:spPr>
          <a:xfrm>
            <a:off x="859536" y="3971544"/>
            <a:ext cx="2048256" cy="469392"/>
          </a:xfrm>
          <a:prstGeom prst="rect">
            <a:avLst/>
          </a:prstGeom>
          <a:noFill/>
          <a:ln/>
        </p:spPr>
        <p:txBody>
          <a:bodyPr wrap="square" lIns="127" tIns="127" rIns="127" bIns="127" rtlCol="0" anchor="ctr">
            <a:normAutofit/>
          </a:bodyPr>
          <a:lstStyle/>
          <a:p>
            <a:pPr marL="0" indent="0">
              <a:buNone/>
            </a:pPr>
            <a:r>
              <a:rPr lang="en-US" sz="950" dirty="0">
                <a:solidFill>
                  <a:srgbClr val="073642"/>
                </a:solidFill>
              </a:rPr>
              <a:t>Phụ lục 3</a:t>
            </a:r>
            <a:endParaRPr lang="en-US" sz="950" dirty="0"/>
          </a:p>
        </p:txBody>
      </p:sp>
      <p:sp>
        <p:nvSpPr>
          <p:cNvPr id="26" name="Shape 24"/>
          <p:cNvSpPr/>
          <p:nvPr/>
        </p:nvSpPr>
        <p:spPr>
          <a:xfrm>
            <a:off x="2944368" y="3925824"/>
            <a:ext cx="2545690" cy="524256"/>
          </a:xfrm>
          <a:prstGeom prst="rect">
            <a:avLst/>
          </a:prstGeom>
          <a:solidFill>
            <a:srgbClr val="FFFFFF"/>
          </a:solidFill>
          <a:ln w="6350">
            <a:solidFill>
              <a:srgbClr val="D4E2E6"/>
            </a:solidFill>
            <a:prstDash val="solid"/>
          </a:ln>
        </p:spPr>
      </p:sp>
      <p:sp>
        <p:nvSpPr>
          <p:cNvPr id="27" name="Text 25"/>
          <p:cNvSpPr/>
          <p:nvPr/>
        </p:nvSpPr>
        <p:spPr>
          <a:xfrm>
            <a:off x="2980944" y="3971544"/>
            <a:ext cx="2472538" cy="469392"/>
          </a:xfrm>
          <a:prstGeom prst="rect">
            <a:avLst/>
          </a:prstGeom>
          <a:noFill/>
          <a:ln/>
        </p:spPr>
        <p:txBody>
          <a:bodyPr wrap="square" lIns="127" tIns="127" rIns="127" bIns="127" rtlCol="0" anchor="ctr">
            <a:normAutofit/>
          </a:bodyPr>
          <a:lstStyle/>
          <a:p>
            <a:pPr marL="0" indent="0">
              <a:buNone/>
            </a:pPr>
            <a:r>
              <a:rPr lang="en-US" sz="950" dirty="0">
                <a:solidFill>
                  <a:srgbClr val="073642"/>
                </a:solidFill>
              </a:rPr>
              <a:t>Đăng ký/điều hành danh mục sàng lọc</a:t>
            </a:r>
            <a:endParaRPr lang="en-US" sz="950" dirty="0"/>
          </a:p>
        </p:txBody>
      </p:sp>
      <p:sp>
        <p:nvSpPr>
          <p:cNvPr id="28" name="Shape 26"/>
          <p:cNvSpPr/>
          <p:nvPr/>
        </p:nvSpPr>
        <p:spPr>
          <a:xfrm>
            <a:off x="5490058" y="3925824"/>
            <a:ext cx="5939942" cy="524256"/>
          </a:xfrm>
          <a:prstGeom prst="rect">
            <a:avLst/>
          </a:prstGeom>
          <a:solidFill>
            <a:srgbClr val="FFFFFF"/>
          </a:solidFill>
          <a:ln w="6350">
            <a:solidFill>
              <a:srgbClr val="D4E2E6"/>
            </a:solidFill>
            <a:prstDash val="solid"/>
          </a:ln>
        </p:spPr>
      </p:sp>
      <p:sp>
        <p:nvSpPr>
          <p:cNvPr id="29" name="Text 27"/>
          <p:cNvSpPr/>
          <p:nvPr/>
        </p:nvSpPr>
        <p:spPr>
          <a:xfrm>
            <a:off x="5526634" y="3971544"/>
            <a:ext cx="5866790" cy="469392"/>
          </a:xfrm>
          <a:prstGeom prst="rect">
            <a:avLst/>
          </a:prstGeom>
          <a:noFill/>
          <a:ln/>
        </p:spPr>
        <p:txBody>
          <a:bodyPr wrap="square" lIns="127" tIns="127" rIns="127" bIns="127" rtlCol="0" anchor="ctr">
            <a:normAutofit/>
          </a:bodyPr>
          <a:lstStyle/>
          <a:p>
            <a:pPr marL="0" indent="0">
              <a:buNone/>
            </a:pPr>
            <a:r>
              <a:rPr lang="en-US" sz="950" dirty="0">
                <a:solidFill>
                  <a:srgbClr val="073642"/>
                </a:solidFill>
              </a:rPr>
              <a:t>Tổng số đăng ký; nhóm bệnh sàng lọc: THA, ĐTĐ type 2, hen, BPTNMT, ung thư, rối loạn tâm thần…</a:t>
            </a:r>
            <a:endParaRPr lang="en-US" sz="950" dirty="0"/>
          </a:p>
        </p:txBody>
      </p:sp>
      <p:sp>
        <p:nvSpPr>
          <p:cNvPr id="30" name="Shape 28"/>
          <p:cNvSpPr/>
          <p:nvPr/>
        </p:nvSpPr>
        <p:spPr>
          <a:xfrm>
            <a:off x="822960" y="4450080"/>
            <a:ext cx="2121408" cy="524256"/>
          </a:xfrm>
          <a:prstGeom prst="rect">
            <a:avLst/>
          </a:prstGeom>
          <a:solidFill>
            <a:srgbClr val="F3F8F9"/>
          </a:solidFill>
          <a:ln w="6350">
            <a:solidFill>
              <a:srgbClr val="D4E2E6"/>
            </a:solidFill>
            <a:prstDash val="solid"/>
          </a:ln>
        </p:spPr>
      </p:sp>
      <p:sp>
        <p:nvSpPr>
          <p:cNvPr id="31" name="Text 29"/>
          <p:cNvSpPr/>
          <p:nvPr/>
        </p:nvSpPr>
        <p:spPr>
          <a:xfrm>
            <a:off x="859536" y="4495800"/>
            <a:ext cx="2048256" cy="469392"/>
          </a:xfrm>
          <a:prstGeom prst="rect">
            <a:avLst/>
          </a:prstGeom>
          <a:noFill/>
          <a:ln/>
        </p:spPr>
        <p:txBody>
          <a:bodyPr wrap="square" lIns="127" tIns="127" rIns="127" bIns="127" rtlCol="0" anchor="ctr">
            <a:normAutofit/>
          </a:bodyPr>
          <a:lstStyle/>
          <a:p>
            <a:pPr marL="0" indent="0">
              <a:buNone/>
            </a:pPr>
            <a:r>
              <a:rPr lang="en-US" sz="950" dirty="0">
                <a:solidFill>
                  <a:srgbClr val="073642"/>
                </a:solidFill>
              </a:rPr>
              <a:t>Phụ lục 4</a:t>
            </a:r>
            <a:endParaRPr lang="en-US" sz="950" dirty="0"/>
          </a:p>
        </p:txBody>
      </p:sp>
      <p:sp>
        <p:nvSpPr>
          <p:cNvPr id="32" name="Shape 30"/>
          <p:cNvSpPr/>
          <p:nvPr/>
        </p:nvSpPr>
        <p:spPr>
          <a:xfrm>
            <a:off x="2944368" y="4450080"/>
            <a:ext cx="2545690" cy="524256"/>
          </a:xfrm>
          <a:prstGeom prst="rect">
            <a:avLst/>
          </a:prstGeom>
          <a:solidFill>
            <a:srgbClr val="F3F8F9"/>
          </a:solidFill>
          <a:ln w="6350">
            <a:solidFill>
              <a:srgbClr val="D4E2E6"/>
            </a:solidFill>
            <a:prstDash val="solid"/>
          </a:ln>
        </p:spPr>
      </p:sp>
      <p:sp>
        <p:nvSpPr>
          <p:cNvPr id="33" name="Text 31"/>
          <p:cNvSpPr/>
          <p:nvPr/>
        </p:nvSpPr>
        <p:spPr>
          <a:xfrm>
            <a:off x="2980944" y="4495800"/>
            <a:ext cx="2472538" cy="469392"/>
          </a:xfrm>
          <a:prstGeom prst="rect">
            <a:avLst/>
          </a:prstGeom>
          <a:noFill/>
          <a:ln/>
        </p:spPr>
        <p:txBody>
          <a:bodyPr wrap="square" lIns="127" tIns="127" rIns="127" bIns="127" rtlCol="0" anchor="ctr">
            <a:normAutofit/>
          </a:bodyPr>
          <a:lstStyle/>
          <a:p>
            <a:pPr marL="0" indent="0">
              <a:buNone/>
            </a:pPr>
            <a:r>
              <a:rPr lang="en-US" sz="950" dirty="0">
                <a:solidFill>
                  <a:srgbClr val="073642"/>
                </a:solidFill>
              </a:rPr>
              <a:t>Báo cáo kết quả hằng tháng</a:t>
            </a:r>
            <a:endParaRPr lang="en-US" sz="950" dirty="0"/>
          </a:p>
        </p:txBody>
      </p:sp>
      <p:sp>
        <p:nvSpPr>
          <p:cNvPr id="34" name="Shape 32"/>
          <p:cNvSpPr/>
          <p:nvPr/>
        </p:nvSpPr>
        <p:spPr>
          <a:xfrm>
            <a:off x="5490058" y="4450080"/>
            <a:ext cx="5939942" cy="524256"/>
          </a:xfrm>
          <a:prstGeom prst="rect">
            <a:avLst/>
          </a:prstGeom>
          <a:solidFill>
            <a:srgbClr val="F3F8F9"/>
          </a:solidFill>
          <a:ln w="6350">
            <a:solidFill>
              <a:srgbClr val="D4E2E6"/>
            </a:solidFill>
            <a:prstDash val="solid"/>
          </a:ln>
        </p:spPr>
      </p:sp>
      <p:sp>
        <p:nvSpPr>
          <p:cNvPr id="35" name="Text 33"/>
          <p:cNvSpPr/>
          <p:nvPr/>
        </p:nvSpPr>
        <p:spPr>
          <a:xfrm>
            <a:off x="5526634" y="4495800"/>
            <a:ext cx="5866790" cy="469392"/>
          </a:xfrm>
          <a:prstGeom prst="rect">
            <a:avLst/>
          </a:prstGeom>
          <a:noFill/>
          <a:ln/>
        </p:spPr>
        <p:txBody>
          <a:bodyPr wrap="square" lIns="127" tIns="127" rIns="127" bIns="127" rtlCol="0" anchor="ctr">
            <a:normAutofit/>
          </a:bodyPr>
          <a:lstStyle/>
          <a:p>
            <a:pPr marL="0" indent="0">
              <a:buNone/>
            </a:pPr>
            <a:r>
              <a:rPr lang="en-US" sz="950" dirty="0">
                <a:solidFill>
                  <a:srgbClr val="073642"/>
                </a:solidFill>
              </a:rPr>
              <a:t>Tổng số phải khám nhóm 1,5; số khám cộng dồn; tỷ lệ đạt; HSSK lập mới/cập nhật; đơn vị khám.</a:t>
            </a:r>
            <a:endParaRPr lang="en-US" sz="950" dirty="0"/>
          </a:p>
        </p:txBody>
      </p:sp>
      <p:sp>
        <p:nvSpPr>
          <p:cNvPr id="36" name="Text 34"/>
          <p:cNvSpPr/>
          <p:nvPr/>
        </p:nvSpPr>
        <p:spPr>
          <a:xfrm>
            <a:off x="960120" y="5623560"/>
            <a:ext cx="10149840" cy="228600"/>
          </a:xfrm>
          <a:prstGeom prst="rect">
            <a:avLst/>
          </a:prstGeom>
          <a:noFill/>
          <a:ln/>
        </p:spPr>
        <p:txBody>
          <a:bodyPr wrap="square" lIns="0" tIns="0" rIns="0" bIns="0" rtlCol="0" anchor="ctr"/>
          <a:lstStyle/>
          <a:p>
            <a:pPr marL="0" indent="0" algn="ctr">
              <a:buNone/>
            </a:pPr>
            <a:r>
              <a:rPr lang="en-US" sz="1220" b="1" dirty="0">
                <a:solidFill>
                  <a:srgbClr val="075B63"/>
                </a:solidFill>
              </a:rPr>
              <a:t>Nguyên tắc: số liệu báo cáo phải khớp với dữ liệu đã cập nhật trên HSSKĐT và hồ sơ lưu tại địa phương.</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Kinh phí – hồ sơ</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18</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BẢO ĐẢM CÔNG KHAI, MINH BẠCH, HIỆU QUẢ</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Kinh phí, hồ sơ và căn cứ thanh quyết toán</a:t>
            </a:r>
            <a:endParaRPr lang="en-US" sz="2800" dirty="0"/>
          </a:p>
        </p:txBody>
      </p:sp>
      <p:sp>
        <p:nvSpPr>
          <p:cNvPr id="10" name="Shape 8"/>
          <p:cNvSpPr/>
          <p:nvPr/>
        </p:nvSpPr>
        <p:spPr>
          <a:xfrm>
            <a:off x="777240" y="1874520"/>
            <a:ext cx="5029200" cy="1143000"/>
          </a:xfrm>
          <a:prstGeom prst="roundRect">
            <a:avLst>
              <a:gd name="adj" fmla="val 6400"/>
            </a:avLst>
          </a:prstGeom>
          <a:solidFill>
            <a:srgbClr val="FFFFFF"/>
          </a:solidFill>
          <a:ln w="12700">
            <a:solidFill>
              <a:srgbClr val="CFE1E6"/>
            </a:solidFill>
            <a:prstDash val="solid"/>
          </a:ln>
        </p:spPr>
      </p:sp>
      <p:sp>
        <p:nvSpPr>
          <p:cNvPr id="11" name="Shape 9"/>
          <p:cNvSpPr/>
          <p:nvPr/>
        </p:nvSpPr>
        <p:spPr>
          <a:xfrm>
            <a:off x="777240" y="1874520"/>
            <a:ext cx="64008" cy="1143000"/>
          </a:xfrm>
          <a:prstGeom prst="rect">
            <a:avLst/>
          </a:prstGeom>
          <a:solidFill>
            <a:srgbClr val="0B7C82"/>
          </a:solidFill>
          <a:ln w="12700">
            <a:solidFill>
              <a:srgbClr val="0B7C82"/>
            </a:solidFill>
            <a:prstDash val="solid"/>
          </a:ln>
        </p:spPr>
      </p:sp>
      <p:sp>
        <p:nvSpPr>
          <p:cNvPr id="12" name="Text 10"/>
          <p:cNvSpPr/>
          <p:nvPr/>
        </p:nvSpPr>
        <p:spPr>
          <a:xfrm>
            <a:off x="941832" y="1984248"/>
            <a:ext cx="475488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Nguồn kinh phí</a:t>
            </a:r>
            <a:endParaRPr lang="en-US" sz="1600" dirty="0"/>
          </a:p>
        </p:txBody>
      </p:sp>
      <p:sp>
        <p:nvSpPr>
          <p:cNvPr id="13" name="Text 11"/>
          <p:cNvSpPr/>
          <p:nvPr/>
        </p:nvSpPr>
        <p:spPr>
          <a:xfrm>
            <a:off x="941832" y="2350008"/>
            <a:ext cx="4754880" cy="576072"/>
          </a:xfrm>
          <a:prstGeom prst="rect">
            <a:avLst/>
          </a:prstGeom>
          <a:noFill/>
          <a:ln/>
        </p:spPr>
        <p:txBody>
          <a:bodyPr wrap="square" lIns="254" tIns="254" rIns="254" bIns="254" rtlCol="0" anchor="ctr">
            <a:normAutofit/>
          </a:bodyPr>
          <a:lstStyle/>
          <a:p>
            <a:pPr marL="0" indent="0">
              <a:buNone/>
            </a:pPr>
            <a:r>
              <a:rPr lang="en-US" sz="1250" dirty="0">
                <a:solidFill>
                  <a:srgbClr val="5C6670"/>
                </a:solidFill>
              </a:rPr>
              <a:t>Theo phụ lục Nghị quyết số 14/2026/NQ-HĐND quy định chính sách hỗ trợ an sinh xã hội cho người dân Thủ đô; phần hướng dẫn chi tiết do Phòng KHTC bổ sung.</a:t>
            </a:r>
            <a:endParaRPr lang="en-US" sz="1250" dirty="0"/>
          </a:p>
        </p:txBody>
      </p:sp>
      <p:sp>
        <p:nvSpPr>
          <p:cNvPr id="14" name="Shape 12"/>
          <p:cNvSpPr/>
          <p:nvPr/>
        </p:nvSpPr>
        <p:spPr>
          <a:xfrm>
            <a:off x="6263640" y="1874520"/>
            <a:ext cx="4983480" cy="1143000"/>
          </a:xfrm>
          <a:prstGeom prst="roundRect">
            <a:avLst>
              <a:gd name="adj" fmla="val 6400"/>
            </a:avLst>
          </a:prstGeom>
          <a:solidFill>
            <a:srgbClr val="FFFFFF"/>
          </a:solidFill>
          <a:ln w="12700">
            <a:solidFill>
              <a:srgbClr val="CFE1E6"/>
            </a:solidFill>
            <a:prstDash val="solid"/>
          </a:ln>
        </p:spPr>
      </p:sp>
      <p:sp>
        <p:nvSpPr>
          <p:cNvPr id="15" name="Shape 13"/>
          <p:cNvSpPr/>
          <p:nvPr/>
        </p:nvSpPr>
        <p:spPr>
          <a:xfrm>
            <a:off x="6263640" y="1874520"/>
            <a:ext cx="64008" cy="1143000"/>
          </a:xfrm>
          <a:prstGeom prst="rect">
            <a:avLst/>
          </a:prstGeom>
          <a:solidFill>
            <a:srgbClr val="2E9E65"/>
          </a:solidFill>
          <a:ln w="12700">
            <a:solidFill>
              <a:srgbClr val="2E9E65"/>
            </a:solidFill>
            <a:prstDash val="solid"/>
          </a:ln>
        </p:spPr>
      </p:sp>
      <p:sp>
        <p:nvSpPr>
          <p:cNvPr id="16" name="Text 14"/>
          <p:cNvSpPr/>
          <p:nvPr/>
        </p:nvSpPr>
        <p:spPr>
          <a:xfrm>
            <a:off x="6428232" y="1984248"/>
            <a:ext cx="470916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Trách nhiệm địa phương</a:t>
            </a:r>
            <a:endParaRPr lang="en-US" sz="1600" dirty="0"/>
          </a:p>
        </p:txBody>
      </p:sp>
      <p:sp>
        <p:nvSpPr>
          <p:cNvPr id="17" name="Text 15"/>
          <p:cNvSpPr/>
          <p:nvPr/>
        </p:nvSpPr>
        <p:spPr>
          <a:xfrm>
            <a:off x="6428232" y="2350008"/>
            <a:ext cx="4709160" cy="576072"/>
          </a:xfrm>
          <a:prstGeom prst="rect">
            <a:avLst/>
          </a:prstGeom>
          <a:noFill/>
          <a:ln/>
        </p:spPr>
        <p:txBody>
          <a:bodyPr wrap="square" lIns="254" tIns="254" rIns="254" bIns="254" rtlCol="0" anchor="ctr">
            <a:normAutofit/>
          </a:bodyPr>
          <a:lstStyle/>
          <a:p>
            <a:pPr marL="0" indent="0">
              <a:buNone/>
            </a:pPr>
            <a:r>
              <a:rPr lang="en-US" sz="1250" dirty="0">
                <a:solidFill>
                  <a:srgbClr val="5C6670"/>
                </a:solidFill>
              </a:rPr>
              <a:t>UBND phường, xã bảo đảm kinh phí, mức chi, lập dự toán và quyết toán kinh phí đúng quy định, công khai, minh bạch, gắn với kết quả triển khai thực tế.</a:t>
            </a:r>
            <a:endParaRPr lang="en-US" sz="1250" dirty="0"/>
          </a:p>
        </p:txBody>
      </p:sp>
      <p:sp>
        <p:nvSpPr>
          <p:cNvPr id="18" name="Text 16"/>
          <p:cNvSpPr/>
          <p:nvPr/>
        </p:nvSpPr>
        <p:spPr>
          <a:xfrm>
            <a:off x="822960" y="3474720"/>
            <a:ext cx="3840480" cy="219456"/>
          </a:xfrm>
          <a:prstGeom prst="rect">
            <a:avLst/>
          </a:prstGeom>
          <a:noFill/>
          <a:ln/>
        </p:spPr>
        <p:txBody>
          <a:bodyPr wrap="square" lIns="0" tIns="0" rIns="0" bIns="0" rtlCol="0" anchor="ctr"/>
          <a:lstStyle/>
          <a:p>
            <a:pPr marL="0" indent="0">
              <a:buNone/>
            </a:pPr>
            <a:r>
              <a:rPr lang="en-US" sz="1400" b="1" dirty="0">
                <a:solidFill>
                  <a:srgbClr val="0B7C82"/>
                </a:solidFill>
              </a:rPr>
              <a:t>Hồ sơ cần lưu trữ và tổng hợp</a:t>
            </a:r>
            <a:endParaRPr lang="en-US" sz="1400" dirty="0"/>
          </a:p>
        </p:txBody>
      </p:sp>
      <p:sp>
        <p:nvSpPr>
          <p:cNvPr id="19" name="Text 17"/>
          <p:cNvSpPr/>
          <p:nvPr/>
        </p:nvSpPr>
        <p:spPr>
          <a:xfrm>
            <a:off x="914400" y="3886200"/>
            <a:ext cx="10424160" cy="1234440"/>
          </a:xfrm>
          <a:prstGeom prst="rect">
            <a:avLst/>
          </a:prstGeom>
          <a:noFill/>
          <a:ln/>
        </p:spPr>
        <p:txBody>
          <a:bodyPr wrap="square" lIns="635" tIns="635" rIns="635" bIns="635" rtlCol="0" anchor="ctr">
            <a:normAutofit/>
          </a:bodyPr>
          <a:lstStyle/>
          <a:p>
            <a:pPr marL="0" indent="0">
              <a:buNone/>
            </a:pPr>
            <a:r>
              <a:rPr lang="en-US" sz="1400" dirty="0">
                <a:solidFill>
                  <a:srgbClr val="073642"/>
                </a:solidFill>
              </a:rPr>
              <a:t>• Kế hoạch chi tiết cấp phường, xã; danh sách đối tượng và lịch khám.
• Phiếu sàng lọc, kết quả khám, kết luận tư vấn, danh sách người nguy cơ cao/nghi ngờ mắc bệnh.
• Dữ liệu nhập HSSKĐT, báo cáo liên thông, tổng hợp mô hình bệnh tật, kinh phí và đơn vị khám.</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Tổ chức thực hiện</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19</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TỔ CHỨC THỰC HIỆN</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Nhiệm vụ </a:t>
            </a:r>
            <a:r>
              <a:rPr lang="en-US" sz="2800" b="1" dirty="0" err="1">
                <a:solidFill>
                  <a:srgbClr val="073642"/>
                </a:solidFill>
              </a:rPr>
              <a:t>trọng</a:t>
            </a:r>
            <a:r>
              <a:rPr lang="en-US" sz="2800" b="1" dirty="0">
                <a:solidFill>
                  <a:srgbClr val="073642"/>
                </a:solidFill>
              </a:rPr>
              <a:t> </a:t>
            </a:r>
            <a:r>
              <a:rPr lang="en-US" sz="2800" b="1" dirty="0" err="1">
                <a:solidFill>
                  <a:srgbClr val="073642"/>
                </a:solidFill>
              </a:rPr>
              <a:t>tâm</a:t>
            </a:r>
            <a:endParaRPr lang="en-US" sz="2800" dirty="0"/>
          </a:p>
        </p:txBody>
      </p:sp>
      <p:sp>
        <p:nvSpPr>
          <p:cNvPr id="10" name="Shape 8"/>
          <p:cNvSpPr/>
          <p:nvPr/>
        </p:nvSpPr>
        <p:spPr>
          <a:xfrm>
            <a:off x="502920" y="1783080"/>
            <a:ext cx="2464308" cy="678180"/>
          </a:xfrm>
          <a:prstGeom prst="rect">
            <a:avLst/>
          </a:prstGeom>
          <a:solidFill>
            <a:srgbClr val="075B63"/>
          </a:solidFill>
          <a:ln w="6350">
            <a:solidFill>
              <a:srgbClr val="FFFFFF"/>
            </a:solidFill>
            <a:prstDash val="solid"/>
          </a:ln>
        </p:spPr>
      </p:sp>
      <p:sp>
        <p:nvSpPr>
          <p:cNvPr id="11" name="Text 9"/>
          <p:cNvSpPr/>
          <p:nvPr/>
        </p:nvSpPr>
        <p:spPr>
          <a:xfrm>
            <a:off x="530352" y="1856232"/>
            <a:ext cx="2409444" cy="586740"/>
          </a:xfrm>
          <a:prstGeom prst="rect">
            <a:avLst/>
          </a:prstGeom>
          <a:noFill/>
          <a:ln/>
        </p:spPr>
        <p:txBody>
          <a:bodyPr wrap="square" lIns="254" tIns="254" rIns="254" bIns="254" rtlCol="0" anchor="ctr">
            <a:normAutofit/>
          </a:bodyPr>
          <a:lstStyle/>
          <a:p>
            <a:pPr marL="0" indent="0" algn="ctr">
              <a:buNone/>
            </a:pPr>
            <a:r>
              <a:rPr lang="en-US" sz="960" b="1" dirty="0">
                <a:solidFill>
                  <a:srgbClr val="FFFFFF"/>
                </a:solidFill>
              </a:rPr>
              <a:t>Đơn vị</a:t>
            </a:r>
            <a:endParaRPr lang="en-US" sz="960" dirty="0"/>
          </a:p>
        </p:txBody>
      </p:sp>
      <p:sp>
        <p:nvSpPr>
          <p:cNvPr id="12" name="Shape 10"/>
          <p:cNvSpPr/>
          <p:nvPr/>
        </p:nvSpPr>
        <p:spPr>
          <a:xfrm>
            <a:off x="2967228" y="1783080"/>
            <a:ext cx="8737092" cy="678180"/>
          </a:xfrm>
          <a:prstGeom prst="rect">
            <a:avLst/>
          </a:prstGeom>
          <a:solidFill>
            <a:srgbClr val="075B63"/>
          </a:solidFill>
          <a:ln w="6350">
            <a:solidFill>
              <a:srgbClr val="FFFFFF"/>
            </a:solidFill>
            <a:prstDash val="solid"/>
          </a:ln>
        </p:spPr>
      </p:sp>
      <p:sp>
        <p:nvSpPr>
          <p:cNvPr id="13" name="Text 11"/>
          <p:cNvSpPr/>
          <p:nvPr/>
        </p:nvSpPr>
        <p:spPr>
          <a:xfrm>
            <a:off x="2994660" y="1856232"/>
            <a:ext cx="8682228" cy="586740"/>
          </a:xfrm>
          <a:prstGeom prst="rect">
            <a:avLst/>
          </a:prstGeom>
          <a:noFill/>
          <a:ln/>
        </p:spPr>
        <p:txBody>
          <a:bodyPr wrap="square" lIns="254" tIns="254" rIns="254" bIns="254" rtlCol="0" anchor="ctr">
            <a:normAutofit/>
          </a:bodyPr>
          <a:lstStyle/>
          <a:p>
            <a:pPr marL="0" indent="0" algn="ctr">
              <a:buNone/>
            </a:pPr>
            <a:r>
              <a:rPr lang="en-US" sz="960" b="1" dirty="0">
                <a:solidFill>
                  <a:srgbClr val="FFFFFF"/>
                </a:solidFill>
              </a:rPr>
              <a:t>Nhiệm vụ trọng tâm</a:t>
            </a:r>
            <a:endParaRPr lang="en-US" sz="960" dirty="0"/>
          </a:p>
        </p:txBody>
      </p:sp>
      <p:sp>
        <p:nvSpPr>
          <p:cNvPr id="14" name="Shape 12"/>
          <p:cNvSpPr/>
          <p:nvPr/>
        </p:nvSpPr>
        <p:spPr>
          <a:xfrm>
            <a:off x="502920" y="2461260"/>
            <a:ext cx="2464308" cy="678180"/>
          </a:xfrm>
          <a:prstGeom prst="rect">
            <a:avLst/>
          </a:prstGeom>
          <a:solidFill>
            <a:srgbClr val="FFFFFF"/>
          </a:solidFill>
          <a:ln w="6350">
            <a:solidFill>
              <a:srgbClr val="D4E2E6"/>
            </a:solidFill>
            <a:prstDash val="solid"/>
          </a:ln>
        </p:spPr>
      </p:sp>
      <p:sp>
        <p:nvSpPr>
          <p:cNvPr id="15" name="Text 13"/>
          <p:cNvSpPr/>
          <p:nvPr/>
        </p:nvSpPr>
        <p:spPr>
          <a:xfrm>
            <a:off x="539496" y="2506980"/>
            <a:ext cx="2391156" cy="623316"/>
          </a:xfrm>
          <a:prstGeom prst="rect">
            <a:avLst/>
          </a:prstGeom>
          <a:noFill/>
          <a:ln/>
        </p:spPr>
        <p:txBody>
          <a:bodyPr wrap="square" lIns="127" tIns="127" rIns="127" bIns="127" rtlCol="0" anchor="ctr">
            <a:normAutofit/>
          </a:bodyPr>
          <a:lstStyle/>
          <a:p>
            <a:pPr marL="0" indent="0">
              <a:buNone/>
            </a:pPr>
            <a:r>
              <a:rPr lang="en-US" sz="1400" dirty="0">
                <a:solidFill>
                  <a:srgbClr val="073642"/>
                </a:solidFill>
              </a:rPr>
              <a:t>Phòng Nghiệp vụ Y</a:t>
            </a:r>
            <a:endParaRPr lang="en-US" sz="1400" dirty="0"/>
          </a:p>
        </p:txBody>
      </p:sp>
      <p:sp>
        <p:nvSpPr>
          <p:cNvPr id="16" name="Shape 14"/>
          <p:cNvSpPr/>
          <p:nvPr/>
        </p:nvSpPr>
        <p:spPr>
          <a:xfrm>
            <a:off x="2967228" y="2461260"/>
            <a:ext cx="8737092" cy="678180"/>
          </a:xfrm>
          <a:prstGeom prst="rect">
            <a:avLst/>
          </a:prstGeom>
          <a:solidFill>
            <a:srgbClr val="FFFFFF"/>
          </a:solidFill>
          <a:ln w="6350">
            <a:solidFill>
              <a:srgbClr val="D4E2E6"/>
            </a:solidFill>
            <a:prstDash val="solid"/>
          </a:ln>
        </p:spPr>
      </p:sp>
      <p:sp>
        <p:nvSpPr>
          <p:cNvPr id="17" name="Text 15"/>
          <p:cNvSpPr/>
          <p:nvPr/>
        </p:nvSpPr>
        <p:spPr>
          <a:xfrm>
            <a:off x="3003804" y="2506980"/>
            <a:ext cx="8663940" cy="623316"/>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Chủ trì tham mưu kế hoạch; hướng dẫn chuyên môn, biểu mẫu, quy trình; rà soát năng lực, điều phối hỗ trợ, giám sát tiến độ.</a:t>
            </a:r>
            <a:endParaRPr lang="en-US" sz="1200" dirty="0"/>
          </a:p>
        </p:txBody>
      </p:sp>
      <p:sp>
        <p:nvSpPr>
          <p:cNvPr id="18" name="Shape 16"/>
          <p:cNvSpPr/>
          <p:nvPr/>
        </p:nvSpPr>
        <p:spPr>
          <a:xfrm>
            <a:off x="502920" y="3139440"/>
            <a:ext cx="2464308" cy="678180"/>
          </a:xfrm>
          <a:prstGeom prst="rect">
            <a:avLst/>
          </a:prstGeom>
          <a:solidFill>
            <a:srgbClr val="F3F8F9"/>
          </a:solidFill>
          <a:ln w="6350">
            <a:solidFill>
              <a:srgbClr val="D4E2E6"/>
            </a:solidFill>
            <a:prstDash val="solid"/>
          </a:ln>
        </p:spPr>
      </p:sp>
      <p:sp>
        <p:nvSpPr>
          <p:cNvPr id="19" name="Text 17"/>
          <p:cNvSpPr/>
          <p:nvPr/>
        </p:nvSpPr>
        <p:spPr>
          <a:xfrm>
            <a:off x="539496" y="3185160"/>
            <a:ext cx="2391156" cy="623316"/>
          </a:xfrm>
          <a:prstGeom prst="rect">
            <a:avLst/>
          </a:prstGeom>
          <a:noFill/>
          <a:ln/>
        </p:spPr>
        <p:txBody>
          <a:bodyPr wrap="square" lIns="127" tIns="127" rIns="127" bIns="127" rtlCol="0" anchor="ctr">
            <a:normAutofit/>
          </a:bodyPr>
          <a:lstStyle/>
          <a:p>
            <a:pPr marL="0" indent="0">
              <a:buNone/>
            </a:pPr>
            <a:r>
              <a:rPr lang="en-US" sz="1400" dirty="0">
                <a:solidFill>
                  <a:srgbClr val="073642"/>
                </a:solidFill>
              </a:rPr>
              <a:t>Phòng QL BHYT &amp; CNTT</a:t>
            </a:r>
            <a:endParaRPr lang="en-US" sz="1400" dirty="0"/>
          </a:p>
        </p:txBody>
      </p:sp>
      <p:sp>
        <p:nvSpPr>
          <p:cNvPr id="20" name="Shape 18"/>
          <p:cNvSpPr/>
          <p:nvPr/>
        </p:nvSpPr>
        <p:spPr>
          <a:xfrm>
            <a:off x="2967228" y="3139440"/>
            <a:ext cx="8737092" cy="678180"/>
          </a:xfrm>
          <a:prstGeom prst="rect">
            <a:avLst/>
          </a:prstGeom>
          <a:solidFill>
            <a:srgbClr val="F3F8F9"/>
          </a:solidFill>
          <a:ln w="6350">
            <a:solidFill>
              <a:srgbClr val="D4E2E6"/>
            </a:solidFill>
            <a:prstDash val="solid"/>
          </a:ln>
        </p:spPr>
      </p:sp>
      <p:sp>
        <p:nvSpPr>
          <p:cNvPr id="21" name="Text 19"/>
          <p:cNvSpPr/>
          <p:nvPr/>
        </p:nvSpPr>
        <p:spPr>
          <a:xfrm>
            <a:off x="3003804" y="3185160"/>
            <a:ext cx="8663940" cy="623316"/>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Hướng dẫn cập nhật, ký số, liên thông; theo dõi tỷ lệ cập nhật/liên thông; phối hợp xử lý lỗi và bảo đảm an toàn dữ liệu.</a:t>
            </a:r>
            <a:endParaRPr lang="en-US" sz="1200" dirty="0"/>
          </a:p>
        </p:txBody>
      </p:sp>
      <p:sp>
        <p:nvSpPr>
          <p:cNvPr id="22" name="Shape 20"/>
          <p:cNvSpPr/>
          <p:nvPr/>
        </p:nvSpPr>
        <p:spPr>
          <a:xfrm>
            <a:off x="502920" y="3817620"/>
            <a:ext cx="2464308" cy="678180"/>
          </a:xfrm>
          <a:prstGeom prst="rect">
            <a:avLst/>
          </a:prstGeom>
          <a:solidFill>
            <a:srgbClr val="FFFFFF"/>
          </a:solidFill>
          <a:ln w="6350">
            <a:solidFill>
              <a:srgbClr val="D4E2E6"/>
            </a:solidFill>
            <a:prstDash val="solid"/>
          </a:ln>
        </p:spPr>
      </p:sp>
      <p:sp>
        <p:nvSpPr>
          <p:cNvPr id="23" name="Text 21"/>
          <p:cNvSpPr/>
          <p:nvPr/>
        </p:nvSpPr>
        <p:spPr>
          <a:xfrm>
            <a:off x="539496" y="3863340"/>
            <a:ext cx="2391156" cy="623316"/>
          </a:xfrm>
          <a:prstGeom prst="rect">
            <a:avLst/>
          </a:prstGeom>
          <a:noFill/>
          <a:ln/>
        </p:spPr>
        <p:txBody>
          <a:bodyPr wrap="square" lIns="127" tIns="127" rIns="127" bIns="127" rtlCol="0" anchor="ctr">
            <a:normAutofit/>
          </a:bodyPr>
          <a:lstStyle/>
          <a:p>
            <a:pPr marL="0" indent="0">
              <a:buNone/>
            </a:pPr>
            <a:r>
              <a:rPr lang="en-US" sz="1400" dirty="0">
                <a:solidFill>
                  <a:srgbClr val="073642"/>
                </a:solidFill>
              </a:rPr>
              <a:t>Phòng KHTC</a:t>
            </a:r>
            <a:endParaRPr lang="en-US" sz="1400" dirty="0"/>
          </a:p>
        </p:txBody>
      </p:sp>
      <p:sp>
        <p:nvSpPr>
          <p:cNvPr id="24" name="Shape 22"/>
          <p:cNvSpPr/>
          <p:nvPr/>
        </p:nvSpPr>
        <p:spPr>
          <a:xfrm>
            <a:off x="2967228" y="3817620"/>
            <a:ext cx="8737092" cy="678180"/>
          </a:xfrm>
          <a:prstGeom prst="rect">
            <a:avLst/>
          </a:prstGeom>
          <a:solidFill>
            <a:srgbClr val="FFFFFF"/>
          </a:solidFill>
          <a:ln w="6350">
            <a:solidFill>
              <a:srgbClr val="D4E2E6"/>
            </a:solidFill>
            <a:prstDash val="solid"/>
          </a:ln>
        </p:spPr>
      </p:sp>
      <p:sp>
        <p:nvSpPr>
          <p:cNvPr id="25" name="Text 23"/>
          <p:cNvSpPr/>
          <p:nvPr/>
        </p:nvSpPr>
        <p:spPr>
          <a:xfrm>
            <a:off x="3003804" y="3863340"/>
            <a:ext cx="8663940" cy="623316"/>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Hướng dẫn lập dự toán, quản lý, sử dụng, thanh toán, quyết toán kinh phí; tháo gỡ vướng mắc về nguồn kinh phí.</a:t>
            </a:r>
            <a:endParaRPr lang="en-US" sz="1200" dirty="0"/>
          </a:p>
        </p:txBody>
      </p:sp>
      <p:sp>
        <p:nvSpPr>
          <p:cNvPr id="26" name="Shape 24"/>
          <p:cNvSpPr/>
          <p:nvPr/>
        </p:nvSpPr>
        <p:spPr>
          <a:xfrm>
            <a:off x="502920" y="4495800"/>
            <a:ext cx="2464308" cy="678180"/>
          </a:xfrm>
          <a:prstGeom prst="rect">
            <a:avLst/>
          </a:prstGeom>
          <a:solidFill>
            <a:srgbClr val="F3F8F9"/>
          </a:solidFill>
          <a:ln w="6350">
            <a:solidFill>
              <a:srgbClr val="D4E2E6"/>
            </a:solidFill>
            <a:prstDash val="solid"/>
          </a:ln>
        </p:spPr>
      </p:sp>
      <p:sp>
        <p:nvSpPr>
          <p:cNvPr id="27" name="Text 25"/>
          <p:cNvSpPr/>
          <p:nvPr/>
        </p:nvSpPr>
        <p:spPr>
          <a:xfrm>
            <a:off x="539496" y="4541520"/>
            <a:ext cx="2391156" cy="623316"/>
          </a:xfrm>
          <a:prstGeom prst="rect">
            <a:avLst/>
          </a:prstGeom>
          <a:noFill/>
          <a:ln/>
        </p:spPr>
        <p:txBody>
          <a:bodyPr wrap="square" lIns="127" tIns="127" rIns="127" bIns="127" rtlCol="0" anchor="ctr">
            <a:normAutofit/>
          </a:bodyPr>
          <a:lstStyle/>
          <a:p>
            <a:pPr marL="0" indent="0">
              <a:buNone/>
            </a:pPr>
            <a:r>
              <a:rPr lang="en-US" sz="1400" dirty="0">
                <a:solidFill>
                  <a:srgbClr val="073642"/>
                </a:solidFill>
              </a:rPr>
              <a:t>CDC Hà Nội</a:t>
            </a:r>
            <a:endParaRPr lang="en-US" sz="1400" dirty="0"/>
          </a:p>
        </p:txBody>
      </p:sp>
      <p:sp>
        <p:nvSpPr>
          <p:cNvPr id="28" name="Shape 26"/>
          <p:cNvSpPr/>
          <p:nvPr/>
        </p:nvSpPr>
        <p:spPr>
          <a:xfrm>
            <a:off x="2967228" y="4495800"/>
            <a:ext cx="8737092" cy="678180"/>
          </a:xfrm>
          <a:prstGeom prst="rect">
            <a:avLst/>
          </a:prstGeom>
          <a:solidFill>
            <a:srgbClr val="F3F8F9"/>
          </a:solidFill>
          <a:ln w="6350">
            <a:solidFill>
              <a:srgbClr val="D4E2E6"/>
            </a:solidFill>
            <a:prstDash val="solid"/>
          </a:ln>
        </p:spPr>
      </p:sp>
      <p:sp>
        <p:nvSpPr>
          <p:cNvPr id="29" name="Text 27"/>
          <p:cNvSpPr/>
          <p:nvPr/>
        </p:nvSpPr>
        <p:spPr>
          <a:xfrm>
            <a:off x="3003804" y="4541520"/>
            <a:ext cx="8663940" cy="623316"/>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Biên soạn tài liệu truyền thông; hướng dẫn truyền thông; phối hợp theo dõi, tổng hợp báo cáo.</a:t>
            </a:r>
            <a:endParaRPr lang="en-US" sz="1200" dirty="0"/>
          </a:p>
        </p:txBody>
      </p:sp>
      <p:sp>
        <p:nvSpPr>
          <p:cNvPr id="30" name="Shape 28"/>
          <p:cNvSpPr/>
          <p:nvPr/>
        </p:nvSpPr>
        <p:spPr>
          <a:xfrm>
            <a:off x="502920" y="5173980"/>
            <a:ext cx="2464308" cy="678180"/>
          </a:xfrm>
          <a:prstGeom prst="rect">
            <a:avLst/>
          </a:prstGeom>
          <a:solidFill>
            <a:srgbClr val="FFFFFF"/>
          </a:solidFill>
          <a:ln w="6350">
            <a:solidFill>
              <a:srgbClr val="D4E2E6"/>
            </a:solidFill>
            <a:prstDash val="solid"/>
          </a:ln>
        </p:spPr>
      </p:sp>
      <p:sp>
        <p:nvSpPr>
          <p:cNvPr id="31" name="Text 29"/>
          <p:cNvSpPr/>
          <p:nvPr/>
        </p:nvSpPr>
        <p:spPr>
          <a:xfrm>
            <a:off x="539496" y="5219700"/>
            <a:ext cx="2391156" cy="623316"/>
          </a:xfrm>
          <a:prstGeom prst="rect">
            <a:avLst/>
          </a:prstGeom>
          <a:noFill/>
          <a:ln/>
        </p:spPr>
        <p:txBody>
          <a:bodyPr wrap="square" lIns="127" tIns="127" rIns="127" bIns="127" rtlCol="0" anchor="ctr">
            <a:normAutofit/>
          </a:bodyPr>
          <a:lstStyle/>
          <a:p>
            <a:pPr marL="0" indent="0">
              <a:buNone/>
            </a:pPr>
            <a:r>
              <a:rPr lang="en-US" sz="1400" dirty="0">
                <a:solidFill>
                  <a:srgbClr val="073642"/>
                </a:solidFill>
              </a:rPr>
              <a:t>Cơ sở y tế / BV / PK</a:t>
            </a:r>
            <a:endParaRPr lang="en-US" sz="1400" dirty="0"/>
          </a:p>
        </p:txBody>
      </p:sp>
      <p:sp>
        <p:nvSpPr>
          <p:cNvPr id="32" name="Shape 30"/>
          <p:cNvSpPr/>
          <p:nvPr/>
        </p:nvSpPr>
        <p:spPr>
          <a:xfrm>
            <a:off x="2967228" y="5173980"/>
            <a:ext cx="8737092" cy="678180"/>
          </a:xfrm>
          <a:prstGeom prst="rect">
            <a:avLst/>
          </a:prstGeom>
          <a:solidFill>
            <a:srgbClr val="FFFFFF"/>
          </a:solidFill>
          <a:ln w="6350">
            <a:solidFill>
              <a:srgbClr val="D4E2E6"/>
            </a:solidFill>
            <a:prstDash val="solid"/>
          </a:ln>
        </p:spPr>
      </p:sp>
      <p:sp>
        <p:nvSpPr>
          <p:cNvPr id="33" name="Text 31"/>
          <p:cNvSpPr/>
          <p:nvPr/>
        </p:nvSpPr>
        <p:spPr>
          <a:xfrm>
            <a:off x="3003804" y="5219700"/>
            <a:ext cx="8663940" cy="623316"/>
          </a:xfrm>
          <a:prstGeom prst="rect">
            <a:avLst/>
          </a:prstGeom>
          <a:noFill/>
          <a:ln/>
        </p:spPr>
        <p:txBody>
          <a:bodyPr wrap="square" lIns="127" tIns="127" rIns="127" bIns="127" rtlCol="0" anchor="ctr">
            <a:normAutofit/>
          </a:bodyPr>
          <a:lstStyle/>
          <a:p>
            <a:pPr marL="0" indent="0">
              <a:buNone/>
            </a:pPr>
            <a:r>
              <a:rPr lang="en-US" sz="1200" dirty="0">
                <a:solidFill>
                  <a:srgbClr val="073642"/>
                </a:solidFill>
              </a:rPr>
              <a:t>Phối hợp tham gia khám khi đủ điều kiện; hỗ trợ địa bàn theo phân công hoặc theo đề nghị của UBND phường, xã.</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1400" b="1" dirty="0">
                <a:solidFill>
                  <a:srgbClr val="075B63"/>
                </a:solidFill>
                <a:latin typeface="Arial" pitchFamily="34" charset="0"/>
                <a:ea typeface="Arial" pitchFamily="34" charset="-122"/>
                <a:cs typeface="Arial" pitchFamily="34" charset="-120"/>
              </a:rPr>
              <a:t>Tổ chức thực hiện</a:t>
            </a:r>
            <a:endParaRPr lang="en-US" sz="140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pPr>
            <a:r>
              <a:rPr lang="en-US" sz="700" dirty="0">
                <a:solidFill>
                  <a:srgbClr val="6A747B"/>
                </a:solidFill>
                <a:latin typeface="Arial" pitchFamily="34" charset="0"/>
                <a:ea typeface="Arial" pitchFamily="34" charset="-122"/>
                <a:cs typeface="Arial" pitchFamily="34" charset="-120"/>
              </a:rPr>
              <a:t>20</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600" b="1" dirty="0">
                <a:solidFill>
                  <a:srgbClr val="0B7C82"/>
                </a:solidFill>
              </a:rPr>
              <a:t>ĐẦU MỐI TẠI ĐỊA PHƯƠNG</a:t>
            </a:r>
            <a:endParaRPr lang="en-US" sz="16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Nhiệm vụ của UBND phường, xã và Trạm Y tế</a:t>
            </a:r>
            <a:endParaRPr lang="en-US" sz="2800" dirty="0"/>
          </a:p>
        </p:txBody>
      </p:sp>
      <p:sp>
        <p:nvSpPr>
          <p:cNvPr id="10" name="Shape 8"/>
          <p:cNvSpPr/>
          <p:nvPr/>
        </p:nvSpPr>
        <p:spPr>
          <a:xfrm>
            <a:off x="777240" y="1874520"/>
            <a:ext cx="5166360" cy="1143000"/>
          </a:xfrm>
          <a:prstGeom prst="roundRect">
            <a:avLst>
              <a:gd name="adj" fmla="val 6400"/>
            </a:avLst>
          </a:prstGeom>
          <a:solidFill>
            <a:srgbClr val="FFFFFF"/>
          </a:solidFill>
          <a:ln w="12700">
            <a:solidFill>
              <a:srgbClr val="CFE1E6"/>
            </a:solidFill>
            <a:prstDash val="solid"/>
          </a:ln>
        </p:spPr>
      </p:sp>
      <p:sp>
        <p:nvSpPr>
          <p:cNvPr id="11" name="Shape 9"/>
          <p:cNvSpPr/>
          <p:nvPr/>
        </p:nvSpPr>
        <p:spPr>
          <a:xfrm>
            <a:off x="777240" y="1874520"/>
            <a:ext cx="64008" cy="1143000"/>
          </a:xfrm>
          <a:prstGeom prst="rect">
            <a:avLst/>
          </a:prstGeom>
          <a:solidFill>
            <a:srgbClr val="0B7C82"/>
          </a:solidFill>
          <a:ln w="12700">
            <a:solidFill>
              <a:srgbClr val="0B7C82"/>
            </a:solidFill>
            <a:prstDash val="solid"/>
          </a:ln>
        </p:spPr>
      </p:sp>
      <p:sp>
        <p:nvSpPr>
          <p:cNvPr id="12" name="Text 10"/>
          <p:cNvSpPr/>
          <p:nvPr/>
        </p:nvSpPr>
        <p:spPr>
          <a:xfrm>
            <a:off x="941832" y="1984248"/>
            <a:ext cx="489204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UBND phường, xã</a:t>
            </a:r>
            <a:endParaRPr lang="en-US" sz="1600" dirty="0"/>
          </a:p>
        </p:txBody>
      </p:sp>
      <p:sp>
        <p:nvSpPr>
          <p:cNvPr id="13" name="Text 11"/>
          <p:cNvSpPr/>
          <p:nvPr/>
        </p:nvSpPr>
        <p:spPr>
          <a:xfrm>
            <a:off x="941832" y="2350008"/>
            <a:ext cx="4892040" cy="576072"/>
          </a:xfrm>
          <a:prstGeom prst="rect">
            <a:avLst/>
          </a:prstGeom>
          <a:noFill/>
          <a:ln/>
        </p:spPr>
        <p:txBody>
          <a:bodyPr wrap="square" lIns="254" tIns="254" rIns="254" bIns="254" rtlCol="0" anchor="ctr">
            <a:normAutofit/>
          </a:bodyPr>
          <a:lstStyle/>
          <a:p>
            <a:pPr marL="0" indent="0">
              <a:buNone/>
            </a:pPr>
            <a:r>
              <a:rPr lang="en-US" sz="1250" dirty="0">
                <a:solidFill>
                  <a:srgbClr val="5C6670"/>
                </a:solidFill>
              </a:rPr>
              <a:t>Chủ trì chỉ đạo; xây dựng kế hoạch chi tiết; lựa chọn đơn vị khám đủ điều kiện; tuyên truyền, vận động; bảo đảm kinh phí và tổng hợp kết quả báo cáo.</a:t>
            </a:r>
            <a:endParaRPr lang="en-US" sz="1250" dirty="0"/>
          </a:p>
        </p:txBody>
      </p:sp>
      <p:sp>
        <p:nvSpPr>
          <p:cNvPr id="14" name="Shape 12"/>
          <p:cNvSpPr/>
          <p:nvPr/>
        </p:nvSpPr>
        <p:spPr>
          <a:xfrm>
            <a:off x="6263640" y="1874520"/>
            <a:ext cx="4983480" cy="1143000"/>
          </a:xfrm>
          <a:prstGeom prst="roundRect">
            <a:avLst>
              <a:gd name="adj" fmla="val 6400"/>
            </a:avLst>
          </a:prstGeom>
          <a:solidFill>
            <a:srgbClr val="FFFFFF"/>
          </a:solidFill>
          <a:ln w="12700">
            <a:solidFill>
              <a:srgbClr val="CFE1E6"/>
            </a:solidFill>
            <a:prstDash val="solid"/>
          </a:ln>
        </p:spPr>
      </p:sp>
      <p:sp>
        <p:nvSpPr>
          <p:cNvPr id="15" name="Shape 13"/>
          <p:cNvSpPr/>
          <p:nvPr/>
        </p:nvSpPr>
        <p:spPr>
          <a:xfrm>
            <a:off x="6263640" y="1874520"/>
            <a:ext cx="64008" cy="1143000"/>
          </a:xfrm>
          <a:prstGeom prst="rect">
            <a:avLst/>
          </a:prstGeom>
          <a:solidFill>
            <a:srgbClr val="2E9E65"/>
          </a:solidFill>
          <a:ln w="12700">
            <a:solidFill>
              <a:srgbClr val="2E9E65"/>
            </a:solidFill>
            <a:prstDash val="solid"/>
          </a:ln>
        </p:spPr>
      </p:sp>
      <p:sp>
        <p:nvSpPr>
          <p:cNvPr id="16" name="Text 14"/>
          <p:cNvSpPr/>
          <p:nvPr/>
        </p:nvSpPr>
        <p:spPr>
          <a:xfrm>
            <a:off x="6428232" y="1984248"/>
            <a:ext cx="470916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Trạm Y tế</a:t>
            </a:r>
            <a:endParaRPr lang="en-US" sz="1600" dirty="0"/>
          </a:p>
        </p:txBody>
      </p:sp>
      <p:sp>
        <p:nvSpPr>
          <p:cNvPr id="17" name="Text 15"/>
          <p:cNvSpPr/>
          <p:nvPr/>
        </p:nvSpPr>
        <p:spPr>
          <a:xfrm>
            <a:off x="6428232" y="2350008"/>
            <a:ext cx="4709160" cy="576072"/>
          </a:xfrm>
          <a:prstGeom prst="rect">
            <a:avLst/>
          </a:prstGeom>
          <a:noFill/>
          <a:ln/>
        </p:spPr>
        <p:txBody>
          <a:bodyPr wrap="square" lIns="254" tIns="254" rIns="254" bIns="254" rtlCol="0" anchor="ctr">
            <a:normAutofit/>
          </a:bodyPr>
          <a:lstStyle/>
          <a:p>
            <a:pPr marL="0" indent="0">
              <a:buNone/>
            </a:pPr>
            <a:r>
              <a:rPr lang="en-US" sz="1250" dirty="0">
                <a:solidFill>
                  <a:srgbClr val="5C6670"/>
                </a:solidFill>
              </a:rPr>
              <a:t>Tham mưu kế hoạch và danh mục sàng lọc; đầu mối chuyên môn; rà soát danh sách; điều phối lịch; cập nhật dữ liệu; theo dõi, quản lý sau khám.</a:t>
            </a:r>
            <a:endParaRPr lang="en-US" sz="1250" dirty="0"/>
          </a:p>
        </p:txBody>
      </p:sp>
      <p:sp>
        <p:nvSpPr>
          <p:cNvPr id="18" name="Text 16"/>
          <p:cNvSpPr/>
          <p:nvPr/>
        </p:nvSpPr>
        <p:spPr>
          <a:xfrm>
            <a:off x="914400" y="3657600"/>
            <a:ext cx="10515600" cy="1371600"/>
          </a:xfrm>
          <a:prstGeom prst="rect">
            <a:avLst/>
          </a:prstGeom>
          <a:noFill/>
          <a:ln/>
        </p:spPr>
        <p:txBody>
          <a:bodyPr wrap="square" lIns="635" tIns="635" rIns="635" bIns="635" rtlCol="0" anchor="ctr">
            <a:normAutofit/>
          </a:bodyPr>
          <a:lstStyle/>
          <a:p>
            <a:pPr marL="0" indent="0">
              <a:buNone/>
            </a:pPr>
            <a:r>
              <a:rPr lang="en-US" sz="1300" dirty="0">
                <a:solidFill>
                  <a:srgbClr val="073642"/>
                </a:solidFill>
              </a:rPr>
              <a:t>• Công khai lịch khám trên phương tiện truyền thông của địa phương.
• Báo cáo lịch khám hằng tuần về Sở Y tế trước 17 giờ thứ Sáu.
• Tổ chức theo khung giờ phù hợp, hạn chế ùn ứ, quá tải tại điểm khám.
• Lưu trữ hồ sơ, danh sách, biểu mẫu và tài liệu liên quan để phục vụ kiểm tra, giám sát.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3">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txBody>
          <a:bodyPr/>
          <a:lstStyle/>
          <a:p>
            <a:endParaRPr/>
          </a:p>
        </p:txBody>
      </p:sp>
      <p:sp>
        <p:nvSpPr>
          <p:cNvPr id="3" name="Text 1"/>
          <p:cNvSpPr/>
          <p:nvPr/>
        </p:nvSpPr>
        <p:spPr>
          <a:xfrm>
            <a:off x="411480" y="256032"/>
            <a:ext cx="7863840" cy="585216"/>
          </a:xfrm>
          <a:prstGeom prst="rect">
            <a:avLst/>
          </a:prstGeom>
          <a:noFill/>
          <a:ln/>
        </p:spPr>
        <p:txBody>
          <a:bodyPr wrap="square" lIns="0" tIns="0" rIns="0" bIns="0" rtlCol="0" anchor="ctr"/>
          <a:lstStyle/>
          <a:p>
            <a:pPr marL="0" indent="0">
              <a:buNone/>
            </a:pPr>
            <a:r>
              <a:rPr lang="en-US" sz="2000" b="1" dirty="0">
                <a:solidFill>
                  <a:srgbClr val="075B63"/>
                </a:solidFill>
                <a:latin typeface="Arial" pitchFamily="34" charset="0"/>
                <a:ea typeface="Arial" pitchFamily="34" charset="-122"/>
                <a:cs typeface="Arial" pitchFamily="34" charset="-120"/>
              </a:rPr>
              <a:t>Kết thúc</a:t>
            </a:r>
            <a:endParaRPr lang="en-US" sz="200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txBody>
          <a:bodyPr/>
          <a:lstStyle/>
          <a:p>
            <a:endParaRPr/>
          </a:p>
        </p:txBody>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defRPr sz="750">
                <a:solidFill>
                  <a:srgbClr val="5F6C76"/>
                </a:solidFill>
                <a:latin typeface="Arial"/>
              </a:defRPr>
            </a:pPr>
            <a:r>
              <a:t>28</a:t>
            </a:r>
            <a:endParaRPr lang="en-US" sz="700" dirty="0"/>
          </a:p>
        </p:txBody>
      </p:sp>
      <p:sp>
        <p:nvSpPr>
          <p:cNvPr id="8" name="Text 6"/>
          <p:cNvSpPr/>
          <p:nvPr/>
        </p:nvSpPr>
        <p:spPr>
          <a:xfrm>
            <a:off x="4565962" y="5952744"/>
            <a:ext cx="5029200" cy="201168"/>
          </a:xfrm>
          <a:prstGeom prst="rect">
            <a:avLst/>
          </a:prstGeom>
          <a:noFill/>
          <a:ln/>
        </p:spPr>
        <p:txBody>
          <a:bodyPr wrap="square" lIns="0" tIns="0" rIns="0" bIns="0" rtlCol="0" anchor="ctr"/>
          <a:lstStyle/>
          <a:p>
            <a:pPr marL="0" indent="0">
              <a:buNone/>
            </a:pPr>
            <a:r>
              <a:rPr lang="en-US" b="1" dirty="0">
                <a:solidFill>
                  <a:srgbClr val="0B7C82"/>
                </a:solidFill>
              </a:rPr>
              <a:t>TRÂN TRỌNG CẢM ƠN</a:t>
            </a:r>
            <a:endParaRPr lang="en-US"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04 thông điệp kết thúc</a:t>
            </a:r>
            <a:endParaRPr lang="en-US" sz="2800" dirty="0"/>
          </a:p>
        </p:txBody>
      </p:sp>
      <p:sp>
        <p:nvSpPr>
          <p:cNvPr id="10" name="Shape 8"/>
          <p:cNvSpPr/>
          <p:nvPr/>
        </p:nvSpPr>
        <p:spPr>
          <a:xfrm>
            <a:off x="822960" y="2148840"/>
            <a:ext cx="384048" cy="384048"/>
          </a:xfrm>
          <a:prstGeom prst="ellipse">
            <a:avLst/>
          </a:prstGeom>
          <a:solidFill>
            <a:srgbClr val="0B7C82"/>
          </a:solidFill>
          <a:ln w="12700">
            <a:solidFill>
              <a:srgbClr val="0B7C82"/>
            </a:solidFill>
            <a:prstDash val="solid"/>
          </a:ln>
        </p:spPr>
        <p:txBody>
          <a:bodyPr/>
          <a:lstStyle/>
          <a:p>
            <a:endParaRPr/>
          </a:p>
        </p:txBody>
      </p:sp>
      <p:sp>
        <p:nvSpPr>
          <p:cNvPr id="11" name="Text 9"/>
          <p:cNvSpPr/>
          <p:nvPr/>
        </p:nvSpPr>
        <p:spPr>
          <a:xfrm>
            <a:off x="822960" y="223113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2" name="Text 10"/>
          <p:cNvSpPr/>
          <p:nvPr/>
        </p:nvSpPr>
        <p:spPr>
          <a:xfrm>
            <a:off x="1371600" y="2167128"/>
            <a:ext cx="4389120" cy="274320"/>
          </a:xfrm>
          <a:prstGeom prst="rect">
            <a:avLst/>
          </a:prstGeom>
          <a:noFill/>
          <a:ln/>
        </p:spPr>
        <p:txBody>
          <a:bodyPr wrap="square" lIns="0" tIns="0" rIns="0" bIns="0" rtlCol="0" anchor="ctr"/>
          <a:lstStyle/>
          <a:p>
            <a:pPr marL="0" indent="0">
              <a:buNone/>
            </a:pPr>
            <a:r>
              <a:rPr lang="en-US" sz="1700" b="1" dirty="0">
                <a:solidFill>
                  <a:srgbClr val="073642"/>
                </a:solidFill>
              </a:rPr>
              <a:t>Rõ đối tượng</a:t>
            </a:r>
            <a:endParaRPr lang="en-US" sz="1700" dirty="0"/>
          </a:p>
        </p:txBody>
      </p:sp>
      <p:sp>
        <p:nvSpPr>
          <p:cNvPr id="13" name="Text 11"/>
          <p:cNvSpPr/>
          <p:nvPr/>
        </p:nvSpPr>
        <p:spPr>
          <a:xfrm>
            <a:off x="1371600" y="2560320"/>
            <a:ext cx="4389120" cy="365760"/>
          </a:xfrm>
          <a:prstGeom prst="rect">
            <a:avLst/>
          </a:prstGeom>
          <a:noFill/>
          <a:ln/>
        </p:spPr>
        <p:txBody>
          <a:bodyPr wrap="square" lIns="0" tIns="0" rIns="0" bIns="0" rtlCol="0" anchor="ctr">
            <a:normAutofit lnSpcReduction="10000"/>
          </a:bodyPr>
          <a:lstStyle/>
          <a:p>
            <a:pPr marL="0" indent="0">
              <a:buNone/>
            </a:pPr>
            <a:r>
              <a:rPr lang="en-US" sz="1230" dirty="0">
                <a:solidFill>
                  <a:srgbClr val="5C6670"/>
                </a:solidFill>
              </a:rPr>
              <a:t>Danh sách đúng, đủ; loại trừ trùng lặp; tiếp cận nhóm cần ưu tiên.</a:t>
            </a:r>
            <a:endParaRPr lang="en-US" sz="1230" dirty="0"/>
          </a:p>
        </p:txBody>
      </p:sp>
      <p:sp>
        <p:nvSpPr>
          <p:cNvPr id="14" name="Shape 12"/>
          <p:cNvSpPr/>
          <p:nvPr/>
        </p:nvSpPr>
        <p:spPr>
          <a:xfrm>
            <a:off x="6309360" y="2148840"/>
            <a:ext cx="384048" cy="384048"/>
          </a:xfrm>
          <a:prstGeom prst="ellipse">
            <a:avLst/>
          </a:prstGeom>
          <a:solidFill>
            <a:srgbClr val="0B7C82"/>
          </a:solidFill>
          <a:ln w="12700">
            <a:solidFill>
              <a:srgbClr val="0B7C82"/>
            </a:solidFill>
            <a:prstDash val="solid"/>
          </a:ln>
        </p:spPr>
        <p:txBody>
          <a:bodyPr/>
          <a:lstStyle/>
          <a:p>
            <a:endParaRPr/>
          </a:p>
        </p:txBody>
      </p:sp>
      <p:sp>
        <p:nvSpPr>
          <p:cNvPr id="15" name="Text 13"/>
          <p:cNvSpPr/>
          <p:nvPr/>
        </p:nvSpPr>
        <p:spPr>
          <a:xfrm>
            <a:off x="6309360" y="223113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6" name="Text 14"/>
          <p:cNvSpPr/>
          <p:nvPr/>
        </p:nvSpPr>
        <p:spPr>
          <a:xfrm>
            <a:off x="6858000" y="2167128"/>
            <a:ext cx="4389120" cy="274320"/>
          </a:xfrm>
          <a:prstGeom prst="rect">
            <a:avLst/>
          </a:prstGeom>
          <a:noFill/>
          <a:ln/>
        </p:spPr>
        <p:txBody>
          <a:bodyPr wrap="square" lIns="0" tIns="0" rIns="0" bIns="0" rtlCol="0" anchor="ctr"/>
          <a:lstStyle/>
          <a:p>
            <a:pPr marL="0" indent="0">
              <a:buNone/>
            </a:pPr>
            <a:r>
              <a:rPr lang="en-US" sz="1700" b="1" dirty="0">
                <a:solidFill>
                  <a:srgbClr val="073642"/>
                </a:solidFill>
              </a:rPr>
              <a:t>Rõ quy trình</a:t>
            </a:r>
            <a:endParaRPr lang="en-US" sz="1700" dirty="0"/>
          </a:p>
        </p:txBody>
      </p:sp>
      <p:sp>
        <p:nvSpPr>
          <p:cNvPr id="17" name="Text 15"/>
          <p:cNvSpPr/>
          <p:nvPr/>
        </p:nvSpPr>
        <p:spPr>
          <a:xfrm>
            <a:off x="6858000" y="2560320"/>
            <a:ext cx="4389120" cy="365760"/>
          </a:xfrm>
          <a:prstGeom prst="rect">
            <a:avLst/>
          </a:prstGeom>
          <a:noFill/>
          <a:ln/>
        </p:spPr>
        <p:txBody>
          <a:bodyPr wrap="square" lIns="0" tIns="0" rIns="0" bIns="0" rtlCol="0" anchor="ctr">
            <a:normAutofit lnSpcReduction="10000"/>
          </a:bodyPr>
          <a:lstStyle/>
          <a:p>
            <a:pPr marL="0" indent="0">
              <a:buNone/>
            </a:pPr>
            <a:r>
              <a:rPr lang="en-US" sz="1230" dirty="0">
                <a:solidFill>
                  <a:srgbClr val="5C6670"/>
                </a:solidFill>
              </a:rPr>
              <a:t>Một chiều, 6 bước, kết luận và tư vấn sau khám trong 24–48 giờ.</a:t>
            </a:r>
            <a:endParaRPr lang="en-US" sz="1230" dirty="0"/>
          </a:p>
        </p:txBody>
      </p:sp>
      <p:sp>
        <p:nvSpPr>
          <p:cNvPr id="18" name="Shape 16"/>
          <p:cNvSpPr/>
          <p:nvPr/>
        </p:nvSpPr>
        <p:spPr>
          <a:xfrm>
            <a:off x="822960" y="3474720"/>
            <a:ext cx="384048" cy="384048"/>
          </a:xfrm>
          <a:prstGeom prst="ellipse">
            <a:avLst/>
          </a:prstGeom>
          <a:solidFill>
            <a:srgbClr val="2E9E65"/>
          </a:solidFill>
          <a:ln w="12700">
            <a:solidFill>
              <a:srgbClr val="2E9E65"/>
            </a:solidFill>
            <a:prstDash val="solid"/>
          </a:ln>
        </p:spPr>
        <p:txBody>
          <a:bodyPr/>
          <a:lstStyle/>
          <a:p>
            <a:endParaRPr/>
          </a:p>
        </p:txBody>
      </p:sp>
      <p:sp>
        <p:nvSpPr>
          <p:cNvPr id="19" name="Text 17"/>
          <p:cNvSpPr/>
          <p:nvPr/>
        </p:nvSpPr>
        <p:spPr>
          <a:xfrm>
            <a:off x="822960" y="355701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0" name="Text 18"/>
          <p:cNvSpPr/>
          <p:nvPr/>
        </p:nvSpPr>
        <p:spPr>
          <a:xfrm>
            <a:off x="1371600" y="3493008"/>
            <a:ext cx="4389120" cy="274320"/>
          </a:xfrm>
          <a:prstGeom prst="rect">
            <a:avLst/>
          </a:prstGeom>
          <a:noFill/>
          <a:ln/>
        </p:spPr>
        <p:txBody>
          <a:bodyPr wrap="square" lIns="0" tIns="0" rIns="0" bIns="0" rtlCol="0" anchor="ctr"/>
          <a:lstStyle/>
          <a:p>
            <a:pPr marL="0" indent="0">
              <a:buNone/>
            </a:pPr>
            <a:r>
              <a:rPr lang="en-US" sz="1700" b="1" dirty="0">
                <a:solidFill>
                  <a:srgbClr val="073642"/>
                </a:solidFill>
              </a:rPr>
              <a:t>Rõ dữ liệu</a:t>
            </a:r>
            <a:endParaRPr lang="en-US" sz="1700" dirty="0"/>
          </a:p>
        </p:txBody>
      </p:sp>
      <p:sp>
        <p:nvSpPr>
          <p:cNvPr id="21" name="Text 19"/>
          <p:cNvSpPr/>
          <p:nvPr/>
        </p:nvSpPr>
        <p:spPr>
          <a:xfrm>
            <a:off x="1371600" y="3886200"/>
            <a:ext cx="4389120" cy="365760"/>
          </a:xfrm>
          <a:prstGeom prst="rect">
            <a:avLst/>
          </a:prstGeom>
          <a:noFill/>
          <a:ln/>
        </p:spPr>
        <p:txBody>
          <a:bodyPr wrap="square" lIns="0" tIns="0" rIns="0" bIns="0" rtlCol="0" anchor="ctr">
            <a:normAutofit lnSpcReduction="10000"/>
          </a:bodyPr>
          <a:lstStyle/>
          <a:p>
            <a:pPr marL="0" indent="0">
              <a:buNone/>
            </a:pPr>
            <a:r>
              <a:rPr lang="en-US" sz="1230" dirty="0">
                <a:solidFill>
                  <a:srgbClr val="5C6670"/>
                </a:solidFill>
              </a:rPr>
              <a:t>Nhập đúng chuẩn, ký số, liên thông HSSKĐT, phục vụ mô hình bệnh tật.</a:t>
            </a:r>
            <a:endParaRPr lang="en-US" sz="1230" dirty="0"/>
          </a:p>
        </p:txBody>
      </p:sp>
      <p:sp>
        <p:nvSpPr>
          <p:cNvPr id="22" name="Shape 20"/>
          <p:cNvSpPr/>
          <p:nvPr/>
        </p:nvSpPr>
        <p:spPr>
          <a:xfrm>
            <a:off x="6309360" y="3474720"/>
            <a:ext cx="384048" cy="384048"/>
          </a:xfrm>
          <a:prstGeom prst="ellipse">
            <a:avLst/>
          </a:prstGeom>
          <a:solidFill>
            <a:srgbClr val="2E9E65"/>
          </a:solidFill>
          <a:ln w="12700">
            <a:solidFill>
              <a:srgbClr val="2E9E65"/>
            </a:solidFill>
            <a:prstDash val="solid"/>
          </a:ln>
        </p:spPr>
        <p:txBody>
          <a:bodyPr/>
          <a:lstStyle/>
          <a:p>
            <a:endParaRPr/>
          </a:p>
        </p:txBody>
      </p:sp>
      <p:sp>
        <p:nvSpPr>
          <p:cNvPr id="23" name="Text 21"/>
          <p:cNvSpPr/>
          <p:nvPr/>
        </p:nvSpPr>
        <p:spPr>
          <a:xfrm>
            <a:off x="6309360" y="3557016"/>
            <a:ext cx="384048"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4" name="Text 22"/>
          <p:cNvSpPr/>
          <p:nvPr/>
        </p:nvSpPr>
        <p:spPr>
          <a:xfrm>
            <a:off x="6858000" y="3493008"/>
            <a:ext cx="4389120" cy="274320"/>
          </a:xfrm>
          <a:prstGeom prst="rect">
            <a:avLst/>
          </a:prstGeom>
          <a:noFill/>
          <a:ln/>
        </p:spPr>
        <p:txBody>
          <a:bodyPr wrap="square" lIns="0" tIns="0" rIns="0" bIns="0" rtlCol="0" anchor="ctr"/>
          <a:lstStyle/>
          <a:p>
            <a:pPr marL="0" indent="0">
              <a:buNone/>
            </a:pPr>
            <a:r>
              <a:rPr lang="en-US" sz="1700" b="1" dirty="0">
                <a:solidFill>
                  <a:srgbClr val="073642"/>
                </a:solidFill>
              </a:rPr>
              <a:t>Rõ trách nhiệm</a:t>
            </a:r>
            <a:endParaRPr lang="en-US" sz="1700" dirty="0"/>
          </a:p>
        </p:txBody>
      </p:sp>
      <p:sp>
        <p:nvSpPr>
          <p:cNvPr id="25" name="Text 23"/>
          <p:cNvSpPr/>
          <p:nvPr/>
        </p:nvSpPr>
        <p:spPr>
          <a:xfrm>
            <a:off x="6858000" y="3886200"/>
            <a:ext cx="4389120" cy="365760"/>
          </a:xfrm>
          <a:prstGeom prst="rect">
            <a:avLst/>
          </a:prstGeom>
          <a:noFill/>
          <a:ln/>
        </p:spPr>
        <p:txBody>
          <a:bodyPr wrap="square" lIns="0" tIns="0" rIns="0" bIns="0" rtlCol="0" anchor="ctr">
            <a:normAutofit lnSpcReduction="10000"/>
          </a:bodyPr>
          <a:lstStyle/>
          <a:p>
            <a:pPr marL="0" indent="0">
              <a:buNone/>
            </a:pPr>
            <a:r>
              <a:rPr lang="en-US" sz="1230" dirty="0">
                <a:solidFill>
                  <a:srgbClr val="5C6670"/>
                </a:solidFill>
              </a:rPr>
              <a:t>UBND chỉ đạo; TYT đầu mối; cơ sở khám thực hiện; </a:t>
            </a:r>
            <a:r>
              <a:rPr lang="en-US" sz="1230" dirty="0" err="1">
                <a:solidFill>
                  <a:srgbClr val="5C6670"/>
                </a:solidFill>
              </a:rPr>
              <a:t>Sở</a:t>
            </a:r>
            <a:r>
              <a:rPr lang="en-US" sz="1230" dirty="0">
                <a:solidFill>
                  <a:srgbClr val="5C6670"/>
                </a:solidFill>
              </a:rPr>
              <a:t> </a:t>
            </a:r>
            <a:r>
              <a:rPr lang="en-US" sz="1230" dirty="0" err="1">
                <a:solidFill>
                  <a:srgbClr val="5C6670"/>
                </a:solidFill>
              </a:rPr>
              <a:t>chỉ</a:t>
            </a:r>
            <a:r>
              <a:rPr lang="en-US" sz="1230" dirty="0">
                <a:solidFill>
                  <a:srgbClr val="5C6670"/>
                </a:solidFill>
              </a:rPr>
              <a:t> </a:t>
            </a:r>
            <a:r>
              <a:rPr lang="en-US" sz="1230" dirty="0" err="1">
                <a:solidFill>
                  <a:srgbClr val="5C6670"/>
                </a:solidFill>
              </a:rPr>
              <a:t>đạo</a:t>
            </a:r>
            <a:r>
              <a:rPr lang="en-US" sz="1230" dirty="0">
                <a:solidFill>
                  <a:srgbClr val="5C6670"/>
                </a:solidFill>
              </a:rPr>
              <a:t> </a:t>
            </a:r>
            <a:r>
              <a:rPr lang="en-US" sz="1230" dirty="0" err="1">
                <a:solidFill>
                  <a:srgbClr val="5C6670"/>
                </a:solidFill>
              </a:rPr>
              <a:t>chuyên</a:t>
            </a:r>
            <a:r>
              <a:rPr lang="en-US" sz="1230" dirty="0">
                <a:solidFill>
                  <a:srgbClr val="5C6670"/>
                </a:solidFill>
              </a:rPr>
              <a:t> </a:t>
            </a:r>
            <a:r>
              <a:rPr lang="en-US" sz="1230" dirty="0" err="1">
                <a:solidFill>
                  <a:srgbClr val="5C6670"/>
                </a:solidFill>
              </a:rPr>
              <a:t>môn</a:t>
            </a:r>
            <a:endParaRPr lang="en-US" sz="1230" dirty="0"/>
          </a:p>
        </p:txBody>
      </p:sp>
      <p:sp>
        <p:nvSpPr>
          <p:cNvPr id="26" name="Text 24"/>
          <p:cNvSpPr/>
          <p:nvPr/>
        </p:nvSpPr>
        <p:spPr>
          <a:xfrm>
            <a:off x="960120" y="5349240"/>
            <a:ext cx="10195560" cy="384048"/>
          </a:xfrm>
          <a:prstGeom prst="rect">
            <a:avLst/>
          </a:prstGeom>
          <a:noFill/>
          <a:ln/>
        </p:spPr>
        <p:txBody>
          <a:bodyPr wrap="square" lIns="0" tIns="0" rIns="0" bIns="0" rtlCol="0" anchor="ctr">
            <a:normAutofit fontScale="92500"/>
          </a:bodyPr>
          <a:lstStyle/>
          <a:p>
            <a:pPr marL="0" indent="0" algn="ctr">
              <a:buNone/>
            </a:pPr>
            <a:r>
              <a:rPr lang="en-US" sz="1500" b="1" dirty="0">
                <a:solidFill>
                  <a:srgbClr val="075B63"/>
                </a:solidFill>
              </a:rPr>
              <a:t>Khám sàng lọc không chỉ là tổ chức một buổi khám, mà là thiết lập quy trình quản lý sức khỏe liên tục tại cộng đồng.</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6492240"/>
            <a:ext cx="11384280" cy="9144"/>
          </a:xfrm>
          <a:prstGeom prst="rect">
            <a:avLst/>
          </a:prstGeom>
          <a:solidFill>
            <a:srgbClr val="CF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256032"/>
            <a:ext cx="7863840" cy="344710"/>
          </a:xfrm>
          <a:prstGeom prst="rect">
            <a:avLst/>
          </a:prstGeom>
          <a:noFill/>
        </p:spPr>
        <p:txBody>
          <a:bodyPr wrap="square" lIns="27432" tIns="18288" rIns="27432" bIns="18288">
            <a:spAutoFit/>
          </a:bodyPr>
          <a:lstStyle/>
          <a:p>
            <a:pPr algn="ctr">
              <a:defRPr sz="950" b="1" i="0">
                <a:solidFill>
                  <a:srgbClr val="008084"/>
                </a:solidFill>
                <a:latin typeface="Arial"/>
              </a:defRPr>
            </a:pPr>
            <a:r>
              <a:rPr sz="2000" dirty="0" err="1"/>
              <a:t>Rút</a:t>
            </a:r>
            <a:r>
              <a:rPr sz="2000" dirty="0"/>
              <a:t> </a:t>
            </a:r>
            <a:r>
              <a:rPr sz="2000" dirty="0" err="1"/>
              <a:t>kinh</a:t>
            </a:r>
            <a:r>
              <a:rPr sz="2000" dirty="0"/>
              <a:t> </a:t>
            </a:r>
            <a:r>
              <a:rPr sz="2000" dirty="0" err="1"/>
              <a:t>nghiệm</a:t>
            </a:r>
            <a:endParaRPr sz="2000" dirty="0"/>
          </a:p>
        </p:txBody>
      </p:sp>
      <p:sp>
        <p:nvSpPr>
          <p:cNvPr id="5" name="TextBox 4"/>
          <p:cNvSpPr txBox="1"/>
          <p:nvPr/>
        </p:nvSpPr>
        <p:spPr>
          <a:xfrm>
            <a:off x="9144000" y="256032"/>
            <a:ext cx="2697480" cy="201168"/>
          </a:xfrm>
          <a:prstGeom prst="rect">
            <a:avLst/>
          </a:prstGeom>
          <a:noFill/>
        </p:spPr>
        <p:txBody>
          <a:bodyPr wrap="square" lIns="27432" tIns="18288" rIns="27432" bIns="18288">
            <a:spAutoFit/>
          </a:bodyPr>
          <a:lstStyle/>
          <a:p>
            <a:pPr algn="r">
              <a:defRPr sz="950" b="0" i="0">
                <a:solidFill>
                  <a:srgbClr val="5F6C76"/>
                </a:solidFill>
                <a:latin typeface="Arial"/>
              </a:defRPr>
            </a:pPr>
            <a:r>
              <a:t>Theo nội dung đánh giá, rút kinh nghiệm</a:t>
            </a:r>
          </a:p>
        </p:txBody>
      </p:sp>
      <p:sp>
        <p:nvSpPr>
          <p:cNvPr id="6" name="TextBox 5"/>
          <p:cNvSpPr txBox="1"/>
          <p:nvPr/>
        </p:nvSpPr>
        <p:spPr>
          <a:xfrm>
            <a:off x="502920" y="749808"/>
            <a:ext cx="10881360" cy="310896"/>
          </a:xfrm>
          <a:prstGeom prst="rect">
            <a:avLst/>
          </a:prstGeom>
          <a:noFill/>
        </p:spPr>
        <p:txBody>
          <a:bodyPr wrap="square" lIns="27432" tIns="18288" rIns="27432" bIns="18288">
            <a:spAutoFit/>
          </a:bodyPr>
          <a:lstStyle/>
          <a:p>
            <a:pPr algn="l">
              <a:defRPr sz="2200" b="1" i="0">
                <a:solidFill>
                  <a:srgbClr val="143E4C"/>
                </a:solidFill>
                <a:latin typeface="Arial"/>
              </a:defRPr>
            </a:pPr>
            <a:r>
              <a:rPr dirty="0"/>
              <a:t>NHÌN LẠI KẾT QUẢ ĐẾN 30/9/2026</a:t>
            </a:r>
          </a:p>
        </p:txBody>
      </p:sp>
      <p:sp>
        <p:nvSpPr>
          <p:cNvPr id="7" name="TextBox 6"/>
          <p:cNvSpPr txBox="1"/>
          <p:nvPr/>
        </p:nvSpPr>
        <p:spPr>
          <a:xfrm>
            <a:off x="502920" y="1078992"/>
            <a:ext cx="11064240" cy="329184"/>
          </a:xfrm>
          <a:prstGeom prst="rect">
            <a:avLst/>
          </a:prstGeom>
          <a:noFill/>
        </p:spPr>
        <p:txBody>
          <a:bodyPr wrap="square" lIns="27432" tIns="18288" rIns="27432" bIns="18288">
            <a:spAutoFit/>
          </a:bodyPr>
          <a:lstStyle/>
          <a:p>
            <a:pPr algn="l">
              <a:defRPr sz="1550" b="0" i="0">
                <a:solidFill>
                  <a:srgbClr val="5F6C76"/>
                </a:solidFill>
                <a:latin typeface="Arial"/>
              </a:defRPr>
            </a:pPr>
            <a:r>
              <a:t>Một số kết quả làm căn cứ rút kinh nghiệm công tác tổ chức KSK và khám sàng lọc.</a:t>
            </a:r>
          </a:p>
        </p:txBody>
      </p:sp>
      <p:sp>
        <p:nvSpPr>
          <p:cNvPr id="8" name="TextBox 7"/>
          <p:cNvSpPr txBox="1"/>
          <p:nvPr/>
        </p:nvSpPr>
        <p:spPr>
          <a:xfrm>
            <a:off x="411480" y="6601968"/>
            <a:ext cx="6400800" cy="164592"/>
          </a:xfrm>
          <a:prstGeom prst="rect">
            <a:avLst/>
          </a:prstGeom>
          <a:noFill/>
        </p:spPr>
        <p:txBody>
          <a:bodyPr wrap="square" lIns="27432" tIns="18288" rIns="27432" bIns="18288">
            <a:spAutoFit/>
          </a:bodyPr>
          <a:lstStyle/>
          <a:p>
            <a:pPr algn="l">
              <a:defRPr sz="750" b="0" i="0">
                <a:solidFill>
                  <a:srgbClr val="5F6C76"/>
                </a:solidFill>
                <a:latin typeface="Arial"/>
              </a:defRPr>
            </a:pPr>
            <a:r>
              <a:t>SỞ Y TẾ HÀ NỘI | Tập huấn khám sàng lọc miễn phí năm 2026</a:t>
            </a:r>
          </a:p>
        </p:txBody>
      </p:sp>
      <p:sp>
        <p:nvSpPr>
          <p:cNvPr id="9" name="TextBox 8"/>
          <p:cNvSpPr txBox="1"/>
          <p:nvPr/>
        </p:nvSpPr>
        <p:spPr>
          <a:xfrm>
            <a:off x="11475720" y="6601968"/>
            <a:ext cx="320040" cy="164592"/>
          </a:xfrm>
          <a:prstGeom prst="rect">
            <a:avLst/>
          </a:prstGeom>
          <a:noFill/>
        </p:spPr>
        <p:txBody>
          <a:bodyPr wrap="square" lIns="27432" tIns="18288" rIns="27432" bIns="18288">
            <a:spAutoFit/>
          </a:bodyPr>
          <a:lstStyle/>
          <a:p>
            <a:pPr algn="r">
              <a:defRPr sz="750" b="0" i="0">
                <a:solidFill>
                  <a:srgbClr val="5F6C76"/>
                </a:solidFill>
                <a:latin typeface="Arial"/>
              </a:defRPr>
            </a:pPr>
            <a:r>
              <a:t>21</a:t>
            </a:r>
          </a:p>
        </p:txBody>
      </p:sp>
      <p:sp>
        <p:nvSpPr>
          <p:cNvPr id="10" name="Rounded Rectangle 9"/>
          <p:cNvSpPr/>
          <p:nvPr/>
        </p:nvSpPr>
        <p:spPr>
          <a:xfrm>
            <a:off x="640080" y="1600200"/>
            <a:ext cx="2606040" cy="1234440"/>
          </a:xfrm>
          <a:prstGeom prst="roundRect">
            <a:avLst/>
          </a:prstGeom>
          <a:solidFill>
            <a:srgbClr val="FFFFFF"/>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19" y="1764792"/>
            <a:ext cx="2423160" cy="347472"/>
          </a:xfrm>
          <a:prstGeom prst="rect">
            <a:avLst/>
          </a:prstGeom>
          <a:noFill/>
        </p:spPr>
        <p:txBody>
          <a:bodyPr wrap="square" lIns="27432" tIns="18288" rIns="27432" bIns="18288">
            <a:spAutoFit/>
          </a:bodyPr>
          <a:lstStyle/>
          <a:p>
            <a:pPr algn="ctr">
              <a:defRPr sz="2300" b="1" i="0">
                <a:solidFill>
                  <a:srgbClr val="27915C"/>
                </a:solidFill>
                <a:latin typeface="Arial"/>
              </a:defRPr>
            </a:pPr>
            <a:r>
              <a:t>14,4%</a:t>
            </a:r>
          </a:p>
        </p:txBody>
      </p:sp>
      <p:sp>
        <p:nvSpPr>
          <p:cNvPr id="12" name="TextBox 11"/>
          <p:cNvSpPr txBox="1"/>
          <p:nvPr/>
        </p:nvSpPr>
        <p:spPr>
          <a:xfrm>
            <a:off x="731519" y="2148840"/>
            <a:ext cx="2423160" cy="237744"/>
          </a:xfrm>
          <a:prstGeom prst="rect">
            <a:avLst/>
          </a:prstGeom>
          <a:noFill/>
        </p:spPr>
        <p:txBody>
          <a:bodyPr wrap="square" lIns="27432" tIns="18288" rIns="27432" bIns="18288">
            <a:spAutoFit/>
          </a:bodyPr>
          <a:lstStyle/>
          <a:p>
            <a:pPr algn="ctr">
              <a:defRPr sz="1250" b="1" i="0">
                <a:solidFill>
                  <a:srgbClr val="143E4C"/>
                </a:solidFill>
                <a:latin typeface="Arial"/>
              </a:defRPr>
            </a:pPr>
            <a:r>
              <a:t>Nhóm 1</a:t>
            </a:r>
          </a:p>
        </p:txBody>
      </p:sp>
      <p:sp>
        <p:nvSpPr>
          <p:cNvPr id="13" name="TextBox 12"/>
          <p:cNvSpPr txBox="1"/>
          <p:nvPr/>
        </p:nvSpPr>
        <p:spPr>
          <a:xfrm>
            <a:off x="786384" y="2423160"/>
            <a:ext cx="2313432" cy="406265"/>
          </a:xfrm>
          <a:prstGeom prst="rect">
            <a:avLst/>
          </a:prstGeom>
          <a:noFill/>
        </p:spPr>
        <p:txBody>
          <a:bodyPr wrap="square" lIns="27432" tIns="18288" rIns="27432" bIns="18288">
            <a:spAutoFit/>
          </a:bodyPr>
          <a:lstStyle/>
          <a:p>
            <a:pPr algn="ctr">
              <a:defRPr sz="950" b="0" i="0">
                <a:solidFill>
                  <a:srgbClr val="5F6C76"/>
                </a:solidFill>
                <a:latin typeface="Arial"/>
              </a:defRPr>
            </a:pPr>
            <a:r>
              <a:rPr sz="1200" dirty="0"/>
              <a:t>193.649 </a:t>
            </a:r>
            <a:r>
              <a:rPr sz="1200" dirty="0" err="1"/>
              <a:t>lượt</a:t>
            </a:r>
            <a:r>
              <a:rPr sz="1200" dirty="0"/>
              <a:t> </a:t>
            </a:r>
            <a:r>
              <a:rPr sz="1200" dirty="0" err="1"/>
              <a:t>khám</a:t>
            </a:r>
            <a:r>
              <a:rPr sz="1200" dirty="0"/>
              <a:t> / 1.344.065 </a:t>
            </a:r>
            <a:r>
              <a:rPr sz="1200" dirty="0" err="1"/>
              <a:t>đối</a:t>
            </a:r>
            <a:r>
              <a:rPr sz="1200" dirty="0"/>
              <a:t> </a:t>
            </a:r>
            <a:r>
              <a:rPr sz="1200" dirty="0" err="1"/>
              <a:t>tượng</a:t>
            </a:r>
            <a:endParaRPr sz="1200" dirty="0"/>
          </a:p>
        </p:txBody>
      </p:sp>
      <p:sp>
        <p:nvSpPr>
          <p:cNvPr id="14" name="Rounded Rectangle 13"/>
          <p:cNvSpPr/>
          <p:nvPr/>
        </p:nvSpPr>
        <p:spPr>
          <a:xfrm>
            <a:off x="3520440" y="1600200"/>
            <a:ext cx="2606040" cy="1234440"/>
          </a:xfrm>
          <a:prstGeom prst="roundRect">
            <a:avLst/>
          </a:prstGeom>
          <a:solidFill>
            <a:srgbClr val="FFFFFF"/>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11880" y="1764792"/>
            <a:ext cx="2423160" cy="347472"/>
          </a:xfrm>
          <a:prstGeom prst="rect">
            <a:avLst/>
          </a:prstGeom>
          <a:noFill/>
        </p:spPr>
        <p:txBody>
          <a:bodyPr wrap="square" lIns="27432" tIns="18288" rIns="27432" bIns="18288">
            <a:spAutoFit/>
          </a:bodyPr>
          <a:lstStyle/>
          <a:p>
            <a:pPr algn="ctr">
              <a:defRPr sz="2300" b="1" i="0">
                <a:solidFill>
                  <a:srgbClr val="008084"/>
                </a:solidFill>
                <a:latin typeface="Arial"/>
              </a:defRPr>
            </a:pPr>
            <a:r>
              <a:t>98,2%</a:t>
            </a:r>
          </a:p>
        </p:txBody>
      </p:sp>
      <p:sp>
        <p:nvSpPr>
          <p:cNvPr id="16" name="TextBox 15"/>
          <p:cNvSpPr txBox="1"/>
          <p:nvPr/>
        </p:nvSpPr>
        <p:spPr>
          <a:xfrm>
            <a:off x="3611880" y="2148840"/>
            <a:ext cx="2423160" cy="237744"/>
          </a:xfrm>
          <a:prstGeom prst="rect">
            <a:avLst/>
          </a:prstGeom>
          <a:noFill/>
        </p:spPr>
        <p:txBody>
          <a:bodyPr wrap="square" lIns="27432" tIns="18288" rIns="27432" bIns="18288">
            <a:spAutoFit/>
          </a:bodyPr>
          <a:lstStyle/>
          <a:p>
            <a:pPr algn="ctr">
              <a:defRPr sz="1250" b="1" i="0">
                <a:solidFill>
                  <a:srgbClr val="143E4C"/>
                </a:solidFill>
                <a:latin typeface="Arial"/>
              </a:defRPr>
            </a:pPr>
            <a:r>
              <a:t>Nhóm 2</a:t>
            </a:r>
          </a:p>
        </p:txBody>
      </p:sp>
      <p:sp>
        <p:nvSpPr>
          <p:cNvPr id="17" name="TextBox 16"/>
          <p:cNvSpPr txBox="1"/>
          <p:nvPr/>
        </p:nvSpPr>
        <p:spPr>
          <a:xfrm>
            <a:off x="3666744" y="2423160"/>
            <a:ext cx="2313432" cy="406265"/>
          </a:xfrm>
          <a:prstGeom prst="rect">
            <a:avLst/>
          </a:prstGeom>
          <a:noFill/>
        </p:spPr>
        <p:txBody>
          <a:bodyPr wrap="square" lIns="27432" tIns="18288" rIns="27432" bIns="18288">
            <a:spAutoFit/>
          </a:bodyPr>
          <a:lstStyle/>
          <a:p>
            <a:pPr algn="ctr">
              <a:defRPr sz="950" b="0" i="0">
                <a:solidFill>
                  <a:srgbClr val="5F6C76"/>
                </a:solidFill>
                <a:latin typeface="Arial"/>
              </a:defRPr>
            </a:pPr>
            <a:r>
              <a:rPr sz="1200" dirty="0" err="1"/>
              <a:t>Tỷ</a:t>
            </a:r>
            <a:r>
              <a:rPr sz="1200" dirty="0"/>
              <a:t> </a:t>
            </a:r>
            <a:r>
              <a:rPr sz="1200" dirty="0" err="1"/>
              <a:t>lệ</a:t>
            </a:r>
            <a:r>
              <a:rPr sz="1200" dirty="0"/>
              <a:t> </a:t>
            </a:r>
            <a:r>
              <a:rPr sz="1200" dirty="0" err="1"/>
              <a:t>tính</a:t>
            </a:r>
            <a:r>
              <a:rPr sz="1200" dirty="0"/>
              <a:t> </a:t>
            </a:r>
            <a:r>
              <a:rPr sz="1200" dirty="0" err="1"/>
              <a:t>theo</a:t>
            </a:r>
            <a:r>
              <a:rPr sz="1200" dirty="0"/>
              <a:t> </a:t>
            </a:r>
            <a:r>
              <a:rPr sz="1200" dirty="0" err="1"/>
              <a:t>số</a:t>
            </a:r>
            <a:r>
              <a:rPr sz="1200" dirty="0"/>
              <a:t> </a:t>
            </a:r>
            <a:r>
              <a:rPr sz="1200" dirty="0" err="1"/>
              <a:t>khám</a:t>
            </a:r>
            <a:r>
              <a:rPr sz="1200" dirty="0"/>
              <a:t> </a:t>
            </a:r>
            <a:endParaRPr lang="vi-VN" sz="1200" dirty="0"/>
          </a:p>
          <a:p>
            <a:pPr algn="ctr">
              <a:defRPr sz="950" b="0" i="0">
                <a:solidFill>
                  <a:srgbClr val="5F6C76"/>
                </a:solidFill>
                <a:latin typeface="Arial"/>
              </a:defRPr>
            </a:pPr>
            <a:r>
              <a:rPr sz="1200" dirty="0"/>
              <a:t>01/7–30/9</a:t>
            </a:r>
          </a:p>
        </p:txBody>
      </p:sp>
      <p:sp>
        <p:nvSpPr>
          <p:cNvPr id="18" name="Rounded Rectangle 17"/>
          <p:cNvSpPr/>
          <p:nvPr/>
        </p:nvSpPr>
        <p:spPr>
          <a:xfrm>
            <a:off x="6400800" y="1600200"/>
            <a:ext cx="2606040" cy="1234440"/>
          </a:xfrm>
          <a:prstGeom prst="roundRect">
            <a:avLst/>
          </a:prstGeom>
          <a:solidFill>
            <a:srgbClr val="FFFFFF"/>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1764792"/>
            <a:ext cx="2423160" cy="347472"/>
          </a:xfrm>
          <a:prstGeom prst="rect">
            <a:avLst/>
          </a:prstGeom>
          <a:noFill/>
        </p:spPr>
        <p:txBody>
          <a:bodyPr wrap="square" lIns="27432" tIns="18288" rIns="27432" bIns="18288">
            <a:spAutoFit/>
          </a:bodyPr>
          <a:lstStyle/>
          <a:p>
            <a:pPr algn="ctr">
              <a:defRPr sz="2300" b="1" i="0">
                <a:solidFill>
                  <a:srgbClr val="F18B25"/>
                </a:solidFill>
                <a:latin typeface="Arial"/>
              </a:defRPr>
            </a:pPr>
            <a:r>
              <a:t>20,6%</a:t>
            </a:r>
          </a:p>
        </p:txBody>
      </p:sp>
      <p:sp>
        <p:nvSpPr>
          <p:cNvPr id="20" name="TextBox 19"/>
          <p:cNvSpPr txBox="1"/>
          <p:nvPr/>
        </p:nvSpPr>
        <p:spPr>
          <a:xfrm>
            <a:off x="6492240" y="2148840"/>
            <a:ext cx="2423160" cy="237744"/>
          </a:xfrm>
          <a:prstGeom prst="rect">
            <a:avLst/>
          </a:prstGeom>
          <a:noFill/>
        </p:spPr>
        <p:txBody>
          <a:bodyPr wrap="square" lIns="27432" tIns="18288" rIns="27432" bIns="18288">
            <a:spAutoFit/>
          </a:bodyPr>
          <a:lstStyle/>
          <a:p>
            <a:pPr algn="ctr">
              <a:defRPr sz="1250" b="1" i="0">
                <a:solidFill>
                  <a:srgbClr val="143E4C"/>
                </a:solidFill>
                <a:latin typeface="Arial"/>
              </a:defRPr>
            </a:pPr>
            <a:r>
              <a:t>Nhóm 5</a:t>
            </a:r>
          </a:p>
        </p:txBody>
      </p:sp>
      <p:sp>
        <p:nvSpPr>
          <p:cNvPr id="21" name="TextBox 20"/>
          <p:cNvSpPr txBox="1"/>
          <p:nvPr/>
        </p:nvSpPr>
        <p:spPr>
          <a:xfrm>
            <a:off x="6547104" y="2423160"/>
            <a:ext cx="2313432" cy="406265"/>
          </a:xfrm>
          <a:prstGeom prst="rect">
            <a:avLst/>
          </a:prstGeom>
          <a:noFill/>
        </p:spPr>
        <p:txBody>
          <a:bodyPr wrap="square" lIns="27432" tIns="18288" rIns="27432" bIns="18288">
            <a:spAutoFit/>
          </a:bodyPr>
          <a:lstStyle/>
          <a:p>
            <a:pPr algn="ctr">
              <a:defRPr sz="950" b="0" i="0">
                <a:solidFill>
                  <a:srgbClr val="5F6C76"/>
                </a:solidFill>
                <a:latin typeface="Arial"/>
              </a:defRPr>
            </a:pPr>
            <a:r>
              <a:rPr sz="1200" dirty="0"/>
              <a:t>431.871 </a:t>
            </a:r>
            <a:r>
              <a:rPr sz="1200" dirty="0" err="1"/>
              <a:t>lượt</a:t>
            </a:r>
            <a:r>
              <a:rPr sz="1200" dirty="0"/>
              <a:t> </a:t>
            </a:r>
            <a:r>
              <a:rPr sz="1200" dirty="0" err="1"/>
              <a:t>khám</a:t>
            </a:r>
            <a:r>
              <a:rPr sz="1200" dirty="0"/>
              <a:t> / 2.093.867 </a:t>
            </a:r>
            <a:r>
              <a:rPr sz="1200" dirty="0" err="1"/>
              <a:t>đối</a:t>
            </a:r>
            <a:r>
              <a:rPr sz="1200" dirty="0"/>
              <a:t> </a:t>
            </a:r>
            <a:r>
              <a:rPr sz="1200" dirty="0" err="1"/>
              <a:t>tượng</a:t>
            </a:r>
            <a:endParaRPr sz="1200" dirty="0"/>
          </a:p>
        </p:txBody>
      </p:sp>
      <p:sp>
        <p:nvSpPr>
          <p:cNvPr id="22" name="Rounded Rectangle 21"/>
          <p:cNvSpPr/>
          <p:nvPr/>
        </p:nvSpPr>
        <p:spPr>
          <a:xfrm>
            <a:off x="9281160" y="1600200"/>
            <a:ext cx="2606040" cy="1234440"/>
          </a:xfrm>
          <a:prstGeom prst="roundRect">
            <a:avLst/>
          </a:prstGeom>
          <a:solidFill>
            <a:srgbClr val="FFFFFF"/>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72600" y="1764792"/>
            <a:ext cx="2423160" cy="347472"/>
          </a:xfrm>
          <a:prstGeom prst="rect">
            <a:avLst/>
          </a:prstGeom>
          <a:noFill/>
        </p:spPr>
        <p:txBody>
          <a:bodyPr wrap="square" lIns="27432" tIns="18288" rIns="27432" bIns="18288">
            <a:spAutoFit/>
          </a:bodyPr>
          <a:lstStyle/>
          <a:p>
            <a:pPr algn="ctr">
              <a:defRPr sz="2300" b="1" i="0">
                <a:solidFill>
                  <a:srgbClr val="BE2D32"/>
                </a:solidFill>
                <a:latin typeface="Arial"/>
              </a:defRPr>
            </a:pPr>
            <a:r>
              <a:t>50,7%</a:t>
            </a:r>
          </a:p>
        </p:txBody>
      </p:sp>
      <p:sp>
        <p:nvSpPr>
          <p:cNvPr id="24" name="TextBox 23"/>
          <p:cNvSpPr txBox="1"/>
          <p:nvPr/>
        </p:nvSpPr>
        <p:spPr>
          <a:xfrm>
            <a:off x="9372600" y="2148840"/>
            <a:ext cx="2423160" cy="237744"/>
          </a:xfrm>
          <a:prstGeom prst="rect">
            <a:avLst/>
          </a:prstGeom>
          <a:noFill/>
        </p:spPr>
        <p:txBody>
          <a:bodyPr wrap="square" lIns="27432" tIns="18288" rIns="27432" bIns="18288">
            <a:spAutoFit/>
          </a:bodyPr>
          <a:lstStyle/>
          <a:p>
            <a:pPr algn="ctr">
              <a:defRPr sz="1250" b="1" i="0">
                <a:solidFill>
                  <a:srgbClr val="143E4C"/>
                </a:solidFill>
                <a:latin typeface="Arial"/>
              </a:defRPr>
            </a:pPr>
            <a:r>
              <a:t>Tổng hợp chung</a:t>
            </a:r>
          </a:p>
        </p:txBody>
      </p:sp>
      <p:sp>
        <p:nvSpPr>
          <p:cNvPr id="25" name="TextBox 24"/>
          <p:cNvSpPr txBox="1"/>
          <p:nvPr/>
        </p:nvSpPr>
        <p:spPr>
          <a:xfrm>
            <a:off x="9427464" y="2423160"/>
            <a:ext cx="2313432" cy="406265"/>
          </a:xfrm>
          <a:prstGeom prst="rect">
            <a:avLst/>
          </a:prstGeom>
          <a:noFill/>
        </p:spPr>
        <p:txBody>
          <a:bodyPr wrap="square" lIns="27432" tIns="18288" rIns="27432" bIns="18288">
            <a:spAutoFit/>
          </a:bodyPr>
          <a:lstStyle/>
          <a:p>
            <a:pPr algn="ctr">
              <a:defRPr sz="950" b="0" i="0">
                <a:solidFill>
                  <a:srgbClr val="5F6C76"/>
                </a:solidFill>
                <a:latin typeface="Arial"/>
              </a:defRPr>
            </a:pPr>
            <a:r>
              <a:rPr sz="1200" dirty="0" err="1"/>
              <a:t>Tính</a:t>
            </a:r>
            <a:r>
              <a:rPr sz="1200" dirty="0"/>
              <a:t> </a:t>
            </a:r>
            <a:r>
              <a:rPr sz="1200" dirty="0" err="1"/>
              <a:t>chung</a:t>
            </a:r>
            <a:r>
              <a:rPr sz="1200" dirty="0"/>
              <a:t> </a:t>
            </a:r>
            <a:r>
              <a:rPr sz="1200" dirty="0" err="1"/>
              <a:t>các</a:t>
            </a:r>
            <a:r>
              <a:rPr sz="1200" dirty="0"/>
              <a:t> </a:t>
            </a:r>
            <a:r>
              <a:rPr sz="1200" dirty="0" err="1"/>
              <a:t>nhóm</a:t>
            </a:r>
            <a:r>
              <a:rPr sz="1200" dirty="0"/>
              <a:t> </a:t>
            </a:r>
            <a:r>
              <a:rPr sz="1200" dirty="0" err="1"/>
              <a:t>trong</a:t>
            </a:r>
            <a:r>
              <a:rPr sz="1200" dirty="0"/>
              <a:t> </a:t>
            </a:r>
            <a:endParaRPr lang="vi-VN" sz="1200" dirty="0"/>
          </a:p>
          <a:p>
            <a:pPr algn="ctr">
              <a:defRPr sz="950" b="0" i="0">
                <a:solidFill>
                  <a:srgbClr val="5F6C76"/>
                </a:solidFill>
                <a:latin typeface="Arial"/>
              </a:defRPr>
            </a:pPr>
            <a:r>
              <a:rPr sz="1200" dirty="0" err="1"/>
              <a:t>báo</a:t>
            </a:r>
            <a:r>
              <a:rPr sz="1200" dirty="0"/>
              <a:t> </a:t>
            </a:r>
            <a:r>
              <a:rPr sz="1200" dirty="0" err="1"/>
              <a:t>cáo</a:t>
            </a:r>
            <a:endParaRPr sz="1200" dirty="0"/>
          </a:p>
        </p:txBody>
      </p:sp>
      <p:sp>
        <p:nvSpPr>
          <p:cNvPr id="26" name="Rounded Rectangle 25"/>
          <p:cNvSpPr/>
          <p:nvPr/>
        </p:nvSpPr>
        <p:spPr>
          <a:xfrm>
            <a:off x="822960" y="3246120"/>
            <a:ext cx="5303520" cy="1746504"/>
          </a:xfrm>
          <a:prstGeom prst="roundRect">
            <a:avLst/>
          </a:prstGeom>
          <a:solidFill>
            <a:srgbClr val="E8F6EE"/>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2960" y="3246120"/>
            <a:ext cx="73152" cy="1600200"/>
          </a:xfrm>
          <a:prstGeom prst="rect">
            <a:avLst/>
          </a:prstGeom>
          <a:solidFill>
            <a:srgbClr val="27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87552" y="3383279"/>
            <a:ext cx="5029200" cy="292608"/>
          </a:xfrm>
          <a:prstGeom prst="rect">
            <a:avLst/>
          </a:prstGeom>
          <a:noFill/>
        </p:spPr>
        <p:txBody>
          <a:bodyPr wrap="square" lIns="27432" tIns="18288" rIns="27432" bIns="18288">
            <a:spAutoFit/>
          </a:bodyPr>
          <a:lstStyle/>
          <a:p>
            <a:pPr algn="l">
              <a:defRPr sz="1600" b="1" i="0">
                <a:solidFill>
                  <a:srgbClr val="143E4C"/>
                </a:solidFill>
                <a:latin typeface="Arial"/>
              </a:defRPr>
            </a:pPr>
            <a:r>
              <a:t>Điểm tích cực</a:t>
            </a:r>
          </a:p>
        </p:txBody>
      </p:sp>
      <p:sp>
        <p:nvSpPr>
          <p:cNvPr id="29" name="TextBox 28"/>
          <p:cNvSpPr txBox="1"/>
          <p:nvPr/>
        </p:nvSpPr>
        <p:spPr>
          <a:xfrm>
            <a:off x="987552" y="3749039"/>
            <a:ext cx="5029200" cy="1216230"/>
          </a:xfrm>
          <a:prstGeom prst="rect">
            <a:avLst/>
          </a:prstGeom>
          <a:noFill/>
        </p:spPr>
        <p:txBody>
          <a:bodyPr wrap="square" lIns="73152" tIns="54864" rIns="73152" bIns="54864">
            <a:spAutoFit/>
          </a:bodyPr>
          <a:lstStyle/>
          <a:p>
            <a:pPr>
              <a:lnSpc>
                <a:spcPct val="100000"/>
              </a:lnSpc>
              <a:spcAft>
                <a:spcPts val="500"/>
              </a:spcAft>
              <a:defRPr sz="1270" b="0">
                <a:solidFill>
                  <a:srgbClr val="303840"/>
                </a:solidFill>
                <a:latin typeface="Arial"/>
              </a:defRPr>
            </a:pPr>
            <a:r>
              <a:rPr dirty="0"/>
              <a:t>• </a:t>
            </a:r>
            <a:r>
              <a:rPr dirty="0" err="1"/>
              <a:t>Các</a:t>
            </a:r>
            <a:r>
              <a:rPr dirty="0"/>
              <a:t> </a:t>
            </a:r>
            <a:r>
              <a:rPr dirty="0" err="1"/>
              <a:t>địa</a:t>
            </a:r>
            <a:r>
              <a:rPr dirty="0"/>
              <a:t> </a:t>
            </a:r>
            <a:r>
              <a:rPr dirty="0" err="1"/>
              <a:t>phương</a:t>
            </a:r>
            <a:r>
              <a:rPr dirty="0"/>
              <a:t>, </a:t>
            </a:r>
            <a:r>
              <a:rPr dirty="0" err="1"/>
              <a:t>đơn</a:t>
            </a:r>
            <a:r>
              <a:rPr dirty="0"/>
              <a:t> </a:t>
            </a:r>
            <a:r>
              <a:rPr dirty="0" err="1"/>
              <a:t>vị</a:t>
            </a:r>
            <a:r>
              <a:rPr dirty="0"/>
              <a:t> </a:t>
            </a:r>
            <a:r>
              <a:rPr dirty="0" err="1"/>
              <a:t>tổ</a:t>
            </a:r>
            <a:r>
              <a:rPr dirty="0"/>
              <a:t> </a:t>
            </a:r>
            <a:r>
              <a:rPr dirty="0" err="1"/>
              <a:t>chức</a:t>
            </a:r>
            <a:r>
              <a:rPr dirty="0"/>
              <a:t> </a:t>
            </a:r>
            <a:r>
              <a:rPr dirty="0" err="1"/>
              <a:t>nghiêm</a:t>
            </a:r>
            <a:r>
              <a:rPr dirty="0"/>
              <a:t> </a:t>
            </a:r>
            <a:r>
              <a:rPr dirty="0" err="1"/>
              <a:t>túc</a:t>
            </a:r>
            <a:r>
              <a:rPr dirty="0"/>
              <a:t>, </a:t>
            </a:r>
            <a:r>
              <a:rPr dirty="0" err="1"/>
              <a:t>đồng</a:t>
            </a:r>
            <a:r>
              <a:rPr dirty="0"/>
              <a:t> </a:t>
            </a:r>
            <a:r>
              <a:rPr dirty="0" err="1"/>
              <a:t>bộ</a:t>
            </a:r>
            <a:r>
              <a:rPr dirty="0"/>
              <a:t>.</a:t>
            </a:r>
          </a:p>
          <a:p>
            <a:pPr>
              <a:lnSpc>
                <a:spcPct val="100000"/>
              </a:lnSpc>
              <a:spcAft>
                <a:spcPts val="500"/>
              </a:spcAft>
              <a:defRPr sz="1270" b="0">
                <a:solidFill>
                  <a:srgbClr val="303840"/>
                </a:solidFill>
                <a:latin typeface="Arial"/>
              </a:defRPr>
            </a:pPr>
            <a:r>
              <a:rPr dirty="0"/>
              <a:t>• </a:t>
            </a:r>
            <a:r>
              <a:rPr dirty="0" err="1"/>
              <a:t>Có</a:t>
            </a:r>
            <a:r>
              <a:rPr dirty="0"/>
              <a:t> </a:t>
            </a:r>
            <a:r>
              <a:rPr dirty="0" err="1"/>
              <a:t>phối</a:t>
            </a:r>
            <a:r>
              <a:rPr dirty="0"/>
              <a:t> </a:t>
            </a:r>
            <a:r>
              <a:rPr dirty="0" err="1"/>
              <a:t>hợp</a:t>
            </a:r>
            <a:r>
              <a:rPr dirty="0"/>
              <a:t> </a:t>
            </a:r>
            <a:r>
              <a:rPr dirty="0" err="1"/>
              <a:t>giữa</a:t>
            </a:r>
            <a:r>
              <a:rPr dirty="0"/>
              <a:t> </a:t>
            </a:r>
            <a:r>
              <a:rPr dirty="0" err="1"/>
              <a:t>chính</a:t>
            </a:r>
            <a:r>
              <a:rPr dirty="0"/>
              <a:t> </a:t>
            </a:r>
            <a:r>
              <a:rPr dirty="0" err="1"/>
              <a:t>quyền</a:t>
            </a:r>
            <a:r>
              <a:rPr dirty="0"/>
              <a:t> </a:t>
            </a:r>
            <a:r>
              <a:rPr dirty="0" err="1"/>
              <a:t>cơ</a:t>
            </a:r>
            <a:r>
              <a:rPr dirty="0"/>
              <a:t> </a:t>
            </a:r>
            <a:r>
              <a:rPr dirty="0" err="1"/>
              <a:t>sở</a:t>
            </a:r>
            <a:r>
              <a:rPr dirty="0"/>
              <a:t>, </a:t>
            </a:r>
            <a:r>
              <a:rPr dirty="0" err="1"/>
              <a:t>Trạm</a:t>
            </a:r>
            <a:r>
              <a:rPr dirty="0"/>
              <a:t> Y </a:t>
            </a:r>
            <a:r>
              <a:rPr dirty="0" err="1"/>
              <a:t>tế</a:t>
            </a:r>
            <a:r>
              <a:rPr dirty="0"/>
              <a:t> </a:t>
            </a:r>
            <a:r>
              <a:rPr dirty="0" err="1"/>
              <a:t>và</a:t>
            </a:r>
            <a:r>
              <a:rPr dirty="0"/>
              <a:t> </a:t>
            </a:r>
            <a:r>
              <a:rPr dirty="0" err="1"/>
              <a:t>bệnh</a:t>
            </a:r>
            <a:r>
              <a:rPr dirty="0"/>
              <a:t> </a:t>
            </a:r>
            <a:r>
              <a:rPr dirty="0" err="1"/>
              <a:t>viện</a:t>
            </a:r>
            <a:r>
              <a:rPr dirty="0"/>
              <a:t> </a:t>
            </a:r>
            <a:r>
              <a:rPr dirty="0" err="1"/>
              <a:t>hỗ</a:t>
            </a:r>
            <a:r>
              <a:rPr dirty="0"/>
              <a:t> </a:t>
            </a:r>
            <a:r>
              <a:rPr dirty="0" err="1"/>
              <a:t>trợ</a:t>
            </a:r>
            <a:r>
              <a:rPr dirty="0"/>
              <a:t>.</a:t>
            </a:r>
          </a:p>
          <a:p>
            <a:pPr>
              <a:lnSpc>
                <a:spcPct val="100000"/>
              </a:lnSpc>
              <a:spcAft>
                <a:spcPts val="500"/>
              </a:spcAft>
              <a:defRPr sz="1270" b="0">
                <a:solidFill>
                  <a:srgbClr val="303840"/>
                </a:solidFill>
                <a:latin typeface="Arial"/>
              </a:defRPr>
            </a:pPr>
            <a:r>
              <a:rPr dirty="0"/>
              <a:t>• </a:t>
            </a:r>
            <a:r>
              <a:rPr dirty="0" err="1"/>
              <a:t>Người</a:t>
            </a:r>
            <a:r>
              <a:rPr dirty="0"/>
              <a:t> </a:t>
            </a:r>
            <a:r>
              <a:rPr dirty="0" err="1"/>
              <a:t>dân</a:t>
            </a:r>
            <a:r>
              <a:rPr dirty="0"/>
              <a:t> </a:t>
            </a:r>
            <a:r>
              <a:rPr dirty="0" err="1"/>
              <a:t>quan</a:t>
            </a:r>
            <a:r>
              <a:rPr dirty="0"/>
              <a:t> </a:t>
            </a:r>
            <a:r>
              <a:rPr dirty="0" err="1"/>
              <a:t>tâm</a:t>
            </a:r>
            <a:r>
              <a:rPr dirty="0"/>
              <a:t>, </a:t>
            </a:r>
            <a:r>
              <a:rPr dirty="0" err="1"/>
              <a:t>đặc</a:t>
            </a:r>
            <a:r>
              <a:rPr dirty="0"/>
              <a:t> </a:t>
            </a:r>
            <a:r>
              <a:rPr dirty="0" err="1"/>
              <a:t>biệt</a:t>
            </a:r>
            <a:r>
              <a:rPr dirty="0"/>
              <a:t> </a:t>
            </a:r>
            <a:r>
              <a:rPr dirty="0" err="1"/>
              <a:t>nhóm</a:t>
            </a:r>
            <a:r>
              <a:rPr dirty="0"/>
              <a:t> </a:t>
            </a:r>
            <a:r>
              <a:rPr dirty="0" err="1"/>
              <a:t>trẻ</a:t>
            </a:r>
            <a:r>
              <a:rPr dirty="0"/>
              <a:t> </a:t>
            </a:r>
            <a:r>
              <a:rPr dirty="0" err="1"/>
              <a:t>dưới</a:t>
            </a:r>
            <a:r>
              <a:rPr dirty="0"/>
              <a:t> 6 </a:t>
            </a:r>
            <a:r>
              <a:rPr lang="vi-VN" dirty="0"/>
              <a:t>tuổi, 6-18 tuổi</a:t>
            </a:r>
            <a:r>
              <a:rPr dirty="0"/>
              <a:t> </a:t>
            </a:r>
            <a:r>
              <a:rPr dirty="0" err="1"/>
              <a:t>và</a:t>
            </a:r>
            <a:r>
              <a:rPr dirty="0"/>
              <a:t> </a:t>
            </a:r>
            <a:r>
              <a:rPr dirty="0" err="1"/>
              <a:t>nhóm</a:t>
            </a:r>
            <a:r>
              <a:rPr dirty="0"/>
              <a:t> </a:t>
            </a:r>
            <a:r>
              <a:rPr dirty="0" err="1"/>
              <a:t>ưu</a:t>
            </a:r>
            <a:r>
              <a:rPr dirty="0"/>
              <a:t> </a:t>
            </a:r>
            <a:r>
              <a:rPr dirty="0" err="1"/>
              <a:t>tiên</a:t>
            </a:r>
            <a:r>
              <a:rPr dirty="0"/>
              <a:t>.</a:t>
            </a:r>
          </a:p>
        </p:txBody>
      </p:sp>
      <p:sp>
        <p:nvSpPr>
          <p:cNvPr id="30" name="Rounded Rectangle 29"/>
          <p:cNvSpPr/>
          <p:nvPr/>
        </p:nvSpPr>
        <p:spPr>
          <a:xfrm>
            <a:off x="6400800" y="3246120"/>
            <a:ext cx="5212080" cy="1600200"/>
          </a:xfrm>
          <a:prstGeom prst="roundRect">
            <a:avLst/>
          </a:prstGeom>
          <a:solidFill>
            <a:srgbClr val="FFF2E2"/>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400800" y="3246120"/>
            <a:ext cx="73152" cy="1600200"/>
          </a:xfrm>
          <a:prstGeom prst="rect">
            <a:avLst/>
          </a:prstGeom>
          <a:solidFill>
            <a:srgbClr val="F18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65392" y="3383279"/>
            <a:ext cx="4937760" cy="292608"/>
          </a:xfrm>
          <a:prstGeom prst="rect">
            <a:avLst/>
          </a:prstGeom>
          <a:noFill/>
        </p:spPr>
        <p:txBody>
          <a:bodyPr wrap="square" lIns="27432" tIns="18288" rIns="27432" bIns="18288">
            <a:spAutoFit/>
          </a:bodyPr>
          <a:lstStyle/>
          <a:p>
            <a:pPr algn="l">
              <a:defRPr sz="1600" b="1" i="0">
                <a:solidFill>
                  <a:srgbClr val="143E4C"/>
                </a:solidFill>
                <a:latin typeface="Arial"/>
              </a:defRPr>
            </a:pPr>
            <a:r>
              <a:t>Cần tiếp tục củng cố</a:t>
            </a:r>
          </a:p>
        </p:txBody>
      </p:sp>
      <p:sp>
        <p:nvSpPr>
          <p:cNvPr id="33" name="TextBox 32"/>
          <p:cNvSpPr txBox="1"/>
          <p:nvPr/>
        </p:nvSpPr>
        <p:spPr>
          <a:xfrm>
            <a:off x="6565392" y="3749039"/>
            <a:ext cx="4937760" cy="1005840"/>
          </a:xfrm>
          <a:prstGeom prst="rect">
            <a:avLst/>
          </a:prstGeom>
          <a:noFill/>
        </p:spPr>
        <p:txBody>
          <a:bodyPr wrap="square" lIns="73152" tIns="54864" rIns="73152" bIns="54864">
            <a:spAutoFit/>
          </a:bodyPr>
          <a:lstStyle/>
          <a:p>
            <a:pPr>
              <a:lnSpc>
                <a:spcPct val="100000"/>
              </a:lnSpc>
              <a:spcAft>
                <a:spcPts val="500"/>
              </a:spcAft>
              <a:defRPr sz="1270" b="0">
                <a:solidFill>
                  <a:srgbClr val="303840"/>
                </a:solidFill>
                <a:latin typeface="Arial"/>
              </a:defRPr>
            </a:pPr>
            <a:r>
              <a:t>• Rà soát, lập danh sách đối tượng phải đúng và đủ.</a:t>
            </a:r>
          </a:p>
          <a:p>
            <a:pPr>
              <a:lnSpc>
                <a:spcPct val="100000"/>
              </a:lnSpc>
              <a:spcAft>
                <a:spcPts val="500"/>
              </a:spcAft>
              <a:defRPr sz="1270" b="0">
                <a:solidFill>
                  <a:srgbClr val="303840"/>
                </a:solidFill>
                <a:latin typeface="Arial"/>
              </a:defRPr>
            </a:pPr>
            <a:r>
              <a:t>• Điều phối điểm khám theo khung giờ, tránh ùn ứ.</a:t>
            </a:r>
          </a:p>
          <a:p>
            <a:pPr>
              <a:lnSpc>
                <a:spcPct val="100000"/>
              </a:lnSpc>
              <a:spcAft>
                <a:spcPts val="500"/>
              </a:spcAft>
              <a:defRPr sz="1270" b="0">
                <a:solidFill>
                  <a:srgbClr val="303840"/>
                </a:solidFill>
                <a:latin typeface="Arial"/>
              </a:defRPr>
            </a:pPr>
            <a:r>
              <a:t>• Dữ liệu khám phải cập nhật HSSKĐT, khớp hồ sơ và báo cáo.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6492240"/>
            <a:ext cx="11384280" cy="9144"/>
          </a:xfrm>
          <a:prstGeom prst="rect">
            <a:avLst/>
          </a:prstGeom>
          <a:solidFill>
            <a:srgbClr val="CF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256032"/>
            <a:ext cx="7863840" cy="344710"/>
          </a:xfrm>
          <a:prstGeom prst="rect">
            <a:avLst/>
          </a:prstGeom>
          <a:noFill/>
        </p:spPr>
        <p:txBody>
          <a:bodyPr wrap="square" lIns="27432" tIns="18288" rIns="27432" bIns="18288">
            <a:spAutoFit/>
          </a:bodyPr>
          <a:lstStyle/>
          <a:p>
            <a:pPr algn="ctr">
              <a:defRPr sz="950" b="1" i="0">
                <a:solidFill>
                  <a:srgbClr val="008084"/>
                </a:solidFill>
                <a:latin typeface="Arial"/>
              </a:defRPr>
            </a:pPr>
            <a:r>
              <a:rPr sz="2000" dirty="0"/>
              <a:t>Rút </a:t>
            </a:r>
            <a:r>
              <a:rPr sz="2000" dirty="0" err="1"/>
              <a:t>kinh</a:t>
            </a:r>
            <a:r>
              <a:rPr sz="2000" dirty="0"/>
              <a:t> </a:t>
            </a:r>
            <a:r>
              <a:rPr sz="2000" dirty="0" err="1"/>
              <a:t>nghiệm</a:t>
            </a:r>
            <a:endParaRPr sz="2000" dirty="0"/>
          </a:p>
        </p:txBody>
      </p:sp>
      <p:sp>
        <p:nvSpPr>
          <p:cNvPr id="5" name="TextBox 4"/>
          <p:cNvSpPr txBox="1"/>
          <p:nvPr/>
        </p:nvSpPr>
        <p:spPr>
          <a:xfrm>
            <a:off x="9144000" y="256032"/>
            <a:ext cx="2697480" cy="201168"/>
          </a:xfrm>
          <a:prstGeom prst="rect">
            <a:avLst/>
          </a:prstGeom>
          <a:noFill/>
        </p:spPr>
        <p:txBody>
          <a:bodyPr wrap="square" lIns="27432" tIns="18288" rIns="27432" bIns="18288">
            <a:spAutoFit/>
          </a:bodyPr>
          <a:lstStyle/>
          <a:p>
            <a:pPr algn="r">
              <a:defRPr sz="950" b="0" i="0">
                <a:solidFill>
                  <a:srgbClr val="5F6C76"/>
                </a:solidFill>
                <a:latin typeface="Arial"/>
              </a:defRPr>
            </a:pPr>
            <a:r>
              <a:t>Theo nội dung đánh giá, rút kinh nghiệm</a:t>
            </a:r>
          </a:p>
        </p:txBody>
      </p:sp>
      <p:sp>
        <p:nvSpPr>
          <p:cNvPr id="6" name="TextBox 5"/>
          <p:cNvSpPr txBox="1"/>
          <p:nvPr/>
        </p:nvSpPr>
        <p:spPr>
          <a:xfrm>
            <a:off x="502920" y="749808"/>
            <a:ext cx="10881360" cy="375487"/>
          </a:xfrm>
          <a:prstGeom prst="rect">
            <a:avLst/>
          </a:prstGeom>
          <a:noFill/>
        </p:spPr>
        <p:txBody>
          <a:bodyPr wrap="square" lIns="27432" tIns="18288" rIns="27432" bIns="18288">
            <a:spAutoFit/>
          </a:bodyPr>
          <a:lstStyle/>
          <a:p>
            <a:pPr algn="l">
              <a:defRPr sz="2200" b="1" i="0">
                <a:solidFill>
                  <a:srgbClr val="143E4C"/>
                </a:solidFill>
                <a:latin typeface="Arial"/>
              </a:defRPr>
            </a:pPr>
            <a:r>
              <a:rPr dirty="0"/>
              <a:t>1: CHỈ ĐẠO VÀ TRUYỀN THÔNG</a:t>
            </a:r>
          </a:p>
        </p:txBody>
      </p:sp>
      <p:sp>
        <p:nvSpPr>
          <p:cNvPr id="7" name="TextBox 6"/>
          <p:cNvSpPr txBox="1"/>
          <p:nvPr/>
        </p:nvSpPr>
        <p:spPr>
          <a:xfrm>
            <a:off x="502920" y="1078992"/>
            <a:ext cx="11064240" cy="329184"/>
          </a:xfrm>
          <a:prstGeom prst="rect">
            <a:avLst/>
          </a:prstGeom>
          <a:noFill/>
        </p:spPr>
        <p:txBody>
          <a:bodyPr wrap="square" lIns="27432" tIns="18288" rIns="27432" bIns="18288">
            <a:spAutoFit/>
          </a:bodyPr>
          <a:lstStyle/>
          <a:p>
            <a:pPr algn="l">
              <a:defRPr sz="1550" b="0" i="0">
                <a:solidFill>
                  <a:srgbClr val="5F6C76"/>
                </a:solidFill>
                <a:latin typeface="Arial"/>
              </a:defRPr>
            </a:pPr>
            <a:r>
              <a:t>Sự vào cuộc của chính quyền cơ sở và truyền thông đến tận người dân quyết định tỷ lệ tham gia.</a:t>
            </a:r>
          </a:p>
        </p:txBody>
      </p:sp>
      <p:sp>
        <p:nvSpPr>
          <p:cNvPr id="8" name="TextBox 7"/>
          <p:cNvSpPr txBox="1"/>
          <p:nvPr/>
        </p:nvSpPr>
        <p:spPr>
          <a:xfrm>
            <a:off x="411480" y="6601968"/>
            <a:ext cx="6400800" cy="164592"/>
          </a:xfrm>
          <a:prstGeom prst="rect">
            <a:avLst/>
          </a:prstGeom>
          <a:noFill/>
        </p:spPr>
        <p:txBody>
          <a:bodyPr wrap="square" lIns="27432" tIns="18288" rIns="27432" bIns="18288">
            <a:spAutoFit/>
          </a:bodyPr>
          <a:lstStyle/>
          <a:p>
            <a:pPr algn="l">
              <a:defRPr sz="750" b="0" i="0">
                <a:solidFill>
                  <a:srgbClr val="5F6C76"/>
                </a:solidFill>
                <a:latin typeface="Arial"/>
              </a:defRPr>
            </a:pPr>
            <a:r>
              <a:t>SỞ Y TẾ HÀ NỘI | Tập huấn khám sàng lọc miễn phí năm 2026</a:t>
            </a:r>
          </a:p>
        </p:txBody>
      </p:sp>
      <p:sp>
        <p:nvSpPr>
          <p:cNvPr id="9" name="TextBox 8"/>
          <p:cNvSpPr txBox="1"/>
          <p:nvPr/>
        </p:nvSpPr>
        <p:spPr>
          <a:xfrm>
            <a:off x="11475720" y="6601968"/>
            <a:ext cx="320040" cy="164592"/>
          </a:xfrm>
          <a:prstGeom prst="rect">
            <a:avLst/>
          </a:prstGeom>
          <a:noFill/>
        </p:spPr>
        <p:txBody>
          <a:bodyPr wrap="square" lIns="27432" tIns="18288" rIns="27432" bIns="18288">
            <a:spAutoFit/>
          </a:bodyPr>
          <a:lstStyle/>
          <a:p>
            <a:pPr algn="r">
              <a:defRPr sz="750" b="0" i="0">
                <a:solidFill>
                  <a:srgbClr val="5F6C76"/>
                </a:solidFill>
                <a:latin typeface="Arial"/>
              </a:defRPr>
            </a:pPr>
            <a:r>
              <a:t>22</a:t>
            </a:r>
          </a:p>
        </p:txBody>
      </p:sp>
      <p:sp>
        <p:nvSpPr>
          <p:cNvPr id="10" name="Oval 9"/>
          <p:cNvSpPr/>
          <p:nvPr/>
        </p:nvSpPr>
        <p:spPr>
          <a:xfrm>
            <a:off x="822960" y="1645920"/>
            <a:ext cx="347472" cy="347472"/>
          </a:xfrm>
          <a:prstGeom prst="ellipse">
            <a:avLst/>
          </a:prstGeom>
          <a:solidFill>
            <a:srgbClr val="008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1714500"/>
            <a:ext cx="347472" cy="182880"/>
          </a:xfrm>
          <a:prstGeom prst="rect">
            <a:avLst/>
          </a:prstGeom>
          <a:noFill/>
        </p:spPr>
        <p:txBody>
          <a:bodyPr wrap="square" lIns="27432" tIns="18288" rIns="27432" bIns="18288">
            <a:spAutoFit/>
          </a:bodyPr>
          <a:lstStyle/>
          <a:p>
            <a:pPr algn="ctr">
              <a:defRPr sz="1050" b="1" i="0">
                <a:solidFill>
                  <a:srgbClr val="FFFFFF"/>
                </a:solidFill>
                <a:latin typeface="Arial"/>
              </a:defRPr>
            </a:pPr>
            <a:r>
              <a:t>1</a:t>
            </a:r>
          </a:p>
        </p:txBody>
      </p:sp>
      <p:sp>
        <p:nvSpPr>
          <p:cNvPr id="12" name="TextBox 11"/>
          <p:cNvSpPr txBox="1"/>
          <p:nvPr/>
        </p:nvSpPr>
        <p:spPr>
          <a:xfrm>
            <a:off x="1325880" y="1636776"/>
            <a:ext cx="4206240" cy="256032"/>
          </a:xfrm>
          <a:prstGeom prst="rect">
            <a:avLst/>
          </a:prstGeom>
          <a:noFill/>
        </p:spPr>
        <p:txBody>
          <a:bodyPr wrap="square" lIns="27432" tIns="18288" rIns="27432" bIns="18288">
            <a:spAutoFit/>
          </a:bodyPr>
          <a:lstStyle/>
          <a:p>
            <a:pPr algn="l">
              <a:defRPr sz="1550" b="1" i="0">
                <a:solidFill>
                  <a:srgbClr val="143E4C"/>
                </a:solidFill>
                <a:latin typeface="Arial"/>
              </a:defRPr>
            </a:pPr>
            <a:r>
              <a:t>Lãnh đạo địa phương vào cuộc</a:t>
            </a:r>
          </a:p>
        </p:txBody>
      </p:sp>
      <p:sp>
        <p:nvSpPr>
          <p:cNvPr id="13" name="TextBox 12"/>
          <p:cNvSpPr txBox="1"/>
          <p:nvPr/>
        </p:nvSpPr>
        <p:spPr>
          <a:xfrm>
            <a:off x="1325880" y="1965960"/>
            <a:ext cx="4663440" cy="701731"/>
          </a:xfrm>
          <a:prstGeom prst="rect">
            <a:avLst/>
          </a:prstGeom>
          <a:noFill/>
        </p:spPr>
        <p:txBody>
          <a:bodyPr wrap="square" lIns="73152" tIns="54864" rIns="73152" bIns="54864">
            <a:spAutoFit/>
          </a:bodyPr>
          <a:lstStyle/>
          <a:p>
            <a:pPr>
              <a:lnSpc>
                <a:spcPct val="100000"/>
              </a:lnSpc>
              <a:spcAft>
                <a:spcPts val="500"/>
              </a:spcAft>
              <a:defRPr sz="1280" b="0">
                <a:solidFill>
                  <a:srgbClr val="303840"/>
                </a:solidFill>
                <a:latin typeface="Arial"/>
              </a:defRPr>
            </a:pPr>
            <a:r>
              <a:rPr dirty="0"/>
              <a:t>UBND </a:t>
            </a:r>
            <a:r>
              <a:rPr dirty="0" err="1"/>
              <a:t>phường</a:t>
            </a:r>
            <a:r>
              <a:rPr dirty="0"/>
              <a:t>, </a:t>
            </a:r>
            <a:r>
              <a:rPr dirty="0" err="1"/>
              <a:t>xã</a:t>
            </a:r>
            <a:r>
              <a:rPr dirty="0"/>
              <a:t> </a:t>
            </a:r>
            <a:r>
              <a:rPr dirty="0" err="1"/>
              <a:t>chỉ</a:t>
            </a:r>
            <a:r>
              <a:rPr dirty="0"/>
              <a:t> </a:t>
            </a:r>
            <a:r>
              <a:rPr dirty="0" err="1"/>
              <a:t>đạo</a:t>
            </a:r>
            <a:r>
              <a:rPr dirty="0"/>
              <a:t> </a:t>
            </a:r>
            <a:r>
              <a:rPr dirty="0" err="1"/>
              <a:t>thống</a:t>
            </a:r>
            <a:r>
              <a:rPr dirty="0"/>
              <a:t> </a:t>
            </a:r>
            <a:r>
              <a:rPr dirty="0" err="1"/>
              <a:t>nhất</a:t>
            </a:r>
            <a:r>
              <a:rPr dirty="0"/>
              <a:t>; </a:t>
            </a:r>
            <a:r>
              <a:rPr dirty="0" err="1"/>
              <a:t>phân</a:t>
            </a:r>
            <a:r>
              <a:rPr dirty="0"/>
              <a:t> </a:t>
            </a:r>
            <a:r>
              <a:rPr dirty="0" err="1"/>
              <a:t>công</a:t>
            </a:r>
            <a:r>
              <a:rPr dirty="0"/>
              <a:t> </a:t>
            </a:r>
            <a:r>
              <a:rPr dirty="0" err="1"/>
              <a:t>rõ</a:t>
            </a:r>
            <a:r>
              <a:rPr dirty="0"/>
              <a:t> </a:t>
            </a:r>
            <a:r>
              <a:rPr dirty="0" err="1"/>
              <a:t>đầu</a:t>
            </a:r>
            <a:r>
              <a:rPr dirty="0"/>
              <a:t> </a:t>
            </a:r>
            <a:r>
              <a:rPr dirty="0" err="1"/>
              <a:t>mối</a:t>
            </a:r>
            <a:r>
              <a:rPr dirty="0"/>
              <a:t>, </a:t>
            </a:r>
            <a:r>
              <a:rPr dirty="0" err="1"/>
              <a:t>rõ</a:t>
            </a:r>
            <a:r>
              <a:rPr dirty="0"/>
              <a:t> </a:t>
            </a:r>
            <a:r>
              <a:rPr dirty="0" err="1"/>
              <a:t>nhiệm</a:t>
            </a:r>
            <a:r>
              <a:rPr dirty="0"/>
              <a:t> </a:t>
            </a:r>
            <a:r>
              <a:rPr dirty="0" err="1"/>
              <a:t>vụ</a:t>
            </a:r>
            <a:r>
              <a:rPr dirty="0"/>
              <a:t>, </a:t>
            </a:r>
            <a:r>
              <a:rPr dirty="0" err="1"/>
              <a:t>rõ</a:t>
            </a:r>
            <a:r>
              <a:rPr dirty="0"/>
              <a:t> </a:t>
            </a:r>
            <a:r>
              <a:rPr dirty="0" err="1"/>
              <a:t>địa</a:t>
            </a:r>
            <a:r>
              <a:rPr dirty="0"/>
              <a:t> </a:t>
            </a:r>
            <a:r>
              <a:rPr dirty="0" err="1"/>
              <a:t>bàn</a:t>
            </a:r>
            <a:r>
              <a:rPr dirty="0"/>
              <a:t>.</a:t>
            </a:r>
            <a:r>
              <a:rPr lang="vi-VN" dirty="0"/>
              <a:t> Phải thực sự vào cuộc không giao toàn bộ nhiệm vụ cho Trạm Y tế.</a:t>
            </a:r>
            <a:endParaRPr dirty="0"/>
          </a:p>
        </p:txBody>
      </p:sp>
      <p:sp>
        <p:nvSpPr>
          <p:cNvPr id="14" name="Oval 13"/>
          <p:cNvSpPr/>
          <p:nvPr/>
        </p:nvSpPr>
        <p:spPr>
          <a:xfrm>
            <a:off x="822960" y="2926080"/>
            <a:ext cx="347472" cy="347472"/>
          </a:xfrm>
          <a:prstGeom prst="ellipse">
            <a:avLst/>
          </a:prstGeom>
          <a:solidFill>
            <a:srgbClr val="27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994660"/>
            <a:ext cx="347472" cy="182880"/>
          </a:xfrm>
          <a:prstGeom prst="rect">
            <a:avLst/>
          </a:prstGeom>
          <a:noFill/>
        </p:spPr>
        <p:txBody>
          <a:bodyPr wrap="square" lIns="27432" tIns="18288" rIns="27432" bIns="18288">
            <a:spAutoFit/>
          </a:bodyPr>
          <a:lstStyle/>
          <a:p>
            <a:pPr algn="ctr">
              <a:defRPr sz="1050" b="1" i="0">
                <a:solidFill>
                  <a:srgbClr val="FFFFFF"/>
                </a:solidFill>
                <a:latin typeface="Arial"/>
              </a:defRPr>
            </a:pPr>
            <a:r>
              <a:t>2</a:t>
            </a:r>
          </a:p>
        </p:txBody>
      </p:sp>
      <p:sp>
        <p:nvSpPr>
          <p:cNvPr id="16" name="TextBox 15"/>
          <p:cNvSpPr txBox="1"/>
          <p:nvPr/>
        </p:nvSpPr>
        <p:spPr>
          <a:xfrm>
            <a:off x="1325880" y="2916936"/>
            <a:ext cx="4206240" cy="256032"/>
          </a:xfrm>
          <a:prstGeom prst="rect">
            <a:avLst/>
          </a:prstGeom>
          <a:noFill/>
        </p:spPr>
        <p:txBody>
          <a:bodyPr wrap="square" lIns="27432" tIns="18288" rIns="27432" bIns="18288">
            <a:spAutoFit/>
          </a:bodyPr>
          <a:lstStyle/>
          <a:p>
            <a:pPr algn="l">
              <a:defRPr sz="1550" b="1" i="0">
                <a:solidFill>
                  <a:srgbClr val="143E4C"/>
                </a:solidFill>
                <a:latin typeface="Arial"/>
              </a:defRPr>
            </a:pPr>
            <a:r>
              <a:t>Huy động ban, ngành, đoàn thể</a:t>
            </a:r>
          </a:p>
        </p:txBody>
      </p:sp>
      <p:sp>
        <p:nvSpPr>
          <p:cNvPr id="17" name="TextBox 16"/>
          <p:cNvSpPr txBox="1"/>
          <p:nvPr/>
        </p:nvSpPr>
        <p:spPr>
          <a:xfrm>
            <a:off x="1325880" y="3246120"/>
            <a:ext cx="4663440" cy="701731"/>
          </a:xfrm>
          <a:prstGeom prst="rect">
            <a:avLst/>
          </a:prstGeom>
          <a:noFill/>
        </p:spPr>
        <p:txBody>
          <a:bodyPr wrap="square" lIns="73152" tIns="54864" rIns="73152" bIns="54864">
            <a:spAutoFit/>
          </a:bodyPr>
          <a:lstStyle/>
          <a:p>
            <a:pPr>
              <a:lnSpc>
                <a:spcPct val="100000"/>
              </a:lnSpc>
              <a:spcAft>
                <a:spcPts val="500"/>
              </a:spcAft>
              <a:defRPr sz="1280" b="0">
                <a:solidFill>
                  <a:srgbClr val="303840"/>
                </a:solidFill>
                <a:latin typeface="Arial"/>
              </a:defRPr>
            </a:pPr>
            <a:r>
              <a:rPr dirty="0"/>
              <a:t>Phối </a:t>
            </a:r>
            <a:r>
              <a:rPr dirty="0" err="1"/>
              <a:t>hợp</a:t>
            </a:r>
            <a:r>
              <a:rPr dirty="0"/>
              <a:t> </a:t>
            </a:r>
            <a:r>
              <a:rPr dirty="0" err="1"/>
              <a:t>tổ</a:t>
            </a:r>
            <a:r>
              <a:rPr dirty="0"/>
              <a:t> </a:t>
            </a:r>
            <a:r>
              <a:rPr dirty="0" err="1"/>
              <a:t>dân</a:t>
            </a:r>
            <a:r>
              <a:rPr dirty="0"/>
              <a:t> </a:t>
            </a:r>
            <a:r>
              <a:rPr dirty="0" err="1"/>
              <a:t>phố</a:t>
            </a:r>
            <a:r>
              <a:rPr dirty="0"/>
              <a:t>, </a:t>
            </a:r>
            <a:r>
              <a:rPr dirty="0" err="1"/>
              <a:t>thôn</a:t>
            </a:r>
            <a:r>
              <a:rPr dirty="0"/>
              <a:t>, </a:t>
            </a:r>
            <a:r>
              <a:rPr dirty="0" err="1"/>
              <a:t>xóm</a:t>
            </a:r>
            <a:r>
              <a:rPr dirty="0"/>
              <a:t>, </a:t>
            </a:r>
            <a:r>
              <a:rPr dirty="0" err="1"/>
              <a:t>công</a:t>
            </a:r>
            <a:r>
              <a:rPr dirty="0"/>
              <a:t> an, </a:t>
            </a:r>
            <a:r>
              <a:rPr dirty="0" err="1"/>
              <a:t>đoàn</a:t>
            </a:r>
            <a:r>
              <a:rPr dirty="0"/>
              <a:t> </a:t>
            </a:r>
            <a:r>
              <a:rPr dirty="0" err="1"/>
              <a:t>thể</a:t>
            </a:r>
            <a:r>
              <a:rPr dirty="0"/>
              <a:t> </a:t>
            </a:r>
            <a:r>
              <a:rPr dirty="0" err="1"/>
              <a:t>để</a:t>
            </a:r>
            <a:r>
              <a:rPr dirty="0"/>
              <a:t> </a:t>
            </a:r>
            <a:r>
              <a:rPr dirty="0" err="1"/>
              <a:t>rà</a:t>
            </a:r>
            <a:r>
              <a:rPr dirty="0"/>
              <a:t> </a:t>
            </a:r>
            <a:r>
              <a:rPr dirty="0" err="1"/>
              <a:t>soát</a:t>
            </a:r>
            <a:r>
              <a:rPr dirty="0"/>
              <a:t>, </a:t>
            </a:r>
            <a:r>
              <a:rPr dirty="0" err="1"/>
              <a:t>mời</a:t>
            </a:r>
            <a:r>
              <a:rPr dirty="0"/>
              <a:t> </a:t>
            </a:r>
            <a:r>
              <a:rPr dirty="0" err="1"/>
              <a:t>và</a:t>
            </a:r>
            <a:r>
              <a:rPr dirty="0"/>
              <a:t> </a:t>
            </a:r>
            <a:r>
              <a:rPr dirty="0" err="1"/>
              <a:t>nhắc</a:t>
            </a:r>
            <a:r>
              <a:rPr dirty="0"/>
              <a:t> </a:t>
            </a:r>
            <a:r>
              <a:rPr dirty="0" err="1"/>
              <a:t>lịch</a:t>
            </a:r>
            <a:r>
              <a:rPr dirty="0"/>
              <a:t> </a:t>
            </a:r>
            <a:r>
              <a:rPr dirty="0" err="1"/>
              <a:t>người</a:t>
            </a:r>
            <a:r>
              <a:rPr dirty="0"/>
              <a:t> </a:t>
            </a:r>
            <a:r>
              <a:rPr dirty="0" err="1"/>
              <a:t>dân</a:t>
            </a:r>
            <a:r>
              <a:rPr dirty="0"/>
              <a:t>.</a:t>
            </a:r>
            <a:r>
              <a:rPr lang="vi-VN" dirty="0"/>
              <a:t> Xuống tận từng tận từng hộ gia đình để tư vấn, rà soát, vận động.</a:t>
            </a:r>
            <a:endParaRPr dirty="0"/>
          </a:p>
        </p:txBody>
      </p:sp>
      <p:sp>
        <p:nvSpPr>
          <p:cNvPr id="18" name="Oval 17"/>
          <p:cNvSpPr/>
          <p:nvPr/>
        </p:nvSpPr>
        <p:spPr>
          <a:xfrm>
            <a:off x="6400800" y="1645920"/>
            <a:ext cx="347472" cy="347472"/>
          </a:xfrm>
          <a:prstGeom prst="ellipse">
            <a:avLst/>
          </a:prstGeom>
          <a:solidFill>
            <a:srgbClr val="F18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1714500"/>
            <a:ext cx="347472" cy="182880"/>
          </a:xfrm>
          <a:prstGeom prst="rect">
            <a:avLst/>
          </a:prstGeom>
          <a:noFill/>
        </p:spPr>
        <p:txBody>
          <a:bodyPr wrap="square" lIns="27432" tIns="18288" rIns="27432" bIns="18288">
            <a:spAutoFit/>
          </a:bodyPr>
          <a:lstStyle/>
          <a:p>
            <a:pPr algn="ctr">
              <a:defRPr sz="1050" b="1" i="0">
                <a:solidFill>
                  <a:srgbClr val="FFFFFF"/>
                </a:solidFill>
                <a:latin typeface="Arial"/>
              </a:defRPr>
            </a:pPr>
            <a:r>
              <a:t>3</a:t>
            </a:r>
          </a:p>
        </p:txBody>
      </p:sp>
      <p:sp>
        <p:nvSpPr>
          <p:cNvPr id="20" name="TextBox 19"/>
          <p:cNvSpPr txBox="1"/>
          <p:nvPr/>
        </p:nvSpPr>
        <p:spPr>
          <a:xfrm>
            <a:off x="6903720" y="1636776"/>
            <a:ext cx="4206240" cy="256032"/>
          </a:xfrm>
          <a:prstGeom prst="rect">
            <a:avLst/>
          </a:prstGeom>
          <a:noFill/>
        </p:spPr>
        <p:txBody>
          <a:bodyPr wrap="square" lIns="27432" tIns="18288" rIns="27432" bIns="18288">
            <a:spAutoFit/>
          </a:bodyPr>
          <a:lstStyle/>
          <a:p>
            <a:pPr algn="l">
              <a:defRPr sz="1550" b="1" i="0">
                <a:solidFill>
                  <a:srgbClr val="143E4C"/>
                </a:solidFill>
                <a:latin typeface="Arial"/>
              </a:defRPr>
            </a:pPr>
            <a:r>
              <a:t>Truyền thông đa kênh</a:t>
            </a:r>
          </a:p>
        </p:txBody>
      </p:sp>
      <p:sp>
        <p:nvSpPr>
          <p:cNvPr id="21" name="TextBox 20"/>
          <p:cNvSpPr txBox="1"/>
          <p:nvPr/>
        </p:nvSpPr>
        <p:spPr>
          <a:xfrm>
            <a:off x="6903720" y="1965960"/>
            <a:ext cx="4663440" cy="685800"/>
          </a:xfrm>
          <a:prstGeom prst="rect">
            <a:avLst/>
          </a:prstGeom>
          <a:noFill/>
        </p:spPr>
        <p:txBody>
          <a:bodyPr wrap="square" lIns="73152" tIns="54864" rIns="73152" bIns="54864">
            <a:spAutoFit/>
          </a:bodyPr>
          <a:lstStyle/>
          <a:p>
            <a:pPr>
              <a:lnSpc>
                <a:spcPct val="100000"/>
              </a:lnSpc>
              <a:spcAft>
                <a:spcPts val="500"/>
              </a:spcAft>
              <a:defRPr sz="1280" b="0">
                <a:solidFill>
                  <a:srgbClr val="303840"/>
                </a:solidFill>
                <a:latin typeface="Arial"/>
              </a:defRPr>
            </a:pPr>
            <a:r>
              <a:rPr dirty="0" err="1"/>
              <a:t>Phát</a:t>
            </a:r>
            <a:r>
              <a:rPr dirty="0"/>
              <a:t> </a:t>
            </a:r>
            <a:r>
              <a:rPr dirty="0" err="1"/>
              <a:t>thanh</a:t>
            </a:r>
            <a:r>
              <a:rPr dirty="0"/>
              <a:t>, loa </a:t>
            </a:r>
            <a:r>
              <a:rPr dirty="0" err="1"/>
              <a:t>kéo</a:t>
            </a:r>
            <a:r>
              <a:rPr dirty="0"/>
              <a:t>, </a:t>
            </a:r>
            <a:r>
              <a:rPr dirty="0" err="1"/>
              <a:t>nhóm</a:t>
            </a:r>
            <a:r>
              <a:rPr dirty="0"/>
              <a:t> </a:t>
            </a:r>
            <a:r>
              <a:rPr dirty="0" err="1"/>
              <a:t>dân</a:t>
            </a:r>
            <a:r>
              <a:rPr dirty="0"/>
              <a:t> </a:t>
            </a:r>
            <a:r>
              <a:rPr dirty="0" err="1"/>
              <a:t>cư</a:t>
            </a:r>
            <a:r>
              <a:rPr dirty="0"/>
              <a:t>, </a:t>
            </a:r>
            <a:r>
              <a:rPr dirty="0" err="1"/>
              <a:t>thông</a:t>
            </a:r>
            <a:r>
              <a:rPr dirty="0"/>
              <a:t> </a:t>
            </a:r>
            <a:r>
              <a:rPr dirty="0" err="1"/>
              <a:t>báo</a:t>
            </a:r>
            <a:r>
              <a:rPr dirty="0"/>
              <a:t> </a:t>
            </a:r>
            <a:r>
              <a:rPr dirty="0" err="1"/>
              <a:t>trực</a:t>
            </a:r>
            <a:r>
              <a:rPr dirty="0"/>
              <a:t> </a:t>
            </a:r>
            <a:r>
              <a:rPr dirty="0" err="1"/>
              <a:t>tiếp</a:t>
            </a:r>
            <a:r>
              <a:rPr dirty="0"/>
              <a:t>; </a:t>
            </a:r>
            <a:r>
              <a:rPr dirty="0" err="1"/>
              <a:t>nội</a:t>
            </a:r>
            <a:r>
              <a:rPr dirty="0"/>
              <a:t> dung </a:t>
            </a:r>
            <a:r>
              <a:rPr dirty="0" err="1"/>
              <a:t>ngắn</a:t>
            </a:r>
            <a:r>
              <a:rPr dirty="0"/>
              <a:t>, </a:t>
            </a:r>
            <a:r>
              <a:rPr dirty="0" err="1"/>
              <a:t>dễ</a:t>
            </a:r>
            <a:r>
              <a:rPr dirty="0"/>
              <a:t> </a:t>
            </a:r>
            <a:r>
              <a:rPr dirty="0" err="1"/>
              <a:t>hiểu</a:t>
            </a:r>
            <a:r>
              <a:rPr dirty="0"/>
              <a:t>, </a:t>
            </a:r>
            <a:r>
              <a:rPr dirty="0" err="1"/>
              <a:t>có</a:t>
            </a:r>
            <a:r>
              <a:rPr dirty="0"/>
              <a:t> </a:t>
            </a:r>
            <a:r>
              <a:rPr dirty="0" err="1"/>
              <a:t>lịch</a:t>
            </a:r>
            <a:r>
              <a:rPr dirty="0"/>
              <a:t> </a:t>
            </a:r>
            <a:r>
              <a:rPr dirty="0" err="1"/>
              <a:t>và</a:t>
            </a:r>
            <a:r>
              <a:rPr dirty="0"/>
              <a:t> </a:t>
            </a:r>
            <a:r>
              <a:rPr dirty="0" err="1"/>
              <a:t>địa</a:t>
            </a:r>
            <a:r>
              <a:rPr dirty="0"/>
              <a:t> </a:t>
            </a:r>
            <a:r>
              <a:rPr dirty="0" err="1"/>
              <a:t>điểm</a:t>
            </a:r>
            <a:r>
              <a:rPr dirty="0"/>
              <a:t>.</a:t>
            </a:r>
          </a:p>
        </p:txBody>
      </p:sp>
      <p:sp>
        <p:nvSpPr>
          <p:cNvPr id="22" name="Oval 21"/>
          <p:cNvSpPr/>
          <p:nvPr/>
        </p:nvSpPr>
        <p:spPr>
          <a:xfrm>
            <a:off x="6400800" y="2926080"/>
            <a:ext cx="347472" cy="347472"/>
          </a:xfrm>
          <a:prstGeom prst="ellipse">
            <a:avLst/>
          </a:prstGeom>
          <a:solidFill>
            <a:srgbClr val="BE2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2994660"/>
            <a:ext cx="347472" cy="182880"/>
          </a:xfrm>
          <a:prstGeom prst="rect">
            <a:avLst/>
          </a:prstGeom>
          <a:noFill/>
        </p:spPr>
        <p:txBody>
          <a:bodyPr wrap="square" lIns="27432" tIns="18288" rIns="27432" bIns="18288">
            <a:spAutoFit/>
          </a:bodyPr>
          <a:lstStyle/>
          <a:p>
            <a:pPr algn="ctr">
              <a:defRPr sz="1050" b="1" i="0">
                <a:solidFill>
                  <a:srgbClr val="FFFFFF"/>
                </a:solidFill>
                <a:latin typeface="Arial"/>
              </a:defRPr>
            </a:pPr>
            <a:r>
              <a:t>4</a:t>
            </a:r>
          </a:p>
        </p:txBody>
      </p:sp>
      <p:sp>
        <p:nvSpPr>
          <p:cNvPr id="24" name="TextBox 23"/>
          <p:cNvSpPr txBox="1"/>
          <p:nvPr/>
        </p:nvSpPr>
        <p:spPr>
          <a:xfrm>
            <a:off x="6903720" y="2916936"/>
            <a:ext cx="4206240" cy="256032"/>
          </a:xfrm>
          <a:prstGeom prst="rect">
            <a:avLst/>
          </a:prstGeom>
          <a:noFill/>
        </p:spPr>
        <p:txBody>
          <a:bodyPr wrap="square" lIns="27432" tIns="18288" rIns="27432" bIns="18288">
            <a:spAutoFit/>
          </a:bodyPr>
          <a:lstStyle/>
          <a:p>
            <a:pPr algn="l">
              <a:defRPr sz="1550" b="1" i="0">
                <a:solidFill>
                  <a:srgbClr val="143E4C"/>
                </a:solidFill>
                <a:latin typeface="Arial"/>
              </a:defRPr>
            </a:pPr>
            <a:r>
              <a:t>Đúng thời điểm – đúng thông điệp</a:t>
            </a:r>
          </a:p>
        </p:txBody>
      </p:sp>
      <p:sp>
        <p:nvSpPr>
          <p:cNvPr id="25" name="TextBox 24"/>
          <p:cNvSpPr txBox="1"/>
          <p:nvPr/>
        </p:nvSpPr>
        <p:spPr>
          <a:xfrm>
            <a:off x="6903720" y="3246120"/>
            <a:ext cx="4663440" cy="685800"/>
          </a:xfrm>
          <a:prstGeom prst="rect">
            <a:avLst/>
          </a:prstGeom>
          <a:noFill/>
        </p:spPr>
        <p:txBody>
          <a:bodyPr wrap="square" lIns="73152" tIns="54864" rIns="73152" bIns="54864">
            <a:spAutoFit/>
          </a:bodyPr>
          <a:lstStyle/>
          <a:p>
            <a:pPr>
              <a:lnSpc>
                <a:spcPct val="100000"/>
              </a:lnSpc>
              <a:spcAft>
                <a:spcPts val="500"/>
              </a:spcAft>
              <a:defRPr sz="1280" b="0">
                <a:solidFill>
                  <a:srgbClr val="303840"/>
                </a:solidFill>
                <a:latin typeface="Arial"/>
              </a:defRPr>
            </a:pPr>
            <a:r>
              <a:rPr dirty="0" err="1"/>
              <a:t>Truyền</a:t>
            </a:r>
            <a:r>
              <a:rPr dirty="0"/>
              <a:t> </a:t>
            </a:r>
            <a:r>
              <a:rPr dirty="0" err="1"/>
              <a:t>thông</a:t>
            </a:r>
            <a:r>
              <a:rPr dirty="0"/>
              <a:t> </a:t>
            </a:r>
            <a:r>
              <a:rPr dirty="0" err="1"/>
              <a:t>trước</a:t>
            </a:r>
            <a:r>
              <a:rPr dirty="0"/>
              <a:t> </a:t>
            </a:r>
            <a:r>
              <a:rPr dirty="0" err="1"/>
              <a:t>ngày</a:t>
            </a:r>
            <a:r>
              <a:rPr dirty="0"/>
              <a:t> </a:t>
            </a:r>
            <a:r>
              <a:rPr dirty="0" err="1"/>
              <a:t>khám</a:t>
            </a:r>
            <a:r>
              <a:rPr dirty="0"/>
              <a:t>, </a:t>
            </a:r>
            <a:r>
              <a:rPr dirty="0" err="1"/>
              <a:t>nhắc</a:t>
            </a:r>
            <a:r>
              <a:rPr dirty="0"/>
              <a:t> </a:t>
            </a:r>
            <a:r>
              <a:rPr dirty="0" err="1"/>
              <a:t>lại</a:t>
            </a:r>
            <a:r>
              <a:rPr dirty="0"/>
              <a:t> </a:t>
            </a:r>
            <a:r>
              <a:rPr dirty="0" err="1"/>
              <a:t>theo</a:t>
            </a:r>
            <a:r>
              <a:rPr dirty="0"/>
              <a:t> </a:t>
            </a:r>
            <a:r>
              <a:rPr dirty="0" err="1"/>
              <a:t>khung</a:t>
            </a:r>
            <a:r>
              <a:rPr dirty="0"/>
              <a:t> </a:t>
            </a:r>
            <a:r>
              <a:rPr dirty="0" err="1"/>
              <a:t>giờ</a:t>
            </a:r>
            <a:r>
              <a:rPr dirty="0"/>
              <a:t>; </a:t>
            </a:r>
            <a:r>
              <a:rPr dirty="0" err="1"/>
              <a:t>giải</a:t>
            </a:r>
            <a:r>
              <a:rPr dirty="0"/>
              <a:t> </a:t>
            </a:r>
            <a:r>
              <a:rPr dirty="0" err="1"/>
              <a:t>thích</a:t>
            </a:r>
            <a:r>
              <a:rPr dirty="0"/>
              <a:t> </a:t>
            </a:r>
            <a:r>
              <a:rPr dirty="0" err="1"/>
              <a:t>quyền</a:t>
            </a:r>
            <a:r>
              <a:rPr dirty="0"/>
              <a:t> </a:t>
            </a:r>
            <a:r>
              <a:rPr dirty="0" err="1"/>
              <a:t>lợi</a:t>
            </a:r>
            <a:r>
              <a:rPr dirty="0"/>
              <a:t>, </a:t>
            </a:r>
            <a:r>
              <a:rPr dirty="0" err="1"/>
              <a:t>trách</a:t>
            </a:r>
            <a:r>
              <a:rPr dirty="0"/>
              <a:t> </a:t>
            </a:r>
            <a:r>
              <a:rPr dirty="0" err="1"/>
              <a:t>nhiệm</a:t>
            </a:r>
            <a:r>
              <a:rPr dirty="0"/>
              <a:t> </a:t>
            </a:r>
            <a:r>
              <a:rPr dirty="0" err="1"/>
              <a:t>và</a:t>
            </a:r>
            <a:r>
              <a:rPr dirty="0"/>
              <a:t> </a:t>
            </a:r>
            <a:r>
              <a:rPr dirty="0" err="1"/>
              <a:t>nội</a:t>
            </a:r>
            <a:r>
              <a:rPr dirty="0"/>
              <a:t> dung </a:t>
            </a:r>
            <a:r>
              <a:rPr dirty="0" err="1"/>
              <a:t>khám</a:t>
            </a:r>
            <a:r>
              <a:rPr dirty="0"/>
              <a:t>.</a:t>
            </a:r>
          </a:p>
        </p:txBody>
      </p:sp>
      <p:sp>
        <p:nvSpPr>
          <p:cNvPr id="26" name="Rounded Rectangle 25"/>
          <p:cNvSpPr/>
          <p:nvPr/>
        </p:nvSpPr>
        <p:spPr>
          <a:xfrm>
            <a:off x="914400" y="4983480"/>
            <a:ext cx="10515600" cy="850392"/>
          </a:xfrm>
          <a:prstGeom prst="roundRect">
            <a:avLst/>
          </a:prstGeom>
          <a:solidFill>
            <a:srgbClr val="E5F5F7"/>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14400" y="4983480"/>
            <a:ext cx="73152" cy="594360"/>
          </a:xfrm>
          <a:prstGeom prst="rect">
            <a:avLst/>
          </a:prstGeom>
          <a:solidFill>
            <a:srgbClr val="008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8992" y="5120640"/>
            <a:ext cx="10241280" cy="292608"/>
          </a:xfrm>
          <a:prstGeom prst="rect">
            <a:avLst/>
          </a:prstGeom>
          <a:noFill/>
        </p:spPr>
        <p:txBody>
          <a:bodyPr wrap="square" lIns="27432" tIns="18288" rIns="27432" bIns="18288">
            <a:spAutoFit/>
          </a:bodyPr>
          <a:lstStyle/>
          <a:p>
            <a:pPr algn="l">
              <a:defRPr sz="1400" b="1" i="0">
                <a:solidFill>
                  <a:srgbClr val="143E4C"/>
                </a:solidFill>
                <a:latin typeface="Arial"/>
              </a:defRPr>
            </a:pPr>
            <a:r>
              <a:t>Lưu ý vận hành</a:t>
            </a:r>
          </a:p>
        </p:txBody>
      </p:sp>
      <p:sp>
        <p:nvSpPr>
          <p:cNvPr id="29" name="TextBox 28"/>
          <p:cNvSpPr txBox="1"/>
          <p:nvPr/>
        </p:nvSpPr>
        <p:spPr>
          <a:xfrm>
            <a:off x="1078992" y="5486400"/>
            <a:ext cx="10241280" cy="0"/>
          </a:xfrm>
          <a:prstGeom prst="rect">
            <a:avLst/>
          </a:prstGeom>
          <a:noFill/>
        </p:spPr>
        <p:txBody>
          <a:bodyPr wrap="square" lIns="73152" tIns="54864" rIns="73152" bIns="54864">
            <a:spAutoFit/>
          </a:bodyPr>
          <a:lstStyle/>
          <a:p>
            <a:pPr>
              <a:lnSpc>
                <a:spcPct val="100000"/>
              </a:lnSpc>
              <a:spcAft>
                <a:spcPts val="500"/>
              </a:spcAft>
              <a:defRPr sz="1200" b="0">
                <a:solidFill>
                  <a:srgbClr val="303840"/>
                </a:solidFill>
                <a:latin typeface="Arial"/>
              </a:defRPr>
            </a:pPr>
            <a:r>
              <a:t>Không chỉ thông báo chung: cần tiếp cận đến tận người dân/tổ/thôn/xóm, đặc biệt nhóm người cao tuổi, neo đơn, khó tiếp cận thông tin.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6492240"/>
            <a:ext cx="11384280" cy="9144"/>
          </a:xfrm>
          <a:prstGeom prst="rect">
            <a:avLst/>
          </a:prstGeom>
          <a:solidFill>
            <a:srgbClr val="CF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0" y="256032"/>
            <a:ext cx="2697480" cy="201168"/>
          </a:xfrm>
          <a:prstGeom prst="rect">
            <a:avLst/>
          </a:prstGeom>
          <a:noFill/>
        </p:spPr>
        <p:txBody>
          <a:bodyPr wrap="square" lIns="27432" tIns="18288" rIns="27432" bIns="18288">
            <a:spAutoFit/>
          </a:bodyPr>
          <a:lstStyle/>
          <a:p>
            <a:pPr algn="r">
              <a:defRPr sz="950" b="0" i="0">
                <a:solidFill>
                  <a:srgbClr val="5F6C76"/>
                </a:solidFill>
                <a:latin typeface="Arial"/>
              </a:defRPr>
            </a:pPr>
            <a:r>
              <a:t>Theo nội dung đánh giá, rút kinh nghiệm</a:t>
            </a:r>
          </a:p>
        </p:txBody>
      </p:sp>
      <p:sp>
        <p:nvSpPr>
          <p:cNvPr id="6" name="TextBox 5"/>
          <p:cNvSpPr txBox="1"/>
          <p:nvPr/>
        </p:nvSpPr>
        <p:spPr>
          <a:xfrm>
            <a:off x="502920" y="749808"/>
            <a:ext cx="10881360" cy="375487"/>
          </a:xfrm>
          <a:prstGeom prst="rect">
            <a:avLst/>
          </a:prstGeom>
          <a:noFill/>
        </p:spPr>
        <p:txBody>
          <a:bodyPr wrap="square" lIns="27432" tIns="18288" rIns="27432" bIns="18288">
            <a:spAutoFit/>
          </a:bodyPr>
          <a:lstStyle/>
          <a:p>
            <a:pPr algn="l">
              <a:defRPr sz="2200" b="1" i="0">
                <a:solidFill>
                  <a:srgbClr val="143E4C"/>
                </a:solidFill>
                <a:latin typeface="Arial"/>
              </a:defRPr>
            </a:pPr>
            <a:r>
              <a:rPr dirty="0"/>
              <a:t>2: RÀ SOÁT, ĐIỀU TRA ĐỐI TƯỢNG</a:t>
            </a:r>
          </a:p>
        </p:txBody>
      </p:sp>
      <p:sp>
        <p:nvSpPr>
          <p:cNvPr id="7" name="TextBox 6"/>
          <p:cNvSpPr txBox="1"/>
          <p:nvPr/>
        </p:nvSpPr>
        <p:spPr>
          <a:xfrm>
            <a:off x="502920" y="1078992"/>
            <a:ext cx="11064240" cy="329184"/>
          </a:xfrm>
          <a:prstGeom prst="rect">
            <a:avLst/>
          </a:prstGeom>
          <a:noFill/>
        </p:spPr>
        <p:txBody>
          <a:bodyPr wrap="square" lIns="27432" tIns="18288" rIns="27432" bIns="18288">
            <a:spAutoFit/>
          </a:bodyPr>
          <a:lstStyle/>
          <a:p>
            <a:pPr algn="l">
              <a:defRPr sz="1550" b="0" i="0">
                <a:solidFill>
                  <a:srgbClr val="5F6C76"/>
                </a:solidFill>
                <a:latin typeface="Arial"/>
              </a:defRPr>
            </a:pPr>
            <a:r>
              <a:t>Danh sách đúng, đủ là điều kiện đầu tiên để tính đúng tỷ lệ, lập lịch và thanh quyết toán.</a:t>
            </a:r>
          </a:p>
        </p:txBody>
      </p:sp>
      <p:sp>
        <p:nvSpPr>
          <p:cNvPr id="8" name="TextBox 7"/>
          <p:cNvSpPr txBox="1"/>
          <p:nvPr/>
        </p:nvSpPr>
        <p:spPr>
          <a:xfrm>
            <a:off x="411480" y="6601968"/>
            <a:ext cx="6400800" cy="164592"/>
          </a:xfrm>
          <a:prstGeom prst="rect">
            <a:avLst/>
          </a:prstGeom>
          <a:noFill/>
        </p:spPr>
        <p:txBody>
          <a:bodyPr wrap="square" lIns="27432" tIns="18288" rIns="27432" bIns="18288">
            <a:spAutoFit/>
          </a:bodyPr>
          <a:lstStyle/>
          <a:p>
            <a:pPr algn="l">
              <a:defRPr sz="750" b="0" i="0">
                <a:solidFill>
                  <a:srgbClr val="5F6C76"/>
                </a:solidFill>
                <a:latin typeface="Arial"/>
              </a:defRPr>
            </a:pPr>
            <a:r>
              <a:t>SỞ Y TẾ HÀ NỘI | Tập huấn khám sàng lọc miễn phí năm 2026</a:t>
            </a:r>
          </a:p>
        </p:txBody>
      </p:sp>
      <p:sp>
        <p:nvSpPr>
          <p:cNvPr id="9" name="TextBox 8"/>
          <p:cNvSpPr txBox="1"/>
          <p:nvPr/>
        </p:nvSpPr>
        <p:spPr>
          <a:xfrm>
            <a:off x="11475720" y="6601968"/>
            <a:ext cx="320040" cy="164592"/>
          </a:xfrm>
          <a:prstGeom prst="rect">
            <a:avLst/>
          </a:prstGeom>
          <a:noFill/>
        </p:spPr>
        <p:txBody>
          <a:bodyPr wrap="square" lIns="27432" tIns="18288" rIns="27432" bIns="18288">
            <a:spAutoFit/>
          </a:bodyPr>
          <a:lstStyle/>
          <a:p>
            <a:pPr algn="r">
              <a:defRPr sz="750" b="0" i="0">
                <a:solidFill>
                  <a:srgbClr val="5F6C76"/>
                </a:solidFill>
                <a:latin typeface="Arial"/>
              </a:defRPr>
            </a:pPr>
            <a:r>
              <a:t>23</a:t>
            </a:r>
          </a:p>
        </p:txBody>
      </p:sp>
      <p:sp>
        <p:nvSpPr>
          <p:cNvPr id="10" name="Rounded Rectangle 9"/>
          <p:cNvSpPr/>
          <p:nvPr/>
        </p:nvSpPr>
        <p:spPr>
          <a:xfrm>
            <a:off x="731520" y="1600200"/>
            <a:ext cx="5440680" cy="1508760"/>
          </a:xfrm>
          <a:prstGeom prst="roundRect">
            <a:avLst/>
          </a:prstGeom>
          <a:solidFill>
            <a:srgbClr val="FDEBEB"/>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600200"/>
            <a:ext cx="73152" cy="1508760"/>
          </a:xfrm>
          <a:prstGeom prst="rect">
            <a:avLst/>
          </a:prstGeom>
          <a:solidFill>
            <a:srgbClr val="BE2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1737360"/>
            <a:ext cx="5166360" cy="292608"/>
          </a:xfrm>
          <a:prstGeom prst="rect">
            <a:avLst/>
          </a:prstGeom>
          <a:noFill/>
        </p:spPr>
        <p:txBody>
          <a:bodyPr wrap="square" lIns="27432" tIns="18288" rIns="27432" bIns="18288">
            <a:spAutoFit/>
          </a:bodyPr>
          <a:lstStyle/>
          <a:p>
            <a:pPr algn="l">
              <a:defRPr sz="1600" b="1" i="0">
                <a:solidFill>
                  <a:srgbClr val="143E4C"/>
                </a:solidFill>
                <a:latin typeface="Arial"/>
              </a:defRPr>
            </a:pPr>
            <a:r>
              <a:t>Tồn tại cần khắc phục</a:t>
            </a:r>
          </a:p>
        </p:txBody>
      </p:sp>
      <p:sp>
        <p:nvSpPr>
          <p:cNvPr id="13" name="TextBox 12"/>
          <p:cNvSpPr txBox="1"/>
          <p:nvPr/>
        </p:nvSpPr>
        <p:spPr>
          <a:xfrm>
            <a:off x="896112" y="2103120"/>
            <a:ext cx="5166360" cy="914399"/>
          </a:xfrm>
          <a:prstGeom prst="rect">
            <a:avLst/>
          </a:prstGeom>
          <a:noFill/>
        </p:spPr>
        <p:txBody>
          <a:bodyPr wrap="square" lIns="73152" tIns="54864" rIns="73152" bIns="54864">
            <a:spAutoFit/>
          </a:bodyPr>
          <a:lstStyle/>
          <a:p>
            <a:pPr>
              <a:lnSpc>
                <a:spcPct val="100000"/>
              </a:lnSpc>
              <a:spcAft>
                <a:spcPts val="500"/>
              </a:spcAft>
              <a:defRPr sz="1170" b="0">
                <a:solidFill>
                  <a:srgbClr val="303840"/>
                </a:solidFill>
                <a:latin typeface="Arial"/>
              </a:defRPr>
            </a:pPr>
            <a:r>
              <a:t>• Chưa điều tra/đăng ký đến từng hộ gia đình.</a:t>
            </a:r>
          </a:p>
          <a:p>
            <a:pPr>
              <a:lnSpc>
                <a:spcPct val="100000"/>
              </a:lnSpc>
              <a:spcAft>
                <a:spcPts val="500"/>
              </a:spcAft>
              <a:defRPr sz="1170" b="0">
                <a:solidFill>
                  <a:srgbClr val="303840"/>
                </a:solidFill>
                <a:latin typeface="Arial"/>
              </a:defRPr>
            </a:pPr>
            <a:r>
              <a:t>• Số liệu, hồ sơ đối tượng chưa đầy đủ; không khớp giữa các nguồn.</a:t>
            </a:r>
          </a:p>
          <a:p>
            <a:pPr>
              <a:lnSpc>
                <a:spcPct val="100000"/>
              </a:lnSpc>
              <a:spcAft>
                <a:spcPts val="500"/>
              </a:spcAft>
              <a:defRPr sz="1170" b="0">
                <a:solidFill>
                  <a:srgbClr val="303840"/>
                </a:solidFill>
                <a:latin typeface="Arial"/>
              </a:defRPr>
            </a:pPr>
            <a:r>
              <a:t>• Thiếu minh chứng đối với người đã khám nơi khác hoặc không tham gia.</a:t>
            </a:r>
          </a:p>
        </p:txBody>
      </p:sp>
      <p:sp>
        <p:nvSpPr>
          <p:cNvPr id="14" name="Rounded Rectangle 13"/>
          <p:cNvSpPr/>
          <p:nvPr/>
        </p:nvSpPr>
        <p:spPr>
          <a:xfrm>
            <a:off x="6400800" y="1600200"/>
            <a:ext cx="5074920" cy="1508760"/>
          </a:xfrm>
          <a:prstGeom prst="roundRect">
            <a:avLst/>
          </a:prstGeom>
          <a:solidFill>
            <a:srgbClr val="E5F5F7"/>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0" y="1600200"/>
            <a:ext cx="73152" cy="1508760"/>
          </a:xfrm>
          <a:prstGeom prst="rect">
            <a:avLst/>
          </a:prstGeom>
          <a:solidFill>
            <a:srgbClr val="008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65392" y="1737360"/>
            <a:ext cx="4800600" cy="292608"/>
          </a:xfrm>
          <a:prstGeom prst="rect">
            <a:avLst/>
          </a:prstGeom>
          <a:noFill/>
        </p:spPr>
        <p:txBody>
          <a:bodyPr wrap="square" lIns="27432" tIns="18288" rIns="27432" bIns="18288">
            <a:spAutoFit/>
          </a:bodyPr>
          <a:lstStyle/>
          <a:p>
            <a:pPr algn="l">
              <a:defRPr sz="1600" b="1" i="0">
                <a:solidFill>
                  <a:srgbClr val="143E4C"/>
                </a:solidFill>
                <a:latin typeface="Arial"/>
              </a:defRPr>
            </a:pPr>
            <a:r>
              <a:t>Nguyên tắc rà soát</a:t>
            </a:r>
          </a:p>
        </p:txBody>
      </p:sp>
      <p:sp>
        <p:nvSpPr>
          <p:cNvPr id="17" name="TextBox 16"/>
          <p:cNvSpPr txBox="1"/>
          <p:nvPr/>
        </p:nvSpPr>
        <p:spPr>
          <a:xfrm>
            <a:off x="6565392" y="2103120"/>
            <a:ext cx="4800600" cy="914399"/>
          </a:xfrm>
          <a:prstGeom prst="rect">
            <a:avLst/>
          </a:prstGeom>
          <a:noFill/>
        </p:spPr>
        <p:txBody>
          <a:bodyPr wrap="square" lIns="73152" tIns="54864" rIns="73152" bIns="54864">
            <a:spAutoFit/>
          </a:bodyPr>
          <a:lstStyle/>
          <a:p>
            <a:pPr>
              <a:lnSpc>
                <a:spcPct val="100000"/>
              </a:lnSpc>
              <a:spcAft>
                <a:spcPts val="500"/>
              </a:spcAft>
              <a:defRPr sz="1170" b="0">
                <a:solidFill>
                  <a:srgbClr val="303840"/>
                </a:solidFill>
                <a:latin typeface="Arial"/>
              </a:defRPr>
            </a:pPr>
            <a:r>
              <a:t>• Rà từng ngõ, gõ từng nhà.</a:t>
            </a:r>
          </a:p>
          <a:p>
            <a:pPr>
              <a:lnSpc>
                <a:spcPct val="100000"/>
              </a:lnSpc>
              <a:spcAft>
                <a:spcPts val="500"/>
              </a:spcAft>
              <a:defRPr sz="1170" b="0">
                <a:solidFill>
                  <a:srgbClr val="303840"/>
                </a:solidFill>
                <a:latin typeface="Arial"/>
              </a:defRPr>
            </a:pPr>
            <a:r>
              <a:t>• Phân định thường trú, tạm trú ≥12 tháng, tạm trú &lt;12 tháng.</a:t>
            </a:r>
          </a:p>
          <a:p>
            <a:pPr>
              <a:lnSpc>
                <a:spcPct val="100000"/>
              </a:lnSpc>
              <a:spcAft>
                <a:spcPts val="500"/>
              </a:spcAft>
              <a:defRPr sz="1170" b="0">
                <a:solidFill>
                  <a:srgbClr val="303840"/>
                </a:solidFill>
                <a:latin typeface="Arial"/>
              </a:defRPr>
            </a:pPr>
            <a:r>
              <a:t>• Cập nhật, đối soát trước khi chia lịch khám.</a:t>
            </a:r>
          </a:p>
        </p:txBody>
      </p:sp>
      <p:sp>
        <p:nvSpPr>
          <p:cNvPr id="18" name="Rounded Rectangle 17"/>
          <p:cNvSpPr/>
          <p:nvPr/>
        </p:nvSpPr>
        <p:spPr>
          <a:xfrm>
            <a:off x="822960" y="3429000"/>
            <a:ext cx="10515600" cy="1325880"/>
          </a:xfrm>
          <a:prstGeom prst="roundRect">
            <a:avLst/>
          </a:prstGeom>
          <a:solidFill>
            <a:srgbClr val="FFFFFF"/>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3611880"/>
            <a:ext cx="9966960" cy="256032"/>
          </a:xfrm>
          <a:prstGeom prst="rect">
            <a:avLst/>
          </a:prstGeom>
          <a:noFill/>
        </p:spPr>
        <p:txBody>
          <a:bodyPr wrap="square" lIns="27432" tIns="18288" rIns="27432" bIns="18288">
            <a:spAutoFit/>
          </a:bodyPr>
          <a:lstStyle/>
          <a:p>
            <a:pPr algn="l">
              <a:defRPr sz="1550" b="1" i="0">
                <a:solidFill>
                  <a:srgbClr val="143E4C"/>
                </a:solidFill>
                <a:latin typeface="Arial"/>
              </a:defRPr>
            </a:pPr>
            <a:r>
              <a:t>Cấu phần số liệu cần thống nhất</a:t>
            </a:r>
          </a:p>
        </p:txBody>
      </p:sp>
      <p:sp>
        <p:nvSpPr>
          <p:cNvPr id="20" name="TextBox 19"/>
          <p:cNvSpPr txBox="1"/>
          <p:nvPr/>
        </p:nvSpPr>
        <p:spPr>
          <a:xfrm>
            <a:off x="1051560" y="3931920"/>
            <a:ext cx="10012680" cy="765338"/>
          </a:xfrm>
          <a:prstGeom prst="rect">
            <a:avLst/>
          </a:prstGeom>
          <a:noFill/>
        </p:spPr>
        <p:txBody>
          <a:bodyPr wrap="square" lIns="73152" tIns="54864" rIns="73152" bIns="54864">
            <a:spAutoFit/>
          </a:bodyPr>
          <a:lstStyle/>
          <a:p>
            <a:pPr>
              <a:lnSpc>
                <a:spcPct val="100000"/>
              </a:lnSpc>
              <a:spcAft>
                <a:spcPts val="500"/>
              </a:spcAft>
              <a:defRPr sz="1140" b="0">
                <a:solidFill>
                  <a:srgbClr val="303840"/>
                </a:solidFill>
                <a:latin typeface="Arial"/>
              </a:defRPr>
            </a:pPr>
            <a:r>
              <a:rPr dirty="0"/>
              <a:t>• </a:t>
            </a:r>
            <a:r>
              <a:rPr dirty="0" err="1"/>
              <a:t>Số</a:t>
            </a:r>
            <a:r>
              <a:rPr dirty="0"/>
              <a:t> </a:t>
            </a:r>
            <a:r>
              <a:rPr dirty="0" err="1"/>
              <a:t>liệu</a:t>
            </a:r>
            <a:r>
              <a:rPr dirty="0"/>
              <a:t> </a:t>
            </a:r>
            <a:r>
              <a:rPr dirty="0" err="1"/>
              <a:t>người</a:t>
            </a:r>
            <a:r>
              <a:rPr dirty="0"/>
              <a:t> </a:t>
            </a:r>
            <a:r>
              <a:rPr dirty="0" err="1"/>
              <a:t>dân</a:t>
            </a:r>
            <a:r>
              <a:rPr dirty="0"/>
              <a:t> = </a:t>
            </a:r>
            <a:r>
              <a:rPr dirty="0" err="1"/>
              <a:t>thường</a:t>
            </a:r>
            <a:r>
              <a:rPr dirty="0"/>
              <a:t> </a:t>
            </a:r>
            <a:r>
              <a:rPr dirty="0" err="1"/>
              <a:t>trú</a:t>
            </a:r>
            <a:r>
              <a:rPr dirty="0"/>
              <a:t> + </a:t>
            </a:r>
            <a:r>
              <a:rPr dirty="0" err="1"/>
              <a:t>tạm</a:t>
            </a:r>
            <a:r>
              <a:rPr dirty="0"/>
              <a:t> </a:t>
            </a:r>
            <a:r>
              <a:rPr dirty="0" err="1"/>
              <a:t>trú</a:t>
            </a:r>
            <a:r>
              <a:rPr dirty="0"/>
              <a:t> ≥12 </a:t>
            </a:r>
            <a:r>
              <a:rPr dirty="0" err="1"/>
              <a:t>tháng</a:t>
            </a:r>
            <a:r>
              <a:rPr dirty="0"/>
              <a:t> + </a:t>
            </a:r>
            <a:r>
              <a:rPr dirty="0" err="1"/>
              <a:t>tạm</a:t>
            </a:r>
            <a:r>
              <a:rPr dirty="0"/>
              <a:t> </a:t>
            </a:r>
            <a:r>
              <a:rPr dirty="0" err="1"/>
              <a:t>trú</a:t>
            </a:r>
            <a:r>
              <a:rPr dirty="0"/>
              <a:t> &lt;12 </a:t>
            </a:r>
            <a:r>
              <a:rPr dirty="0" err="1"/>
              <a:t>tháng</a:t>
            </a:r>
            <a:r>
              <a:rPr dirty="0"/>
              <a:t>.</a:t>
            </a:r>
          </a:p>
          <a:p>
            <a:pPr>
              <a:lnSpc>
                <a:spcPct val="100000"/>
              </a:lnSpc>
              <a:spcAft>
                <a:spcPts val="500"/>
              </a:spcAft>
              <a:defRPr sz="1140" b="0">
                <a:solidFill>
                  <a:srgbClr val="303840"/>
                </a:solidFill>
                <a:latin typeface="Arial"/>
              </a:defRPr>
            </a:pPr>
            <a:r>
              <a:rPr dirty="0"/>
              <a:t>• </a:t>
            </a:r>
            <a:r>
              <a:rPr dirty="0" err="1"/>
              <a:t>Số</a:t>
            </a:r>
            <a:r>
              <a:rPr dirty="0"/>
              <a:t> </a:t>
            </a:r>
            <a:r>
              <a:rPr dirty="0" err="1"/>
              <a:t>liệu</a:t>
            </a:r>
            <a:r>
              <a:rPr dirty="0"/>
              <a:t> </a:t>
            </a:r>
            <a:r>
              <a:rPr dirty="0" err="1"/>
              <a:t>nhóm</a:t>
            </a:r>
            <a:r>
              <a:rPr dirty="0"/>
              <a:t> 1, 2, 3, 4, 5 = </a:t>
            </a:r>
            <a:r>
              <a:rPr dirty="0" err="1"/>
              <a:t>thường</a:t>
            </a:r>
            <a:r>
              <a:rPr dirty="0"/>
              <a:t> </a:t>
            </a:r>
            <a:r>
              <a:rPr dirty="0" err="1"/>
              <a:t>trú</a:t>
            </a:r>
            <a:r>
              <a:rPr dirty="0"/>
              <a:t> + </a:t>
            </a:r>
            <a:r>
              <a:rPr dirty="0" err="1"/>
              <a:t>tạm</a:t>
            </a:r>
            <a:r>
              <a:rPr dirty="0"/>
              <a:t> </a:t>
            </a:r>
            <a:r>
              <a:rPr dirty="0" err="1"/>
              <a:t>trú</a:t>
            </a:r>
            <a:r>
              <a:rPr dirty="0"/>
              <a:t> ≥12 </a:t>
            </a:r>
            <a:r>
              <a:rPr dirty="0" err="1"/>
              <a:t>tháng</a:t>
            </a:r>
            <a:r>
              <a:rPr dirty="0"/>
              <a:t>.</a:t>
            </a:r>
          </a:p>
          <a:p>
            <a:pPr>
              <a:lnSpc>
                <a:spcPct val="100000"/>
              </a:lnSpc>
              <a:spcAft>
                <a:spcPts val="500"/>
              </a:spcAft>
              <a:defRPr sz="1140" b="0">
                <a:solidFill>
                  <a:srgbClr val="303840"/>
                </a:solidFill>
                <a:latin typeface="Arial"/>
              </a:defRPr>
            </a:pPr>
            <a:r>
              <a:rPr dirty="0"/>
              <a:t>• </a:t>
            </a:r>
            <a:r>
              <a:rPr dirty="0" err="1"/>
              <a:t>Số</a:t>
            </a:r>
            <a:r>
              <a:rPr dirty="0"/>
              <a:t> </a:t>
            </a:r>
            <a:r>
              <a:rPr dirty="0" err="1"/>
              <a:t>đối</a:t>
            </a:r>
            <a:r>
              <a:rPr dirty="0"/>
              <a:t> </a:t>
            </a:r>
            <a:r>
              <a:rPr dirty="0" err="1"/>
              <a:t>tượng</a:t>
            </a:r>
            <a:r>
              <a:rPr dirty="0"/>
              <a:t> </a:t>
            </a:r>
            <a:r>
              <a:rPr dirty="0" err="1"/>
              <a:t>nhóm</a:t>
            </a:r>
            <a:r>
              <a:rPr dirty="0"/>
              <a:t> 1, 2, 5 = </a:t>
            </a:r>
            <a:r>
              <a:rPr dirty="0" err="1"/>
              <a:t>số</a:t>
            </a:r>
            <a:r>
              <a:rPr dirty="0"/>
              <a:t> </a:t>
            </a:r>
            <a:r>
              <a:rPr dirty="0" err="1"/>
              <a:t>khám</a:t>
            </a:r>
            <a:r>
              <a:rPr lang="en-US" dirty="0"/>
              <a:t> </a:t>
            </a:r>
            <a:r>
              <a:rPr lang="en-US" dirty="0" err="1"/>
              <a:t>sức</a:t>
            </a:r>
            <a:r>
              <a:rPr lang="en-US" dirty="0"/>
              <a:t> </a:t>
            </a:r>
            <a:r>
              <a:rPr lang="en-US" dirty="0" err="1"/>
              <a:t>khỏe</a:t>
            </a:r>
            <a:r>
              <a:rPr dirty="0"/>
              <a:t>/</a:t>
            </a:r>
            <a:r>
              <a:rPr dirty="0" err="1"/>
              <a:t>sàng</a:t>
            </a:r>
            <a:r>
              <a:rPr dirty="0"/>
              <a:t> </a:t>
            </a:r>
            <a:r>
              <a:rPr dirty="0" err="1"/>
              <a:t>lọc</a:t>
            </a:r>
            <a:r>
              <a:rPr dirty="0"/>
              <a:t> </a:t>
            </a:r>
            <a:r>
              <a:rPr dirty="0" err="1"/>
              <a:t>đơn</a:t>
            </a:r>
            <a:r>
              <a:rPr dirty="0"/>
              <a:t> </a:t>
            </a:r>
            <a:r>
              <a:rPr dirty="0" err="1"/>
              <a:t>vị</a:t>
            </a:r>
            <a:r>
              <a:rPr dirty="0"/>
              <a:t> </a:t>
            </a:r>
            <a:r>
              <a:rPr dirty="0" err="1"/>
              <a:t>thực</a:t>
            </a:r>
            <a:r>
              <a:rPr dirty="0"/>
              <a:t> </a:t>
            </a:r>
            <a:r>
              <a:rPr dirty="0" err="1"/>
              <a:t>hiện</a:t>
            </a:r>
            <a:r>
              <a:rPr dirty="0"/>
              <a:t> + </a:t>
            </a:r>
            <a:r>
              <a:rPr dirty="0" err="1"/>
              <a:t>khám</a:t>
            </a:r>
            <a:r>
              <a:rPr dirty="0"/>
              <a:t> BHYT/</a:t>
            </a:r>
            <a:r>
              <a:rPr dirty="0" err="1"/>
              <a:t>khám</a:t>
            </a:r>
            <a:r>
              <a:rPr dirty="0"/>
              <a:t> </a:t>
            </a:r>
            <a:r>
              <a:rPr dirty="0" err="1"/>
              <a:t>khác</a:t>
            </a:r>
            <a:r>
              <a:rPr dirty="0"/>
              <a:t> </a:t>
            </a:r>
            <a:r>
              <a:rPr dirty="0" err="1"/>
              <a:t>có</a:t>
            </a:r>
            <a:r>
              <a:rPr dirty="0"/>
              <a:t> </a:t>
            </a:r>
            <a:r>
              <a:rPr dirty="0" err="1"/>
              <a:t>minh</a:t>
            </a:r>
            <a:r>
              <a:rPr dirty="0"/>
              <a:t> </a:t>
            </a:r>
            <a:r>
              <a:rPr dirty="0" err="1"/>
              <a:t>chứng</a:t>
            </a:r>
            <a:r>
              <a:rPr dirty="0"/>
              <a:t> + </a:t>
            </a:r>
            <a:r>
              <a:rPr dirty="0" err="1"/>
              <a:t>không</a:t>
            </a:r>
            <a:r>
              <a:rPr dirty="0"/>
              <a:t> </a:t>
            </a:r>
            <a:r>
              <a:rPr dirty="0" err="1"/>
              <a:t>tham</a:t>
            </a:r>
            <a:r>
              <a:rPr dirty="0"/>
              <a:t> </a:t>
            </a:r>
            <a:r>
              <a:rPr dirty="0" err="1"/>
              <a:t>gia</a:t>
            </a:r>
            <a:r>
              <a:rPr dirty="0"/>
              <a:t> </a:t>
            </a:r>
            <a:r>
              <a:rPr dirty="0" err="1"/>
              <a:t>có</a:t>
            </a:r>
            <a:r>
              <a:rPr dirty="0"/>
              <a:t> </a:t>
            </a:r>
            <a:r>
              <a:rPr dirty="0" err="1"/>
              <a:t>minh</a:t>
            </a:r>
            <a:r>
              <a:rPr dirty="0"/>
              <a:t> </a:t>
            </a:r>
            <a:r>
              <a:rPr dirty="0" err="1"/>
              <a:t>chứng</a:t>
            </a:r>
            <a:r>
              <a:rPr dirty="0"/>
              <a:t>.</a:t>
            </a:r>
          </a:p>
        </p:txBody>
      </p:sp>
      <p:sp>
        <p:nvSpPr>
          <p:cNvPr id="21" name="Rounded Rectangle 20"/>
          <p:cNvSpPr/>
          <p:nvPr/>
        </p:nvSpPr>
        <p:spPr>
          <a:xfrm>
            <a:off x="1051560" y="5212080"/>
            <a:ext cx="10012680" cy="621792"/>
          </a:xfrm>
          <a:prstGeom prst="roundRect">
            <a:avLst/>
          </a:prstGeom>
          <a:solidFill>
            <a:srgbClr val="E8F6EE"/>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34440" y="5367528"/>
            <a:ext cx="1325880" cy="201168"/>
          </a:xfrm>
          <a:prstGeom prst="rect">
            <a:avLst/>
          </a:prstGeom>
          <a:noFill/>
        </p:spPr>
        <p:txBody>
          <a:bodyPr wrap="square" lIns="27432" tIns="18288" rIns="27432" bIns="18288">
            <a:spAutoFit/>
          </a:bodyPr>
          <a:lstStyle/>
          <a:p>
            <a:pPr algn="l">
              <a:defRPr sz="1250" b="1" i="0">
                <a:solidFill>
                  <a:srgbClr val="143E4C"/>
                </a:solidFill>
                <a:latin typeface="Arial"/>
              </a:defRPr>
            </a:pPr>
            <a:r>
              <a:t>Đầu ra cần có</a:t>
            </a:r>
          </a:p>
        </p:txBody>
      </p:sp>
      <p:sp>
        <p:nvSpPr>
          <p:cNvPr id="23" name="TextBox 22"/>
          <p:cNvSpPr txBox="1"/>
          <p:nvPr/>
        </p:nvSpPr>
        <p:spPr>
          <a:xfrm>
            <a:off x="2514600" y="5367528"/>
            <a:ext cx="8229600" cy="219456"/>
          </a:xfrm>
          <a:prstGeom prst="rect">
            <a:avLst/>
          </a:prstGeom>
          <a:noFill/>
        </p:spPr>
        <p:txBody>
          <a:bodyPr wrap="square" lIns="27432" tIns="18288" rIns="27432" bIns="18288">
            <a:spAutoFit/>
          </a:bodyPr>
          <a:lstStyle/>
          <a:p>
            <a:pPr algn="l">
              <a:defRPr sz="1150" b="0" i="0">
                <a:solidFill>
                  <a:srgbClr val="303840"/>
                </a:solidFill>
                <a:latin typeface="Arial"/>
              </a:defRPr>
            </a:pPr>
            <a:r>
              <a:t>Danh sách đối tượng theo nhóm • danh sách loại trừ có minh chứng • lịch mời theo khung giờ • đầu mối từng khu vực.</a:t>
            </a:r>
          </a:p>
        </p:txBody>
      </p:sp>
      <p:sp>
        <p:nvSpPr>
          <p:cNvPr id="25" name="TextBox 24">
            <a:extLst>
              <a:ext uri="{FF2B5EF4-FFF2-40B4-BE49-F238E27FC236}">
                <a16:creationId xmlns:a16="http://schemas.microsoft.com/office/drawing/2014/main" id="{96344D06-3AF5-3D8F-3A7A-C6775210F144}"/>
              </a:ext>
            </a:extLst>
          </p:cNvPr>
          <p:cNvSpPr txBox="1"/>
          <p:nvPr/>
        </p:nvSpPr>
        <p:spPr>
          <a:xfrm>
            <a:off x="411480" y="256032"/>
            <a:ext cx="7863840" cy="344710"/>
          </a:xfrm>
          <a:prstGeom prst="rect">
            <a:avLst/>
          </a:prstGeom>
          <a:noFill/>
        </p:spPr>
        <p:txBody>
          <a:bodyPr wrap="square" lIns="27432" tIns="18288" rIns="27432" bIns="18288">
            <a:spAutoFit/>
          </a:bodyPr>
          <a:lstStyle/>
          <a:p>
            <a:pPr algn="ctr">
              <a:defRPr sz="950" b="1" i="0">
                <a:solidFill>
                  <a:srgbClr val="008084"/>
                </a:solidFill>
                <a:latin typeface="Arial"/>
              </a:defRPr>
            </a:pPr>
            <a:r>
              <a:rPr sz="2000" dirty="0"/>
              <a:t>Rút </a:t>
            </a:r>
            <a:r>
              <a:rPr sz="2000" dirty="0" err="1"/>
              <a:t>kinh</a:t>
            </a:r>
            <a:r>
              <a:rPr sz="2000" dirty="0"/>
              <a:t> </a:t>
            </a:r>
            <a:r>
              <a:rPr sz="2000" dirty="0" err="1"/>
              <a:t>nghiệm</a:t>
            </a:r>
            <a:endParaRPr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6492240"/>
            <a:ext cx="11384280" cy="9144"/>
          </a:xfrm>
          <a:prstGeom prst="rect">
            <a:avLst/>
          </a:prstGeom>
          <a:solidFill>
            <a:srgbClr val="CF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0" y="256032"/>
            <a:ext cx="2697480" cy="201168"/>
          </a:xfrm>
          <a:prstGeom prst="rect">
            <a:avLst/>
          </a:prstGeom>
          <a:noFill/>
        </p:spPr>
        <p:txBody>
          <a:bodyPr wrap="square" lIns="27432" tIns="18288" rIns="27432" bIns="18288">
            <a:spAutoFit/>
          </a:bodyPr>
          <a:lstStyle/>
          <a:p>
            <a:pPr algn="r">
              <a:defRPr sz="950" b="0" i="0">
                <a:solidFill>
                  <a:srgbClr val="5F6C76"/>
                </a:solidFill>
                <a:latin typeface="Arial"/>
              </a:defRPr>
            </a:pPr>
            <a:r>
              <a:t>Theo nội dung đánh giá, rút kinh nghiệm</a:t>
            </a:r>
          </a:p>
        </p:txBody>
      </p:sp>
      <p:sp>
        <p:nvSpPr>
          <p:cNvPr id="6" name="TextBox 5"/>
          <p:cNvSpPr txBox="1"/>
          <p:nvPr/>
        </p:nvSpPr>
        <p:spPr>
          <a:xfrm>
            <a:off x="502920" y="749808"/>
            <a:ext cx="10881360" cy="375487"/>
          </a:xfrm>
          <a:prstGeom prst="rect">
            <a:avLst/>
          </a:prstGeom>
          <a:noFill/>
        </p:spPr>
        <p:txBody>
          <a:bodyPr wrap="square" lIns="27432" tIns="18288" rIns="27432" bIns="18288">
            <a:spAutoFit/>
          </a:bodyPr>
          <a:lstStyle/>
          <a:p>
            <a:pPr algn="l">
              <a:defRPr sz="2200" b="1" i="0">
                <a:solidFill>
                  <a:srgbClr val="143E4C"/>
                </a:solidFill>
                <a:latin typeface="Arial"/>
              </a:defRPr>
            </a:pPr>
            <a:r>
              <a:rPr dirty="0"/>
              <a:t>3: LỰA CHỌN ĐƠN VỊ KHÁM</a:t>
            </a:r>
          </a:p>
        </p:txBody>
      </p:sp>
      <p:sp>
        <p:nvSpPr>
          <p:cNvPr id="7" name="TextBox 6"/>
          <p:cNvSpPr txBox="1"/>
          <p:nvPr/>
        </p:nvSpPr>
        <p:spPr>
          <a:xfrm>
            <a:off x="502920" y="1078992"/>
            <a:ext cx="11064240" cy="329184"/>
          </a:xfrm>
          <a:prstGeom prst="rect">
            <a:avLst/>
          </a:prstGeom>
          <a:noFill/>
        </p:spPr>
        <p:txBody>
          <a:bodyPr wrap="square" lIns="27432" tIns="18288" rIns="27432" bIns="18288">
            <a:spAutoFit/>
          </a:bodyPr>
          <a:lstStyle/>
          <a:p>
            <a:pPr algn="l">
              <a:defRPr sz="1550" b="0" i="0">
                <a:solidFill>
                  <a:srgbClr val="5F6C76"/>
                </a:solidFill>
                <a:latin typeface="Arial"/>
              </a:defRPr>
            </a:pPr>
            <a:r>
              <a:t>Lựa chọn đơn vị khám cần bảo đảm đúng hình thức, đủ hồ sơ, đủ năng lực chuyên môn và CNTT.</a:t>
            </a:r>
          </a:p>
        </p:txBody>
      </p:sp>
      <p:sp>
        <p:nvSpPr>
          <p:cNvPr id="8" name="TextBox 7"/>
          <p:cNvSpPr txBox="1"/>
          <p:nvPr/>
        </p:nvSpPr>
        <p:spPr>
          <a:xfrm>
            <a:off x="411480" y="6601968"/>
            <a:ext cx="6400800" cy="164592"/>
          </a:xfrm>
          <a:prstGeom prst="rect">
            <a:avLst/>
          </a:prstGeom>
          <a:noFill/>
        </p:spPr>
        <p:txBody>
          <a:bodyPr wrap="square" lIns="27432" tIns="18288" rIns="27432" bIns="18288">
            <a:spAutoFit/>
          </a:bodyPr>
          <a:lstStyle/>
          <a:p>
            <a:pPr algn="l">
              <a:defRPr sz="750" b="0" i="0">
                <a:solidFill>
                  <a:srgbClr val="5F6C76"/>
                </a:solidFill>
                <a:latin typeface="Arial"/>
              </a:defRPr>
            </a:pPr>
            <a:r>
              <a:t>SỞ Y TẾ HÀ NỘI | Tập huấn khám sàng lọc miễn phí năm 2026</a:t>
            </a:r>
          </a:p>
        </p:txBody>
      </p:sp>
      <p:sp>
        <p:nvSpPr>
          <p:cNvPr id="9" name="TextBox 8"/>
          <p:cNvSpPr txBox="1"/>
          <p:nvPr/>
        </p:nvSpPr>
        <p:spPr>
          <a:xfrm>
            <a:off x="11475720" y="6601968"/>
            <a:ext cx="320040" cy="164592"/>
          </a:xfrm>
          <a:prstGeom prst="rect">
            <a:avLst/>
          </a:prstGeom>
          <a:noFill/>
        </p:spPr>
        <p:txBody>
          <a:bodyPr wrap="square" lIns="27432" tIns="18288" rIns="27432" bIns="18288">
            <a:spAutoFit/>
          </a:bodyPr>
          <a:lstStyle/>
          <a:p>
            <a:pPr algn="r">
              <a:defRPr sz="750" b="0" i="0">
                <a:solidFill>
                  <a:srgbClr val="5F6C76"/>
                </a:solidFill>
                <a:latin typeface="Arial"/>
              </a:defRPr>
            </a:pPr>
            <a:r>
              <a:t>24</a:t>
            </a:r>
          </a:p>
        </p:txBody>
      </p:sp>
      <p:sp>
        <p:nvSpPr>
          <p:cNvPr id="10" name="Rounded Rectangle 9"/>
          <p:cNvSpPr/>
          <p:nvPr/>
        </p:nvSpPr>
        <p:spPr>
          <a:xfrm>
            <a:off x="685800" y="1508760"/>
            <a:ext cx="3474720" cy="1051560"/>
          </a:xfrm>
          <a:prstGeom prst="roundRect">
            <a:avLst/>
          </a:prstGeom>
          <a:solidFill>
            <a:srgbClr val="E5F5F7"/>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1508760"/>
            <a:ext cx="73152" cy="1051560"/>
          </a:xfrm>
          <a:prstGeom prst="rect">
            <a:avLst/>
          </a:prstGeom>
          <a:solidFill>
            <a:srgbClr val="008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 y="1645919"/>
            <a:ext cx="3200400" cy="292608"/>
          </a:xfrm>
          <a:prstGeom prst="rect">
            <a:avLst/>
          </a:prstGeom>
          <a:noFill/>
        </p:spPr>
        <p:txBody>
          <a:bodyPr wrap="square" lIns="27432" tIns="18288" rIns="27432" bIns="18288">
            <a:spAutoFit/>
          </a:bodyPr>
          <a:lstStyle/>
          <a:p>
            <a:pPr algn="l">
              <a:defRPr sz="1500" b="1" i="0">
                <a:solidFill>
                  <a:srgbClr val="143E4C"/>
                </a:solidFill>
                <a:latin typeface="Arial"/>
              </a:defRPr>
            </a:pPr>
            <a:r>
              <a:t>Hình thức 1</a:t>
            </a:r>
          </a:p>
        </p:txBody>
      </p:sp>
      <p:sp>
        <p:nvSpPr>
          <p:cNvPr id="13" name="TextBox 12"/>
          <p:cNvSpPr txBox="1"/>
          <p:nvPr/>
        </p:nvSpPr>
        <p:spPr>
          <a:xfrm>
            <a:off x="850392" y="2011680"/>
            <a:ext cx="3200400" cy="457199"/>
          </a:xfrm>
          <a:prstGeom prst="rect">
            <a:avLst/>
          </a:prstGeom>
          <a:noFill/>
        </p:spPr>
        <p:txBody>
          <a:bodyPr wrap="square" lIns="73152" tIns="54864" rIns="73152" bIns="54864">
            <a:spAutoFit/>
          </a:bodyPr>
          <a:lstStyle/>
          <a:p>
            <a:pPr>
              <a:lnSpc>
                <a:spcPct val="100000"/>
              </a:lnSpc>
              <a:spcAft>
                <a:spcPts val="500"/>
              </a:spcAft>
              <a:defRPr sz="1250" b="0">
                <a:solidFill>
                  <a:srgbClr val="303840"/>
                </a:solidFill>
                <a:latin typeface="Arial"/>
              </a:defRPr>
            </a:pPr>
            <a:r>
              <a:t>Trạm Y tế tự chủ động khám khi đủ điều kiện.</a:t>
            </a:r>
          </a:p>
        </p:txBody>
      </p:sp>
      <p:sp>
        <p:nvSpPr>
          <p:cNvPr id="14" name="Rounded Rectangle 13"/>
          <p:cNvSpPr/>
          <p:nvPr/>
        </p:nvSpPr>
        <p:spPr>
          <a:xfrm>
            <a:off x="4389120" y="1508760"/>
            <a:ext cx="3474720" cy="1051560"/>
          </a:xfrm>
          <a:prstGeom prst="roundRect">
            <a:avLst/>
          </a:prstGeom>
          <a:solidFill>
            <a:srgbClr val="E8F6EE"/>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89120" y="1508760"/>
            <a:ext cx="73152" cy="1051560"/>
          </a:xfrm>
          <a:prstGeom prst="rect">
            <a:avLst/>
          </a:prstGeom>
          <a:solidFill>
            <a:srgbClr val="27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53712" y="1645919"/>
            <a:ext cx="3200400" cy="292608"/>
          </a:xfrm>
          <a:prstGeom prst="rect">
            <a:avLst/>
          </a:prstGeom>
          <a:noFill/>
        </p:spPr>
        <p:txBody>
          <a:bodyPr wrap="square" lIns="27432" tIns="18288" rIns="27432" bIns="18288">
            <a:spAutoFit/>
          </a:bodyPr>
          <a:lstStyle/>
          <a:p>
            <a:pPr algn="l">
              <a:defRPr sz="1500" b="1" i="0">
                <a:solidFill>
                  <a:srgbClr val="143E4C"/>
                </a:solidFill>
                <a:latin typeface="Arial"/>
              </a:defRPr>
            </a:pPr>
            <a:r>
              <a:t>Hình thức 2</a:t>
            </a:r>
          </a:p>
        </p:txBody>
      </p:sp>
      <p:sp>
        <p:nvSpPr>
          <p:cNvPr id="17" name="TextBox 16"/>
          <p:cNvSpPr txBox="1"/>
          <p:nvPr/>
        </p:nvSpPr>
        <p:spPr>
          <a:xfrm>
            <a:off x="4553712" y="2011680"/>
            <a:ext cx="3200400" cy="457199"/>
          </a:xfrm>
          <a:prstGeom prst="rect">
            <a:avLst/>
          </a:prstGeom>
          <a:noFill/>
        </p:spPr>
        <p:txBody>
          <a:bodyPr wrap="square" lIns="73152" tIns="54864" rIns="73152" bIns="54864">
            <a:spAutoFit/>
          </a:bodyPr>
          <a:lstStyle/>
          <a:p>
            <a:pPr>
              <a:lnSpc>
                <a:spcPct val="100000"/>
              </a:lnSpc>
              <a:spcAft>
                <a:spcPts val="500"/>
              </a:spcAft>
              <a:defRPr sz="1250" b="0">
                <a:solidFill>
                  <a:srgbClr val="303840"/>
                </a:solidFill>
                <a:latin typeface="Arial"/>
              </a:defRPr>
            </a:pPr>
            <a:r>
              <a:t>UBND xã, phường có văn bản giao nhiệm vụ/ký với đơn vị cụ thể.</a:t>
            </a:r>
          </a:p>
        </p:txBody>
      </p:sp>
      <p:sp>
        <p:nvSpPr>
          <p:cNvPr id="18" name="Rounded Rectangle 17"/>
          <p:cNvSpPr/>
          <p:nvPr/>
        </p:nvSpPr>
        <p:spPr>
          <a:xfrm>
            <a:off x="8092440" y="1508760"/>
            <a:ext cx="3474720" cy="1051560"/>
          </a:xfrm>
          <a:prstGeom prst="roundRect">
            <a:avLst/>
          </a:prstGeom>
          <a:solidFill>
            <a:srgbClr val="FFF2E2"/>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92440" y="1508760"/>
            <a:ext cx="73152" cy="1051560"/>
          </a:xfrm>
          <a:prstGeom prst="rect">
            <a:avLst/>
          </a:prstGeom>
          <a:solidFill>
            <a:srgbClr val="F18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1" y="1645919"/>
            <a:ext cx="3200400" cy="292608"/>
          </a:xfrm>
          <a:prstGeom prst="rect">
            <a:avLst/>
          </a:prstGeom>
          <a:noFill/>
        </p:spPr>
        <p:txBody>
          <a:bodyPr wrap="square" lIns="27432" tIns="18288" rIns="27432" bIns="18288">
            <a:spAutoFit/>
          </a:bodyPr>
          <a:lstStyle/>
          <a:p>
            <a:pPr algn="l">
              <a:defRPr sz="1500" b="1" i="0">
                <a:solidFill>
                  <a:srgbClr val="143E4C"/>
                </a:solidFill>
                <a:latin typeface="Arial"/>
              </a:defRPr>
            </a:pPr>
            <a:r>
              <a:t>Hình thức 3</a:t>
            </a:r>
          </a:p>
        </p:txBody>
      </p:sp>
      <p:sp>
        <p:nvSpPr>
          <p:cNvPr id="21" name="TextBox 20"/>
          <p:cNvSpPr txBox="1"/>
          <p:nvPr/>
        </p:nvSpPr>
        <p:spPr>
          <a:xfrm>
            <a:off x="8257031" y="2011680"/>
            <a:ext cx="3200400" cy="457199"/>
          </a:xfrm>
          <a:prstGeom prst="rect">
            <a:avLst/>
          </a:prstGeom>
          <a:noFill/>
        </p:spPr>
        <p:txBody>
          <a:bodyPr wrap="square" lIns="73152" tIns="54864" rIns="73152" bIns="54864">
            <a:spAutoFit/>
          </a:bodyPr>
          <a:lstStyle/>
          <a:p>
            <a:pPr>
              <a:lnSpc>
                <a:spcPct val="100000"/>
              </a:lnSpc>
              <a:spcAft>
                <a:spcPts val="500"/>
              </a:spcAft>
              <a:defRPr sz="1250" b="0">
                <a:solidFill>
                  <a:srgbClr val="303840"/>
                </a:solidFill>
                <a:latin typeface="Arial"/>
              </a:defRPr>
            </a:pPr>
            <a:r>
              <a:t>Lựa chọn đơn vị đủ điều kiện theo quy định của pháp luật về đấu thầu.</a:t>
            </a:r>
          </a:p>
        </p:txBody>
      </p:sp>
      <p:sp>
        <p:nvSpPr>
          <p:cNvPr id="22" name="Rounded Rectangle 21"/>
          <p:cNvSpPr/>
          <p:nvPr/>
        </p:nvSpPr>
        <p:spPr>
          <a:xfrm>
            <a:off x="868680" y="2971800"/>
            <a:ext cx="5074920" cy="1965960"/>
          </a:xfrm>
          <a:prstGeom prst="roundRect">
            <a:avLst/>
          </a:prstGeom>
          <a:solidFill>
            <a:srgbClr val="FFFFFF"/>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68680" y="2971800"/>
            <a:ext cx="73152" cy="1965960"/>
          </a:xfrm>
          <a:prstGeom prst="rect">
            <a:avLst/>
          </a:prstGeom>
          <a:solidFill>
            <a:srgbClr val="008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3271" y="3108960"/>
            <a:ext cx="4800600" cy="292608"/>
          </a:xfrm>
          <a:prstGeom prst="rect">
            <a:avLst/>
          </a:prstGeom>
          <a:noFill/>
        </p:spPr>
        <p:txBody>
          <a:bodyPr wrap="square" lIns="27432" tIns="18288" rIns="27432" bIns="18288">
            <a:spAutoFit/>
          </a:bodyPr>
          <a:lstStyle/>
          <a:p>
            <a:pPr algn="l">
              <a:defRPr sz="1600" b="1" i="0">
                <a:solidFill>
                  <a:srgbClr val="143E4C"/>
                </a:solidFill>
                <a:latin typeface="Arial"/>
              </a:defRPr>
            </a:pPr>
            <a:r>
              <a:t>Hồ sơ cần kiểm soát</a:t>
            </a:r>
          </a:p>
        </p:txBody>
      </p:sp>
      <p:sp>
        <p:nvSpPr>
          <p:cNvPr id="25" name="TextBox 24"/>
          <p:cNvSpPr txBox="1"/>
          <p:nvPr/>
        </p:nvSpPr>
        <p:spPr>
          <a:xfrm>
            <a:off x="1033271" y="3474720"/>
            <a:ext cx="4800600" cy="1493742"/>
          </a:xfrm>
          <a:prstGeom prst="rect">
            <a:avLst/>
          </a:prstGeom>
          <a:noFill/>
        </p:spPr>
        <p:txBody>
          <a:bodyPr wrap="square" lIns="73152" tIns="54864" rIns="73152" bIns="54864">
            <a:spAutoFit/>
          </a:bodyPr>
          <a:lstStyle/>
          <a:p>
            <a:pPr>
              <a:lnSpc>
                <a:spcPct val="100000"/>
              </a:lnSpc>
              <a:spcAft>
                <a:spcPts val="500"/>
              </a:spcAft>
              <a:defRPr sz="1220" b="0">
                <a:solidFill>
                  <a:srgbClr val="303840"/>
                </a:solidFill>
                <a:latin typeface="Arial"/>
              </a:defRPr>
            </a:pPr>
            <a:r>
              <a:rPr dirty="0"/>
              <a:t>• </a:t>
            </a:r>
            <a:r>
              <a:rPr dirty="0" err="1"/>
              <a:t>Hồ</a:t>
            </a:r>
            <a:r>
              <a:rPr dirty="0"/>
              <a:t> </a:t>
            </a:r>
            <a:r>
              <a:rPr dirty="0" err="1"/>
              <a:t>sơ</a:t>
            </a:r>
            <a:r>
              <a:rPr lang="vi-VN" dirty="0"/>
              <a:t> về việc lựa chọn</a:t>
            </a:r>
            <a:r>
              <a:rPr dirty="0"/>
              <a:t> </a:t>
            </a:r>
            <a:r>
              <a:rPr dirty="0" err="1"/>
              <a:t>của</a:t>
            </a:r>
            <a:r>
              <a:rPr dirty="0"/>
              <a:t> </a:t>
            </a:r>
            <a:r>
              <a:rPr dirty="0" err="1"/>
              <a:t>đơn</a:t>
            </a:r>
            <a:r>
              <a:rPr dirty="0"/>
              <a:t> </a:t>
            </a:r>
            <a:r>
              <a:rPr dirty="0" err="1"/>
              <a:t>vị</a:t>
            </a:r>
            <a:r>
              <a:rPr dirty="0"/>
              <a:t> </a:t>
            </a:r>
            <a:r>
              <a:rPr dirty="0" err="1"/>
              <a:t>khám</a:t>
            </a:r>
            <a:r>
              <a:rPr dirty="0"/>
              <a:t>.</a:t>
            </a:r>
            <a:r>
              <a:rPr lang="vi-VN" dirty="0"/>
              <a:t> </a:t>
            </a:r>
            <a:endParaRPr dirty="0"/>
          </a:p>
          <a:p>
            <a:pPr>
              <a:lnSpc>
                <a:spcPct val="100000"/>
              </a:lnSpc>
              <a:spcAft>
                <a:spcPts val="500"/>
              </a:spcAft>
              <a:defRPr sz="1220" b="0">
                <a:solidFill>
                  <a:srgbClr val="303840"/>
                </a:solidFill>
                <a:latin typeface="Arial"/>
              </a:defRPr>
            </a:pPr>
            <a:r>
              <a:rPr dirty="0"/>
              <a:t>• Danh </a:t>
            </a:r>
            <a:r>
              <a:rPr dirty="0" err="1"/>
              <a:t>sách</a:t>
            </a:r>
            <a:r>
              <a:rPr dirty="0"/>
              <a:t> </a:t>
            </a:r>
            <a:r>
              <a:rPr dirty="0" err="1"/>
              <a:t>cán</a:t>
            </a:r>
            <a:r>
              <a:rPr dirty="0"/>
              <a:t> </a:t>
            </a:r>
            <a:r>
              <a:rPr dirty="0" err="1"/>
              <a:t>bộ</a:t>
            </a:r>
            <a:r>
              <a:rPr dirty="0"/>
              <a:t> </a:t>
            </a:r>
            <a:r>
              <a:rPr dirty="0" err="1"/>
              <a:t>khám</a:t>
            </a:r>
            <a:r>
              <a:rPr dirty="0"/>
              <a:t> </a:t>
            </a:r>
            <a:r>
              <a:rPr dirty="0" err="1"/>
              <a:t>theo</a:t>
            </a:r>
            <a:r>
              <a:rPr dirty="0"/>
              <a:t> </a:t>
            </a:r>
            <a:r>
              <a:rPr dirty="0" err="1"/>
              <a:t>hợp</a:t>
            </a:r>
            <a:r>
              <a:rPr dirty="0"/>
              <a:t> </a:t>
            </a:r>
            <a:r>
              <a:rPr dirty="0" err="1"/>
              <a:t>đồng</a:t>
            </a:r>
            <a:r>
              <a:rPr dirty="0"/>
              <a:t>.</a:t>
            </a:r>
          </a:p>
          <a:p>
            <a:pPr>
              <a:lnSpc>
                <a:spcPct val="100000"/>
              </a:lnSpc>
              <a:spcAft>
                <a:spcPts val="500"/>
              </a:spcAft>
              <a:defRPr sz="1220" b="0">
                <a:solidFill>
                  <a:srgbClr val="303840"/>
                </a:solidFill>
                <a:latin typeface="Arial"/>
              </a:defRPr>
            </a:pPr>
            <a:r>
              <a:rPr dirty="0"/>
              <a:t>• </a:t>
            </a:r>
            <a:r>
              <a:rPr dirty="0" err="1"/>
              <a:t>Chứng</a:t>
            </a:r>
            <a:r>
              <a:rPr dirty="0"/>
              <a:t> </a:t>
            </a:r>
            <a:r>
              <a:rPr dirty="0" err="1"/>
              <a:t>chỉ</a:t>
            </a:r>
            <a:r>
              <a:rPr dirty="0"/>
              <a:t>/</a:t>
            </a:r>
            <a:r>
              <a:rPr dirty="0" err="1"/>
              <a:t>giấy</a:t>
            </a:r>
            <a:r>
              <a:rPr dirty="0"/>
              <a:t> </a:t>
            </a:r>
            <a:r>
              <a:rPr dirty="0" err="1"/>
              <a:t>phép</a:t>
            </a:r>
            <a:r>
              <a:rPr dirty="0"/>
              <a:t> </a:t>
            </a:r>
            <a:r>
              <a:rPr dirty="0" err="1"/>
              <a:t>hành</a:t>
            </a:r>
            <a:r>
              <a:rPr dirty="0"/>
              <a:t> </a:t>
            </a:r>
            <a:r>
              <a:rPr dirty="0" err="1"/>
              <a:t>nghề</a:t>
            </a:r>
            <a:r>
              <a:rPr dirty="0"/>
              <a:t> </a:t>
            </a:r>
            <a:r>
              <a:rPr dirty="0" err="1"/>
              <a:t>phù</a:t>
            </a:r>
            <a:r>
              <a:rPr dirty="0"/>
              <a:t> </a:t>
            </a:r>
            <a:r>
              <a:rPr dirty="0" err="1"/>
              <a:t>hợp</a:t>
            </a:r>
            <a:r>
              <a:rPr dirty="0"/>
              <a:t>, </a:t>
            </a:r>
            <a:r>
              <a:rPr dirty="0" err="1"/>
              <a:t>đăng</a:t>
            </a:r>
            <a:r>
              <a:rPr dirty="0"/>
              <a:t> </a:t>
            </a:r>
            <a:r>
              <a:rPr dirty="0" err="1"/>
              <a:t>ký</a:t>
            </a:r>
            <a:r>
              <a:rPr dirty="0"/>
              <a:t> </a:t>
            </a:r>
            <a:r>
              <a:rPr dirty="0" err="1"/>
              <a:t>hành</a:t>
            </a:r>
            <a:r>
              <a:rPr dirty="0"/>
              <a:t> </a:t>
            </a:r>
            <a:r>
              <a:rPr dirty="0" err="1"/>
              <a:t>nghề</a:t>
            </a:r>
            <a:r>
              <a:rPr dirty="0"/>
              <a:t> </a:t>
            </a:r>
            <a:r>
              <a:rPr dirty="0" err="1"/>
              <a:t>với</a:t>
            </a:r>
            <a:r>
              <a:rPr dirty="0"/>
              <a:t> </a:t>
            </a:r>
            <a:r>
              <a:rPr dirty="0" err="1"/>
              <a:t>Sở</a:t>
            </a:r>
            <a:r>
              <a:rPr dirty="0"/>
              <a:t> Y </a:t>
            </a:r>
            <a:r>
              <a:rPr dirty="0" err="1"/>
              <a:t>tế</a:t>
            </a:r>
            <a:r>
              <a:rPr dirty="0"/>
              <a:t>.</a:t>
            </a:r>
          </a:p>
          <a:p>
            <a:pPr>
              <a:lnSpc>
                <a:spcPct val="100000"/>
              </a:lnSpc>
              <a:spcAft>
                <a:spcPts val="500"/>
              </a:spcAft>
              <a:defRPr sz="1220" b="0">
                <a:solidFill>
                  <a:srgbClr val="303840"/>
                </a:solidFill>
                <a:latin typeface="Arial"/>
              </a:defRPr>
            </a:pPr>
            <a:r>
              <a:rPr dirty="0"/>
              <a:t>• </a:t>
            </a:r>
            <a:r>
              <a:rPr dirty="0" err="1"/>
              <a:t>Quyết</a:t>
            </a:r>
            <a:r>
              <a:rPr dirty="0"/>
              <a:t> </a:t>
            </a:r>
            <a:r>
              <a:rPr dirty="0" err="1"/>
              <a:t>định</a:t>
            </a:r>
            <a:r>
              <a:rPr dirty="0"/>
              <a:t> </a:t>
            </a:r>
            <a:r>
              <a:rPr dirty="0" err="1"/>
              <a:t>thành</a:t>
            </a:r>
            <a:r>
              <a:rPr dirty="0"/>
              <a:t> </a:t>
            </a:r>
            <a:r>
              <a:rPr dirty="0" err="1"/>
              <a:t>lập</a:t>
            </a:r>
            <a:r>
              <a:rPr dirty="0"/>
              <a:t> </a:t>
            </a:r>
            <a:r>
              <a:rPr dirty="0" err="1"/>
              <a:t>đoàn</a:t>
            </a:r>
            <a:r>
              <a:rPr dirty="0"/>
              <a:t> </a:t>
            </a:r>
            <a:r>
              <a:rPr dirty="0" err="1"/>
              <a:t>khám</a:t>
            </a:r>
            <a:r>
              <a:rPr dirty="0"/>
              <a:t> </a:t>
            </a:r>
            <a:r>
              <a:rPr dirty="0" err="1"/>
              <a:t>từng</a:t>
            </a:r>
            <a:r>
              <a:rPr dirty="0"/>
              <a:t> </a:t>
            </a:r>
            <a:r>
              <a:rPr dirty="0" err="1"/>
              <a:t>buổi</a:t>
            </a:r>
            <a:r>
              <a:rPr dirty="0"/>
              <a:t>.</a:t>
            </a:r>
          </a:p>
          <a:p>
            <a:pPr>
              <a:lnSpc>
                <a:spcPct val="100000"/>
              </a:lnSpc>
              <a:spcAft>
                <a:spcPts val="500"/>
              </a:spcAft>
              <a:defRPr sz="1220" b="0">
                <a:solidFill>
                  <a:srgbClr val="303840"/>
                </a:solidFill>
                <a:latin typeface="Arial"/>
              </a:defRPr>
            </a:pPr>
            <a:r>
              <a:rPr dirty="0"/>
              <a:t>• </a:t>
            </a:r>
            <a:r>
              <a:rPr dirty="0" err="1"/>
              <a:t>Năng</a:t>
            </a:r>
            <a:r>
              <a:rPr dirty="0"/>
              <a:t> </a:t>
            </a:r>
            <a:r>
              <a:rPr dirty="0" err="1"/>
              <a:t>lực</a:t>
            </a:r>
            <a:r>
              <a:rPr dirty="0"/>
              <a:t> </a:t>
            </a:r>
            <a:r>
              <a:rPr dirty="0" err="1"/>
              <a:t>phần</a:t>
            </a:r>
            <a:r>
              <a:rPr dirty="0"/>
              <a:t> </a:t>
            </a:r>
            <a:r>
              <a:rPr dirty="0" err="1"/>
              <a:t>mềm</a:t>
            </a:r>
            <a:r>
              <a:rPr dirty="0"/>
              <a:t>, </a:t>
            </a:r>
            <a:r>
              <a:rPr dirty="0" err="1"/>
              <a:t>ký</a:t>
            </a:r>
            <a:r>
              <a:rPr dirty="0"/>
              <a:t> </a:t>
            </a:r>
            <a:r>
              <a:rPr dirty="0" err="1"/>
              <a:t>số</a:t>
            </a:r>
            <a:r>
              <a:rPr dirty="0"/>
              <a:t>, </a:t>
            </a:r>
            <a:r>
              <a:rPr dirty="0" err="1"/>
              <a:t>liên</a:t>
            </a:r>
            <a:r>
              <a:rPr dirty="0"/>
              <a:t> </a:t>
            </a:r>
            <a:r>
              <a:rPr dirty="0" err="1"/>
              <a:t>thông</a:t>
            </a:r>
            <a:r>
              <a:rPr dirty="0"/>
              <a:t> </a:t>
            </a:r>
            <a:r>
              <a:rPr dirty="0" err="1"/>
              <a:t>dữ</a:t>
            </a:r>
            <a:r>
              <a:rPr dirty="0"/>
              <a:t> </a:t>
            </a:r>
            <a:r>
              <a:rPr dirty="0" err="1"/>
              <a:t>liệu</a:t>
            </a:r>
            <a:r>
              <a:rPr dirty="0"/>
              <a:t>.</a:t>
            </a:r>
          </a:p>
        </p:txBody>
      </p:sp>
      <p:sp>
        <p:nvSpPr>
          <p:cNvPr id="26" name="Rounded Rectangle 25"/>
          <p:cNvSpPr/>
          <p:nvPr/>
        </p:nvSpPr>
        <p:spPr>
          <a:xfrm>
            <a:off x="6217920" y="2971800"/>
            <a:ext cx="5074920" cy="1965960"/>
          </a:xfrm>
          <a:prstGeom prst="roundRect">
            <a:avLst/>
          </a:prstGeom>
          <a:solidFill>
            <a:srgbClr val="FDEBEB"/>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17920" y="2971800"/>
            <a:ext cx="73152" cy="1965960"/>
          </a:xfrm>
          <a:prstGeom prst="rect">
            <a:avLst/>
          </a:prstGeom>
          <a:solidFill>
            <a:srgbClr val="BE2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3108960"/>
            <a:ext cx="4800600" cy="292608"/>
          </a:xfrm>
          <a:prstGeom prst="rect">
            <a:avLst/>
          </a:prstGeom>
          <a:noFill/>
        </p:spPr>
        <p:txBody>
          <a:bodyPr wrap="square" lIns="27432" tIns="18288" rIns="27432" bIns="18288">
            <a:spAutoFit/>
          </a:bodyPr>
          <a:lstStyle/>
          <a:p>
            <a:pPr algn="l">
              <a:defRPr sz="1600" b="1" i="0">
                <a:solidFill>
                  <a:srgbClr val="143E4C"/>
                </a:solidFill>
                <a:latin typeface="Arial"/>
              </a:defRPr>
            </a:pPr>
            <a:r>
              <a:t>Tồn tại qua kiểm tra</a:t>
            </a:r>
          </a:p>
        </p:txBody>
      </p:sp>
      <p:sp>
        <p:nvSpPr>
          <p:cNvPr id="29" name="TextBox 28"/>
          <p:cNvSpPr txBox="1"/>
          <p:nvPr/>
        </p:nvSpPr>
        <p:spPr>
          <a:xfrm>
            <a:off x="6382512" y="3474720"/>
            <a:ext cx="4800600" cy="1371600"/>
          </a:xfrm>
          <a:prstGeom prst="rect">
            <a:avLst/>
          </a:prstGeom>
          <a:noFill/>
        </p:spPr>
        <p:txBody>
          <a:bodyPr wrap="square" lIns="73152" tIns="54864" rIns="73152" bIns="54864">
            <a:spAutoFit/>
          </a:bodyPr>
          <a:lstStyle/>
          <a:p>
            <a:pPr>
              <a:lnSpc>
                <a:spcPct val="100000"/>
              </a:lnSpc>
              <a:spcAft>
                <a:spcPts val="500"/>
              </a:spcAft>
              <a:defRPr sz="1220" b="0">
                <a:solidFill>
                  <a:srgbClr val="303840"/>
                </a:solidFill>
                <a:latin typeface="Arial"/>
              </a:defRPr>
            </a:pPr>
            <a:r>
              <a:rPr dirty="0"/>
              <a:t>• </a:t>
            </a:r>
            <a:r>
              <a:rPr dirty="0" err="1"/>
              <a:t>Áp</a:t>
            </a:r>
            <a:r>
              <a:rPr dirty="0"/>
              <a:t> </a:t>
            </a:r>
            <a:r>
              <a:rPr dirty="0" err="1"/>
              <a:t>dụng</a:t>
            </a:r>
            <a:r>
              <a:rPr dirty="0"/>
              <a:t> </a:t>
            </a:r>
            <a:r>
              <a:rPr dirty="0" err="1"/>
              <a:t>hình</a:t>
            </a:r>
            <a:r>
              <a:rPr dirty="0"/>
              <a:t> </a:t>
            </a:r>
            <a:r>
              <a:rPr dirty="0" err="1"/>
              <a:t>thức</a:t>
            </a:r>
            <a:r>
              <a:rPr dirty="0"/>
              <a:t> </a:t>
            </a:r>
            <a:r>
              <a:rPr dirty="0" err="1"/>
              <a:t>lựa</a:t>
            </a:r>
            <a:r>
              <a:rPr dirty="0"/>
              <a:t> </a:t>
            </a:r>
            <a:r>
              <a:rPr dirty="0" err="1"/>
              <a:t>chọn</a:t>
            </a:r>
            <a:r>
              <a:rPr dirty="0"/>
              <a:t> </a:t>
            </a:r>
            <a:r>
              <a:rPr dirty="0" err="1"/>
              <a:t>chưa</a:t>
            </a:r>
            <a:r>
              <a:rPr dirty="0"/>
              <a:t> </a:t>
            </a:r>
            <a:r>
              <a:rPr dirty="0" err="1"/>
              <a:t>có</a:t>
            </a:r>
            <a:r>
              <a:rPr dirty="0"/>
              <a:t> </a:t>
            </a:r>
            <a:r>
              <a:rPr dirty="0" err="1"/>
              <a:t>đủ</a:t>
            </a:r>
            <a:r>
              <a:rPr dirty="0"/>
              <a:t> </a:t>
            </a:r>
            <a:r>
              <a:rPr dirty="0" err="1"/>
              <a:t>hồ</a:t>
            </a:r>
            <a:r>
              <a:rPr dirty="0"/>
              <a:t> </a:t>
            </a:r>
            <a:r>
              <a:rPr dirty="0" err="1"/>
              <a:t>sơ</a:t>
            </a:r>
            <a:r>
              <a:rPr dirty="0"/>
              <a:t> </a:t>
            </a:r>
            <a:r>
              <a:rPr dirty="0" err="1"/>
              <a:t>chứng</a:t>
            </a:r>
            <a:r>
              <a:rPr dirty="0"/>
              <a:t> </a:t>
            </a:r>
            <a:r>
              <a:rPr dirty="0" err="1"/>
              <a:t>minh</a:t>
            </a:r>
            <a:r>
              <a:rPr dirty="0"/>
              <a:t> </a:t>
            </a:r>
            <a:r>
              <a:rPr dirty="0" err="1"/>
              <a:t>quy</a:t>
            </a:r>
            <a:r>
              <a:rPr dirty="0"/>
              <a:t> </a:t>
            </a:r>
            <a:r>
              <a:rPr dirty="0" err="1"/>
              <a:t>trình</a:t>
            </a:r>
            <a:r>
              <a:rPr dirty="0"/>
              <a:t>.</a:t>
            </a:r>
          </a:p>
          <a:p>
            <a:pPr>
              <a:lnSpc>
                <a:spcPct val="100000"/>
              </a:lnSpc>
              <a:spcAft>
                <a:spcPts val="500"/>
              </a:spcAft>
              <a:defRPr sz="1220" b="0">
                <a:solidFill>
                  <a:srgbClr val="303840"/>
                </a:solidFill>
                <a:latin typeface="Arial"/>
              </a:defRPr>
            </a:pPr>
            <a:r>
              <a:rPr dirty="0"/>
              <a:t>• </a:t>
            </a:r>
            <a:r>
              <a:rPr dirty="0" err="1"/>
              <a:t>Trạm</a:t>
            </a:r>
            <a:r>
              <a:rPr dirty="0"/>
              <a:t> Y </a:t>
            </a:r>
            <a:r>
              <a:rPr dirty="0" err="1"/>
              <a:t>tế</a:t>
            </a:r>
            <a:r>
              <a:rPr dirty="0"/>
              <a:t> </a:t>
            </a:r>
            <a:r>
              <a:rPr dirty="0" err="1"/>
              <a:t>trực</a:t>
            </a:r>
            <a:r>
              <a:rPr dirty="0"/>
              <a:t> </a:t>
            </a:r>
            <a:r>
              <a:rPr dirty="0" err="1"/>
              <a:t>tiếp</a:t>
            </a:r>
            <a:r>
              <a:rPr dirty="0"/>
              <a:t> </a:t>
            </a:r>
            <a:r>
              <a:rPr dirty="0" err="1"/>
              <a:t>ký</a:t>
            </a:r>
            <a:r>
              <a:rPr dirty="0"/>
              <a:t> </a:t>
            </a:r>
            <a:r>
              <a:rPr dirty="0" err="1"/>
              <a:t>hợp</a:t>
            </a:r>
            <a:r>
              <a:rPr dirty="0"/>
              <a:t> </a:t>
            </a:r>
            <a:r>
              <a:rPr dirty="0" err="1"/>
              <a:t>đồng</a:t>
            </a:r>
            <a:r>
              <a:rPr dirty="0"/>
              <a:t> </a:t>
            </a:r>
            <a:r>
              <a:rPr dirty="0" err="1"/>
              <a:t>nhưng</a:t>
            </a:r>
            <a:r>
              <a:rPr dirty="0"/>
              <a:t> </a:t>
            </a:r>
            <a:r>
              <a:rPr dirty="0" err="1"/>
              <a:t>thiếu</a:t>
            </a:r>
            <a:r>
              <a:rPr dirty="0"/>
              <a:t> </a:t>
            </a:r>
            <a:r>
              <a:rPr dirty="0" err="1"/>
              <a:t>căn</a:t>
            </a:r>
            <a:r>
              <a:rPr dirty="0"/>
              <a:t> </a:t>
            </a:r>
            <a:r>
              <a:rPr dirty="0" err="1"/>
              <a:t>cứ</a:t>
            </a:r>
            <a:r>
              <a:rPr dirty="0"/>
              <a:t>, </a:t>
            </a:r>
            <a:r>
              <a:rPr dirty="0" err="1"/>
              <a:t>thiếu</a:t>
            </a:r>
            <a:r>
              <a:rPr dirty="0"/>
              <a:t> </a:t>
            </a:r>
            <a:r>
              <a:rPr dirty="0" err="1"/>
              <a:t>hồ</a:t>
            </a:r>
            <a:r>
              <a:rPr dirty="0"/>
              <a:t> </a:t>
            </a:r>
            <a:r>
              <a:rPr dirty="0" err="1"/>
              <a:t>sơ</a:t>
            </a:r>
            <a:r>
              <a:rPr dirty="0"/>
              <a:t>.</a:t>
            </a:r>
          </a:p>
          <a:p>
            <a:pPr>
              <a:lnSpc>
                <a:spcPct val="100000"/>
              </a:lnSpc>
              <a:spcAft>
                <a:spcPts val="500"/>
              </a:spcAft>
              <a:defRPr sz="1220" b="0">
                <a:solidFill>
                  <a:srgbClr val="303840"/>
                </a:solidFill>
                <a:latin typeface="Arial"/>
              </a:defRPr>
            </a:pPr>
            <a:r>
              <a:rPr dirty="0"/>
              <a:t>• </a:t>
            </a:r>
            <a:r>
              <a:rPr dirty="0" err="1"/>
              <a:t>Đơn</a:t>
            </a:r>
            <a:r>
              <a:rPr dirty="0"/>
              <a:t> </a:t>
            </a:r>
            <a:r>
              <a:rPr dirty="0" err="1"/>
              <a:t>vị</a:t>
            </a:r>
            <a:r>
              <a:rPr dirty="0"/>
              <a:t> </a:t>
            </a:r>
            <a:r>
              <a:rPr dirty="0" err="1"/>
              <a:t>khám</a:t>
            </a:r>
            <a:r>
              <a:rPr dirty="0"/>
              <a:t> </a:t>
            </a:r>
            <a:r>
              <a:rPr dirty="0" err="1"/>
              <a:t>chưa</a:t>
            </a:r>
            <a:r>
              <a:rPr dirty="0"/>
              <a:t> </a:t>
            </a:r>
            <a:r>
              <a:rPr dirty="0" err="1"/>
              <a:t>đáp</a:t>
            </a:r>
            <a:r>
              <a:rPr dirty="0"/>
              <a:t> </a:t>
            </a:r>
            <a:r>
              <a:rPr dirty="0" err="1"/>
              <a:t>ứng</a:t>
            </a:r>
            <a:r>
              <a:rPr dirty="0"/>
              <a:t> </a:t>
            </a:r>
            <a:r>
              <a:rPr dirty="0" err="1"/>
              <a:t>năng</a:t>
            </a:r>
            <a:r>
              <a:rPr dirty="0"/>
              <a:t> </a:t>
            </a:r>
            <a:r>
              <a:rPr dirty="0" err="1"/>
              <a:t>lực</a:t>
            </a:r>
            <a:r>
              <a:rPr dirty="0"/>
              <a:t> CNTT.</a:t>
            </a:r>
          </a:p>
          <a:p>
            <a:pPr>
              <a:lnSpc>
                <a:spcPct val="100000"/>
              </a:lnSpc>
              <a:spcAft>
                <a:spcPts val="500"/>
              </a:spcAft>
              <a:defRPr sz="1220" b="0">
                <a:solidFill>
                  <a:srgbClr val="303840"/>
                </a:solidFill>
                <a:latin typeface="Arial"/>
              </a:defRPr>
            </a:pPr>
            <a:r>
              <a:rPr dirty="0"/>
              <a:t>• </a:t>
            </a:r>
            <a:r>
              <a:rPr dirty="0" err="1"/>
              <a:t>Cán</a:t>
            </a:r>
            <a:r>
              <a:rPr dirty="0"/>
              <a:t> </a:t>
            </a:r>
            <a:r>
              <a:rPr dirty="0" err="1"/>
              <a:t>bộ</a:t>
            </a:r>
            <a:r>
              <a:rPr dirty="0"/>
              <a:t> </a:t>
            </a:r>
            <a:r>
              <a:rPr dirty="0" err="1"/>
              <a:t>khám</a:t>
            </a:r>
            <a:r>
              <a:rPr dirty="0"/>
              <a:t>/</a:t>
            </a:r>
            <a:r>
              <a:rPr dirty="0" err="1"/>
              <a:t>đoàn</a:t>
            </a:r>
            <a:r>
              <a:rPr dirty="0"/>
              <a:t> </a:t>
            </a:r>
            <a:r>
              <a:rPr dirty="0" err="1"/>
              <a:t>khám</a:t>
            </a:r>
            <a:r>
              <a:rPr dirty="0"/>
              <a:t> </a:t>
            </a:r>
            <a:r>
              <a:rPr dirty="0" err="1"/>
              <a:t>chưa</a:t>
            </a:r>
            <a:r>
              <a:rPr dirty="0"/>
              <a:t> </a:t>
            </a:r>
            <a:r>
              <a:rPr dirty="0" err="1"/>
              <a:t>đủ</a:t>
            </a:r>
            <a:r>
              <a:rPr dirty="0"/>
              <a:t> </a:t>
            </a:r>
            <a:r>
              <a:rPr dirty="0" err="1"/>
              <a:t>hồ</a:t>
            </a:r>
            <a:r>
              <a:rPr dirty="0"/>
              <a:t> </a:t>
            </a:r>
            <a:r>
              <a:rPr dirty="0" err="1"/>
              <a:t>sơ</a:t>
            </a:r>
            <a:r>
              <a:rPr dirty="0"/>
              <a:t> </a:t>
            </a:r>
            <a:r>
              <a:rPr dirty="0" err="1"/>
              <a:t>hành</a:t>
            </a:r>
            <a:r>
              <a:rPr dirty="0"/>
              <a:t> </a:t>
            </a:r>
            <a:r>
              <a:rPr dirty="0" err="1"/>
              <a:t>nghề</a:t>
            </a:r>
            <a:r>
              <a:rPr dirty="0"/>
              <a:t> </a:t>
            </a:r>
            <a:r>
              <a:rPr dirty="0" err="1"/>
              <a:t>phù</a:t>
            </a:r>
            <a:r>
              <a:rPr dirty="0"/>
              <a:t> </a:t>
            </a:r>
            <a:r>
              <a:rPr dirty="0" err="1"/>
              <a:t>hợp</a:t>
            </a:r>
            <a:r>
              <a:rPr dirty="0"/>
              <a:t>.</a:t>
            </a:r>
          </a:p>
        </p:txBody>
      </p:sp>
      <p:sp>
        <p:nvSpPr>
          <p:cNvPr id="30" name="TextBox 29"/>
          <p:cNvSpPr txBox="1"/>
          <p:nvPr/>
        </p:nvSpPr>
        <p:spPr>
          <a:xfrm>
            <a:off x="1005840" y="5440680"/>
            <a:ext cx="10149840" cy="320040"/>
          </a:xfrm>
          <a:prstGeom prst="rect">
            <a:avLst/>
          </a:prstGeom>
          <a:noFill/>
        </p:spPr>
        <p:txBody>
          <a:bodyPr wrap="square" lIns="27432" tIns="18288" rIns="27432" bIns="18288">
            <a:spAutoFit/>
          </a:bodyPr>
          <a:lstStyle/>
          <a:p>
            <a:pPr algn="ctr">
              <a:defRPr sz="1420" b="1" i="0">
                <a:solidFill>
                  <a:srgbClr val="143E4C"/>
                </a:solidFill>
                <a:latin typeface="Arial"/>
              </a:defRPr>
            </a:pPr>
            <a:r>
              <a:t>Yêu cầu: lựa chọn đúng đơn vị, đúng năng lực, đúng hồ sơ trước khi tổ chức khám thực tế.</a:t>
            </a:r>
          </a:p>
        </p:txBody>
      </p:sp>
      <p:sp>
        <p:nvSpPr>
          <p:cNvPr id="32" name="TextBox 31">
            <a:extLst>
              <a:ext uri="{FF2B5EF4-FFF2-40B4-BE49-F238E27FC236}">
                <a16:creationId xmlns:a16="http://schemas.microsoft.com/office/drawing/2014/main" id="{1C822CFA-3545-4D65-07B7-93DD141C66F4}"/>
              </a:ext>
            </a:extLst>
          </p:cNvPr>
          <p:cNvSpPr txBox="1"/>
          <p:nvPr/>
        </p:nvSpPr>
        <p:spPr>
          <a:xfrm>
            <a:off x="411480" y="256032"/>
            <a:ext cx="7863840" cy="344710"/>
          </a:xfrm>
          <a:prstGeom prst="rect">
            <a:avLst/>
          </a:prstGeom>
          <a:noFill/>
        </p:spPr>
        <p:txBody>
          <a:bodyPr wrap="square" lIns="27432" tIns="18288" rIns="27432" bIns="18288">
            <a:spAutoFit/>
          </a:bodyPr>
          <a:lstStyle/>
          <a:p>
            <a:pPr algn="ctr">
              <a:defRPr sz="950" b="1" i="0">
                <a:solidFill>
                  <a:srgbClr val="008084"/>
                </a:solidFill>
                <a:latin typeface="Arial"/>
              </a:defRPr>
            </a:pPr>
            <a:r>
              <a:rPr sz="2000" dirty="0"/>
              <a:t>Rút </a:t>
            </a:r>
            <a:r>
              <a:rPr sz="2000" dirty="0" err="1"/>
              <a:t>kinh</a:t>
            </a:r>
            <a:r>
              <a:rPr sz="2000" dirty="0"/>
              <a:t> </a:t>
            </a:r>
            <a:r>
              <a:rPr sz="2000" dirty="0" err="1"/>
              <a:t>nghiệm</a:t>
            </a:r>
            <a:endParaRPr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6492240"/>
            <a:ext cx="11384280" cy="9144"/>
          </a:xfrm>
          <a:prstGeom prst="rect">
            <a:avLst/>
          </a:prstGeom>
          <a:solidFill>
            <a:srgbClr val="CF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0" y="256032"/>
            <a:ext cx="2697480" cy="201168"/>
          </a:xfrm>
          <a:prstGeom prst="rect">
            <a:avLst/>
          </a:prstGeom>
          <a:noFill/>
        </p:spPr>
        <p:txBody>
          <a:bodyPr wrap="square" lIns="27432" tIns="18288" rIns="27432" bIns="18288">
            <a:spAutoFit/>
          </a:bodyPr>
          <a:lstStyle/>
          <a:p>
            <a:pPr algn="r">
              <a:defRPr sz="950" b="0" i="0">
                <a:solidFill>
                  <a:srgbClr val="5F6C76"/>
                </a:solidFill>
                <a:latin typeface="Arial"/>
              </a:defRPr>
            </a:pPr>
            <a:r>
              <a:t>Theo nội dung đánh giá, rút kinh nghiệm</a:t>
            </a:r>
          </a:p>
        </p:txBody>
      </p:sp>
      <p:sp>
        <p:nvSpPr>
          <p:cNvPr id="6" name="TextBox 5"/>
          <p:cNvSpPr txBox="1"/>
          <p:nvPr/>
        </p:nvSpPr>
        <p:spPr>
          <a:xfrm>
            <a:off x="502920" y="749808"/>
            <a:ext cx="10881360" cy="375487"/>
          </a:xfrm>
          <a:prstGeom prst="rect">
            <a:avLst/>
          </a:prstGeom>
          <a:noFill/>
        </p:spPr>
        <p:txBody>
          <a:bodyPr wrap="square" lIns="27432" tIns="18288" rIns="27432" bIns="18288">
            <a:spAutoFit/>
          </a:bodyPr>
          <a:lstStyle/>
          <a:p>
            <a:pPr algn="l">
              <a:defRPr sz="2200" b="1" i="0">
                <a:solidFill>
                  <a:srgbClr val="143E4C"/>
                </a:solidFill>
                <a:latin typeface="Arial"/>
              </a:defRPr>
            </a:pPr>
            <a:r>
              <a:rPr dirty="0"/>
              <a:t>4: VẬN HÀNH ĐIỂM KHÁM</a:t>
            </a:r>
          </a:p>
        </p:txBody>
      </p:sp>
      <p:sp>
        <p:nvSpPr>
          <p:cNvPr id="7" name="TextBox 6"/>
          <p:cNvSpPr txBox="1"/>
          <p:nvPr/>
        </p:nvSpPr>
        <p:spPr>
          <a:xfrm>
            <a:off x="502920" y="1078992"/>
            <a:ext cx="11064240" cy="329184"/>
          </a:xfrm>
          <a:prstGeom prst="rect">
            <a:avLst/>
          </a:prstGeom>
          <a:noFill/>
        </p:spPr>
        <p:txBody>
          <a:bodyPr wrap="square" lIns="27432" tIns="18288" rIns="27432" bIns="18288">
            <a:spAutoFit/>
          </a:bodyPr>
          <a:lstStyle/>
          <a:p>
            <a:pPr algn="l">
              <a:defRPr sz="1550" b="0" i="0">
                <a:solidFill>
                  <a:srgbClr val="5F6C76"/>
                </a:solidFill>
                <a:latin typeface="Arial"/>
              </a:defRPr>
            </a:pPr>
            <a:r>
              <a:t>Điểm khám phải thực hiện đúng quy trình chuyên môn, có điều phối và giám sát trực tiếp.</a:t>
            </a:r>
          </a:p>
        </p:txBody>
      </p:sp>
      <p:sp>
        <p:nvSpPr>
          <p:cNvPr id="8" name="TextBox 7"/>
          <p:cNvSpPr txBox="1"/>
          <p:nvPr/>
        </p:nvSpPr>
        <p:spPr>
          <a:xfrm>
            <a:off x="411480" y="6601968"/>
            <a:ext cx="6400800" cy="164592"/>
          </a:xfrm>
          <a:prstGeom prst="rect">
            <a:avLst/>
          </a:prstGeom>
          <a:noFill/>
        </p:spPr>
        <p:txBody>
          <a:bodyPr wrap="square" lIns="27432" tIns="18288" rIns="27432" bIns="18288">
            <a:spAutoFit/>
          </a:bodyPr>
          <a:lstStyle/>
          <a:p>
            <a:pPr algn="l">
              <a:defRPr sz="750" b="0" i="0">
                <a:solidFill>
                  <a:srgbClr val="5F6C76"/>
                </a:solidFill>
                <a:latin typeface="Arial"/>
              </a:defRPr>
            </a:pPr>
            <a:r>
              <a:t>SỞ Y TẾ HÀ NỘI | Tập huấn khám sàng lọc miễn phí năm 2026</a:t>
            </a:r>
          </a:p>
        </p:txBody>
      </p:sp>
      <p:sp>
        <p:nvSpPr>
          <p:cNvPr id="9" name="TextBox 8"/>
          <p:cNvSpPr txBox="1"/>
          <p:nvPr/>
        </p:nvSpPr>
        <p:spPr>
          <a:xfrm>
            <a:off x="11475720" y="6601968"/>
            <a:ext cx="320040" cy="164592"/>
          </a:xfrm>
          <a:prstGeom prst="rect">
            <a:avLst/>
          </a:prstGeom>
          <a:noFill/>
        </p:spPr>
        <p:txBody>
          <a:bodyPr wrap="square" lIns="27432" tIns="18288" rIns="27432" bIns="18288">
            <a:spAutoFit/>
          </a:bodyPr>
          <a:lstStyle/>
          <a:p>
            <a:pPr algn="r">
              <a:defRPr sz="750" b="0" i="0">
                <a:solidFill>
                  <a:srgbClr val="5F6C76"/>
                </a:solidFill>
                <a:latin typeface="Arial"/>
              </a:defRPr>
            </a:pPr>
            <a:r>
              <a:t>25</a:t>
            </a:r>
          </a:p>
        </p:txBody>
      </p:sp>
      <p:sp>
        <p:nvSpPr>
          <p:cNvPr id="10" name="Rounded Rectangle 9"/>
          <p:cNvSpPr/>
          <p:nvPr/>
        </p:nvSpPr>
        <p:spPr>
          <a:xfrm>
            <a:off x="685800" y="1481328"/>
            <a:ext cx="5394960" cy="1947672"/>
          </a:xfrm>
          <a:prstGeom prst="roundRect">
            <a:avLst/>
          </a:prstGeom>
          <a:solidFill>
            <a:srgbClr val="E8F6EE"/>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1481328"/>
            <a:ext cx="73152" cy="1691640"/>
          </a:xfrm>
          <a:prstGeom prst="rect">
            <a:avLst/>
          </a:prstGeom>
          <a:solidFill>
            <a:srgbClr val="27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 y="1618488"/>
            <a:ext cx="5120640" cy="292608"/>
          </a:xfrm>
          <a:prstGeom prst="rect">
            <a:avLst/>
          </a:prstGeom>
          <a:noFill/>
        </p:spPr>
        <p:txBody>
          <a:bodyPr wrap="square" lIns="27432" tIns="18288" rIns="27432" bIns="18288">
            <a:spAutoFit/>
          </a:bodyPr>
          <a:lstStyle/>
          <a:p>
            <a:pPr algn="l">
              <a:defRPr sz="1600" b="1" i="0">
                <a:solidFill>
                  <a:srgbClr val="143E4C"/>
                </a:solidFill>
                <a:latin typeface="Arial"/>
              </a:defRPr>
            </a:pPr>
            <a:r>
              <a:t>Phải bảo đảm trong buổi khám</a:t>
            </a:r>
          </a:p>
        </p:txBody>
      </p:sp>
      <p:sp>
        <p:nvSpPr>
          <p:cNvPr id="13" name="TextBox 12"/>
          <p:cNvSpPr txBox="1"/>
          <p:nvPr/>
        </p:nvSpPr>
        <p:spPr>
          <a:xfrm>
            <a:off x="850392" y="1984248"/>
            <a:ext cx="5120640" cy="1419876"/>
          </a:xfrm>
          <a:prstGeom prst="rect">
            <a:avLst/>
          </a:prstGeom>
          <a:noFill/>
        </p:spPr>
        <p:txBody>
          <a:bodyPr wrap="square" lIns="73152" tIns="54864" rIns="73152" bIns="54864">
            <a:spAutoFit/>
          </a:bodyPr>
          <a:lstStyle/>
          <a:p>
            <a:pPr>
              <a:lnSpc>
                <a:spcPct val="100000"/>
              </a:lnSpc>
              <a:spcAft>
                <a:spcPts val="500"/>
              </a:spcAft>
              <a:defRPr sz="1140" b="0">
                <a:solidFill>
                  <a:srgbClr val="303840"/>
                </a:solidFill>
                <a:latin typeface="Arial"/>
              </a:defRPr>
            </a:pPr>
            <a:r>
              <a:rPr dirty="0"/>
              <a:t>• </a:t>
            </a:r>
            <a:r>
              <a:rPr dirty="0" err="1"/>
              <a:t>Có</a:t>
            </a:r>
            <a:r>
              <a:rPr dirty="0"/>
              <a:t> </a:t>
            </a:r>
            <a:r>
              <a:rPr dirty="0" err="1"/>
              <a:t>người</a:t>
            </a:r>
            <a:r>
              <a:rPr dirty="0"/>
              <a:t> </a:t>
            </a:r>
            <a:r>
              <a:rPr dirty="0" err="1"/>
              <a:t>hướng</a:t>
            </a:r>
            <a:r>
              <a:rPr dirty="0"/>
              <a:t> </a:t>
            </a:r>
            <a:r>
              <a:rPr dirty="0" err="1"/>
              <a:t>dẫn</a:t>
            </a:r>
            <a:r>
              <a:rPr dirty="0"/>
              <a:t>, </a:t>
            </a:r>
            <a:r>
              <a:rPr dirty="0" err="1"/>
              <a:t>phân</a:t>
            </a:r>
            <a:r>
              <a:rPr dirty="0"/>
              <a:t> </a:t>
            </a:r>
            <a:r>
              <a:rPr dirty="0" err="1"/>
              <a:t>luồng</a:t>
            </a:r>
            <a:r>
              <a:rPr dirty="0"/>
              <a:t>, </a:t>
            </a:r>
            <a:r>
              <a:rPr dirty="0" err="1"/>
              <a:t>kiểm</a:t>
            </a:r>
            <a:r>
              <a:rPr dirty="0"/>
              <a:t> </a:t>
            </a:r>
            <a:r>
              <a:rPr dirty="0" err="1"/>
              <a:t>tra</a:t>
            </a:r>
            <a:r>
              <a:rPr dirty="0"/>
              <a:t> </a:t>
            </a:r>
            <a:r>
              <a:rPr dirty="0" err="1"/>
              <a:t>phiếu</a:t>
            </a:r>
            <a:r>
              <a:rPr dirty="0"/>
              <a:t>.</a:t>
            </a:r>
            <a:endParaRPr lang="vi-VN" dirty="0"/>
          </a:p>
          <a:p>
            <a:pPr>
              <a:spcAft>
                <a:spcPts val="500"/>
              </a:spcAft>
              <a:defRPr sz="1140" b="0">
                <a:solidFill>
                  <a:srgbClr val="303840"/>
                </a:solidFill>
                <a:latin typeface="Arial"/>
              </a:defRPr>
            </a:pPr>
            <a:r>
              <a:rPr lang="en-US" dirty="0"/>
              <a:t>• </a:t>
            </a:r>
            <a:r>
              <a:rPr lang="vi-VN" dirty="0"/>
              <a:t>Phải có bộ phận tiếp đón, rà soát đối chiếu đối tượng, loại trừ đối tượng trùng</a:t>
            </a:r>
            <a:endParaRPr dirty="0"/>
          </a:p>
          <a:p>
            <a:pPr>
              <a:lnSpc>
                <a:spcPct val="100000"/>
              </a:lnSpc>
              <a:spcAft>
                <a:spcPts val="500"/>
              </a:spcAft>
              <a:defRPr sz="1140" b="0">
                <a:solidFill>
                  <a:srgbClr val="303840"/>
                </a:solidFill>
                <a:latin typeface="Arial"/>
              </a:defRPr>
            </a:pPr>
            <a:r>
              <a:rPr dirty="0"/>
              <a:t>• Chia </a:t>
            </a:r>
            <a:r>
              <a:rPr dirty="0" err="1"/>
              <a:t>lịch</a:t>
            </a:r>
            <a:r>
              <a:rPr dirty="0"/>
              <a:t> </a:t>
            </a:r>
            <a:r>
              <a:rPr dirty="0" err="1"/>
              <a:t>theo</a:t>
            </a:r>
            <a:r>
              <a:rPr dirty="0"/>
              <a:t> </a:t>
            </a:r>
            <a:r>
              <a:rPr dirty="0" err="1"/>
              <a:t>khung</a:t>
            </a:r>
            <a:r>
              <a:rPr dirty="0"/>
              <a:t> </a:t>
            </a:r>
            <a:r>
              <a:rPr dirty="0" err="1"/>
              <a:t>giờ</a:t>
            </a:r>
            <a:r>
              <a:rPr dirty="0"/>
              <a:t>, </a:t>
            </a:r>
            <a:r>
              <a:rPr dirty="0" err="1"/>
              <a:t>hạn</a:t>
            </a:r>
            <a:r>
              <a:rPr dirty="0"/>
              <a:t> </a:t>
            </a:r>
            <a:r>
              <a:rPr dirty="0" err="1"/>
              <a:t>chế</a:t>
            </a:r>
            <a:r>
              <a:rPr dirty="0"/>
              <a:t> </a:t>
            </a:r>
            <a:r>
              <a:rPr dirty="0" err="1"/>
              <a:t>ùn</a:t>
            </a:r>
            <a:r>
              <a:rPr dirty="0"/>
              <a:t> </a:t>
            </a:r>
            <a:r>
              <a:rPr dirty="0" err="1"/>
              <a:t>tắc</a:t>
            </a:r>
            <a:r>
              <a:rPr dirty="0"/>
              <a:t>.</a:t>
            </a:r>
          </a:p>
          <a:p>
            <a:pPr>
              <a:lnSpc>
                <a:spcPct val="100000"/>
              </a:lnSpc>
              <a:spcAft>
                <a:spcPts val="500"/>
              </a:spcAft>
              <a:defRPr sz="1140" b="0">
                <a:solidFill>
                  <a:srgbClr val="303840"/>
                </a:solidFill>
                <a:latin typeface="Arial"/>
              </a:defRPr>
            </a:pPr>
            <a:r>
              <a:rPr dirty="0"/>
              <a:t>• </a:t>
            </a:r>
            <a:r>
              <a:rPr dirty="0" err="1"/>
              <a:t>Khám</a:t>
            </a:r>
            <a:r>
              <a:rPr dirty="0"/>
              <a:t> </a:t>
            </a:r>
            <a:r>
              <a:rPr dirty="0" err="1"/>
              <a:t>trên</a:t>
            </a:r>
            <a:r>
              <a:rPr dirty="0"/>
              <a:t> </a:t>
            </a:r>
            <a:r>
              <a:rPr dirty="0" err="1"/>
              <a:t>phần</a:t>
            </a:r>
            <a:r>
              <a:rPr dirty="0"/>
              <a:t> </a:t>
            </a:r>
            <a:r>
              <a:rPr dirty="0" err="1"/>
              <a:t>mềm</a:t>
            </a:r>
            <a:r>
              <a:rPr dirty="0"/>
              <a:t>/</a:t>
            </a:r>
            <a:r>
              <a:rPr dirty="0" err="1"/>
              <a:t>máy</a:t>
            </a:r>
            <a:r>
              <a:rPr dirty="0"/>
              <a:t> </a:t>
            </a:r>
            <a:r>
              <a:rPr dirty="0" err="1"/>
              <a:t>tính</a:t>
            </a:r>
            <a:r>
              <a:rPr dirty="0"/>
              <a:t>, </a:t>
            </a:r>
            <a:r>
              <a:rPr dirty="0" err="1"/>
              <a:t>giảm</a:t>
            </a:r>
            <a:r>
              <a:rPr dirty="0"/>
              <a:t> </a:t>
            </a:r>
            <a:r>
              <a:rPr dirty="0" err="1"/>
              <a:t>nhập</a:t>
            </a:r>
            <a:r>
              <a:rPr dirty="0"/>
              <a:t> </a:t>
            </a:r>
            <a:r>
              <a:rPr dirty="0" err="1"/>
              <a:t>lại</a:t>
            </a:r>
            <a:r>
              <a:rPr dirty="0"/>
              <a:t> </a:t>
            </a:r>
            <a:r>
              <a:rPr dirty="0" err="1"/>
              <a:t>và</a:t>
            </a:r>
            <a:r>
              <a:rPr dirty="0"/>
              <a:t> </a:t>
            </a:r>
            <a:r>
              <a:rPr dirty="0" err="1"/>
              <a:t>sai</a:t>
            </a:r>
            <a:r>
              <a:rPr dirty="0"/>
              <a:t> </a:t>
            </a:r>
            <a:r>
              <a:rPr dirty="0" err="1"/>
              <a:t>sót</a:t>
            </a:r>
            <a:r>
              <a:rPr dirty="0"/>
              <a:t>.</a:t>
            </a:r>
          </a:p>
          <a:p>
            <a:pPr>
              <a:lnSpc>
                <a:spcPct val="100000"/>
              </a:lnSpc>
              <a:spcAft>
                <a:spcPts val="500"/>
              </a:spcAft>
              <a:defRPr sz="1140" b="0">
                <a:solidFill>
                  <a:srgbClr val="303840"/>
                </a:solidFill>
                <a:latin typeface="Arial"/>
              </a:defRPr>
            </a:pPr>
            <a:r>
              <a:rPr dirty="0"/>
              <a:t>• TYT </a:t>
            </a:r>
            <a:r>
              <a:rPr dirty="0" err="1"/>
              <a:t>giám</a:t>
            </a:r>
            <a:r>
              <a:rPr dirty="0"/>
              <a:t> </a:t>
            </a:r>
            <a:r>
              <a:rPr dirty="0" err="1"/>
              <a:t>sát</a:t>
            </a:r>
            <a:r>
              <a:rPr dirty="0"/>
              <a:t> </a:t>
            </a:r>
            <a:r>
              <a:rPr dirty="0" err="1"/>
              <a:t>quy</a:t>
            </a:r>
            <a:r>
              <a:rPr dirty="0"/>
              <a:t> </a:t>
            </a:r>
            <a:r>
              <a:rPr dirty="0" err="1"/>
              <a:t>trình</a:t>
            </a:r>
            <a:r>
              <a:rPr dirty="0"/>
              <a:t>, </a:t>
            </a:r>
            <a:r>
              <a:rPr dirty="0" err="1"/>
              <a:t>nhân</a:t>
            </a:r>
            <a:r>
              <a:rPr dirty="0"/>
              <a:t> </a:t>
            </a:r>
            <a:r>
              <a:rPr dirty="0" err="1"/>
              <a:t>sự</a:t>
            </a:r>
            <a:r>
              <a:rPr dirty="0"/>
              <a:t> </a:t>
            </a:r>
            <a:r>
              <a:rPr dirty="0" err="1"/>
              <a:t>và</a:t>
            </a:r>
            <a:r>
              <a:rPr dirty="0"/>
              <a:t> </a:t>
            </a:r>
            <a:r>
              <a:rPr dirty="0" err="1"/>
              <a:t>chuyên</a:t>
            </a:r>
            <a:r>
              <a:rPr dirty="0"/>
              <a:t> khoa.</a:t>
            </a:r>
          </a:p>
        </p:txBody>
      </p:sp>
      <p:sp>
        <p:nvSpPr>
          <p:cNvPr id="14" name="Rounded Rectangle 13"/>
          <p:cNvSpPr/>
          <p:nvPr/>
        </p:nvSpPr>
        <p:spPr>
          <a:xfrm>
            <a:off x="6355080" y="1481328"/>
            <a:ext cx="5166360" cy="1975104"/>
          </a:xfrm>
          <a:prstGeom prst="roundRect">
            <a:avLst/>
          </a:prstGeom>
          <a:solidFill>
            <a:srgbClr val="FDEBEB"/>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55080" y="1481328"/>
            <a:ext cx="73152" cy="1691640"/>
          </a:xfrm>
          <a:prstGeom prst="rect">
            <a:avLst/>
          </a:prstGeom>
          <a:solidFill>
            <a:srgbClr val="BE2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19672" y="1618488"/>
            <a:ext cx="4892040" cy="292608"/>
          </a:xfrm>
          <a:prstGeom prst="rect">
            <a:avLst/>
          </a:prstGeom>
          <a:noFill/>
        </p:spPr>
        <p:txBody>
          <a:bodyPr wrap="square" lIns="27432" tIns="18288" rIns="27432" bIns="18288">
            <a:spAutoFit/>
          </a:bodyPr>
          <a:lstStyle/>
          <a:p>
            <a:pPr algn="l">
              <a:defRPr sz="1600" b="1" i="0">
                <a:solidFill>
                  <a:srgbClr val="143E4C"/>
                </a:solidFill>
                <a:latin typeface="Arial"/>
              </a:defRPr>
            </a:pPr>
            <a:r>
              <a:rPr dirty="0"/>
              <a:t>Các </a:t>
            </a:r>
            <a:r>
              <a:rPr dirty="0" err="1"/>
              <a:t>lỗi</a:t>
            </a:r>
            <a:r>
              <a:rPr dirty="0"/>
              <a:t> </a:t>
            </a:r>
            <a:r>
              <a:rPr dirty="0" err="1"/>
              <a:t>cần</a:t>
            </a:r>
            <a:r>
              <a:rPr dirty="0"/>
              <a:t> </a:t>
            </a:r>
            <a:r>
              <a:rPr dirty="0" err="1"/>
              <a:t>tránh</a:t>
            </a:r>
            <a:endParaRPr dirty="0"/>
          </a:p>
        </p:txBody>
      </p:sp>
      <p:sp>
        <p:nvSpPr>
          <p:cNvPr id="17" name="TextBox 16"/>
          <p:cNvSpPr txBox="1"/>
          <p:nvPr/>
        </p:nvSpPr>
        <p:spPr>
          <a:xfrm>
            <a:off x="6519672" y="1984248"/>
            <a:ext cx="4892040" cy="1355756"/>
          </a:xfrm>
          <a:prstGeom prst="rect">
            <a:avLst/>
          </a:prstGeom>
          <a:noFill/>
        </p:spPr>
        <p:txBody>
          <a:bodyPr wrap="square" lIns="73152" tIns="54864" rIns="73152" bIns="54864">
            <a:spAutoFit/>
          </a:bodyPr>
          <a:lstStyle/>
          <a:p>
            <a:pPr>
              <a:lnSpc>
                <a:spcPct val="100000"/>
              </a:lnSpc>
              <a:spcAft>
                <a:spcPts val="500"/>
              </a:spcAft>
              <a:defRPr sz="1140" b="0">
                <a:solidFill>
                  <a:srgbClr val="303840"/>
                </a:solidFill>
                <a:latin typeface="Arial"/>
              </a:defRPr>
            </a:pPr>
            <a:r>
              <a:rPr dirty="0"/>
              <a:t>• </a:t>
            </a:r>
            <a:r>
              <a:rPr dirty="0" err="1"/>
              <a:t>Khám</a:t>
            </a:r>
            <a:r>
              <a:rPr dirty="0"/>
              <a:t> </a:t>
            </a:r>
            <a:r>
              <a:rPr dirty="0" err="1"/>
              <a:t>thiếu</a:t>
            </a:r>
            <a:r>
              <a:rPr dirty="0"/>
              <a:t> </a:t>
            </a:r>
            <a:r>
              <a:rPr dirty="0" err="1"/>
              <a:t>chuyên</a:t>
            </a:r>
            <a:r>
              <a:rPr dirty="0"/>
              <a:t> khoa </a:t>
            </a:r>
            <a:r>
              <a:rPr dirty="0" err="1"/>
              <a:t>hoặc</a:t>
            </a:r>
            <a:r>
              <a:rPr dirty="0"/>
              <a:t> </a:t>
            </a:r>
            <a:r>
              <a:rPr dirty="0" err="1"/>
              <a:t>thiếu</a:t>
            </a:r>
            <a:r>
              <a:rPr dirty="0"/>
              <a:t> </a:t>
            </a:r>
            <a:r>
              <a:rPr dirty="0" err="1"/>
              <a:t>nội</a:t>
            </a:r>
            <a:r>
              <a:rPr dirty="0"/>
              <a:t> dung.</a:t>
            </a:r>
          </a:p>
          <a:p>
            <a:pPr>
              <a:lnSpc>
                <a:spcPct val="100000"/>
              </a:lnSpc>
              <a:spcAft>
                <a:spcPts val="500"/>
              </a:spcAft>
              <a:defRPr sz="1140" b="0">
                <a:solidFill>
                  <a:srgbClr val="303840"/>
                </a:solidFill>
                <a:latin typeface="Arial"/>
              </a:defRPr>
            </a:pPr>
            <a:r>
              <a:rPr dirty="0"/>
              <a:t>• </a:t>
            </a:r>
            <a:r>
              <a:rPr dirty="0" err="1"/>
              <a:t>Cán</a:t>
            </a:r>
            <a:r>
              <a:rPr dirty="0"/>
              <a:t> </a:t>
            </a:r>
            <a:r>
              <a:rPr dirty="0" err="1"/>
              <a:t>bộ</a:t>
            </a:r>
            <a:r>
              <a:rPr dirty="0"/>
              <a:t> </a:t>
            </a:r>
            <a:r>
              <a:rPr dirty="0" err="1"/>
              <a:t>khám</a:t>
            </a:r>
            <a:r>
              <a:rPr dirty="0"/>
              <a:t> </a:t>
            </a:r>
            <a:r>
              <a:rPr dirty="0" err="1"/>
              <a:t>không</a:t>
            </a:r>
            <a:r>
              <a:rPr dirty="0"/>
              <a:t> </a:t>
            </a:r>
            <a:r>
              <a:rPr dirty="0" err="1"/>
              <a:t>có</a:t>
            </a:r>
            <a:r>
              <a:rPr dirty="0"/>
              <a:t> </a:t>
            </a:r>
            <a:r>
              <a:rPr dirty="0" err="1"/>
              <a:t>giấy</a:t>
            </a:r>
            <a:r>
              <a:rPr dirty="0"/>
              <a:t> </a:t>
            </a:r>
            <a:r>
              <a:rPr dirty="0" err="1"/>
              <a:t>phép</a:t>
            </a:r>
            <a:r>
              <a:rPr dirty="0"/>
              <a:t> </a:t>
            </a:r>
            <a:r>
              <a:rPr dirty="0" err="1"/>
              <a:t>hành</a:t>
            </a:r>
            <a:r>
              <a:rPr dirty="0"/>
              <a:t> </a:t>
            </a:r>
            <a:r>
              <a:rPr dirty="0" err="1"/>
              <a:t>nghề</a:t>
            </a:r>
            <a:r>
              <a:rPr dirty="0"/>
              <a:t> </a:t>
            </a:r>
            <a:r>
              <a:rPr dirty="0" err="1"/>
              <a:t>phù</a:t>
            </a:r>
            <a:r>
              <a:rPr dirty="0"/>
              <a:t> </a:t>
            </a:r>
            <a:r>
              <a:rPr dirty="0" err="1"/>
              <a:t>hợp</a:t>
            </a:r>
            <a:r>
              <a:rPr dirty="0"/>
              <a:t>.</a:t>
            </a:r>
          </a:p>
          <a:p>
            <a:pPr>
              <a:lnSpc>
                <a:spcPct val="100000"/>
              </a:lnSpc>
              <a:spcAft>
                <a:spcPts val="500"/>
              </a:spcAft>
              <a:defRPr sz="1140" b="0">
                <a:solidFill>
                  <a:srgbClr val="303840"/>
                </a:solidFill>
                <a:latin typeface="Arial"/>
              </a:defRPr>
            </a:pPr>
            <a:r>
              <a:rPr dirty="0"/>
              <a:t>• </a:t>
            </a:r>
            <a:r>
              <a:rPr dirty="0" err="1"/>
              <a:t>Không</a:t>
            </a:r>
            <a:r>
              <a:rPr dirty="0"/>
              <a:t> </a:t>
            </a:r>
            <a:r>
              <a:rPr dirty="0" err="1"/>
              <a:t>đáp</a:t>
            </a:r>
            <a:r>
              <a:rPr dirty="0"/>
              <a:t> </a:t>
            </a:r>
            <a:r>
              <a:rPr dirty="0" err="1"/>
              <a:t>ứng</a:t>
            </a:r>
            <a:r>
              <a:rPr dirty="0"/>
              <a:t> </a:t>
            </a:r>
            <a:r>
              <a:rPr dirty="0" err="1"/>
              <a:t>điều</a:t>
            </a:r>
            <a:r>
              <a:rPr dirty="0"/>
              <a:t> </a:t>
            </a:r>
            <a:r>
              <a:rPr dirty="0" err="1"/>
              <a:t>kiện</a:t>
            </a:r>
            <a:r>
              <a:rPr dirty="0"/>
              <a:t> X-</a:t>
            </a:r>
            <a:r>
              <a:rPr dirty="0" err="1"/>
              <a:t>quang</a:t>
            </a:r>
            <a:r>
              <a:rPr dirty="0"/>
              <a:t> </a:t>
            </a:r>
            <a:r>
              <a:rPr dirty="0" err="1"/>
              <a:t>khi</a:t>
            </a:r>
            <a:r>
              <a:rPr dirty="0"/>
              <a:t> </a:t>
            </a:r>
            <a:r>
              <a:rPr dirty="0" err="1"/>
              <a:t>khám</a:t>
            </a:r>
            <a:r>
              <a:rPr dirty="0"/>
              <a:t> </a:t>
            </a:r>
            <a:r>
              <a:rPr dirty="0" err="1"/>
              <a:t>lưu</a:t>
            </a:r>
            <a:r>
              <a:rPr dirty="0"/>
              <a:t> </a:t>
            </a:r>
            <a:r>
              <a:rPr lang="vi-VN" dirty="0"/>
              <a:t>động, Khi khám lưu động bắt buộc có phải có máy X-quang, không được từ chối khám lưu động khi không có máy X-quang</a:t>
            </a:r>
            <a:endParaRPr dirty="0"/>
          </a:p>
          <a:p>
            <a:pPr>
              <a:lnSpc>
                <a:spcPct val="100000"/>
              </a:lnSpc>
              <a:spcAft>
                <a:spcPts val="500"/>
              </a:spcAft>
              <a:defRPr sz="1140" b="0">
                <a:solidFill>
                  <a:srgbClr val="303840"/>
                </a:solidFill>
                <a:latin typeface="Arial"/>
              </a:defRPr>
            </a:pPr>
            <a:r>
              <a:rPr dirty="0"/>
              <a:t>• Thu </a:t>
            </a:r>
            <a:r>
              <a:rPr dirty="0" err="1"/>
              <a:t>tiền</a:t>
            </a:r>
            <a:r>
              <a:rPr dirty="0"/>
              <a:t> </a:t>
            </a:r>
            <a:r>
              <a:rPr dirty="0" err="1"/>
              <a:t>dịch</a:t>
            </a:r>
            <a:r>
              <a:rPr dirty="0"/>
              <a:t> </a:t>
            </a:r>
            <a:r>
              <a:rPr dirty="0" err="1"/>
              <a:t>vụ</a:t>
            </a:r>
            <a:r>
              <a:rPr dirty="0"/>
              <a:t> </a:t>
            </a:r>
            <a:r>
              <a:rPr dirty="0" err="1"/>
              <a:t>không</a:t>
            </a:r>
            <a:r>
              <a:rPr dirty="0"/>
              <a:t> </a:t>
            </a:r>
            <a:r>
              <a:rPr dirty="0" err="1"/>
              <a:t>trong</a:t>
            </a:r>
            <a:r>
              <a:rPr dirty="0"/>
              <a:t> </a:t>
            </a:r>
            <a:r>
              <a:rPr dirty="0" err="1"/>
              <a:t>danh</a:t>
            </a:r>
            <a:r>
              <a:rPr dirty="0"/>
              <a:t> </a:t>
            </a:r>
            <a:r>
              <a:rPr dirty="0" err="1"/>
              <a:t>mục</a:t>
            </a:r>
            <a:r>
              <a:rPr dirty="0"/>
              <a:t>.</a:t>
            </a:r>
          </a:p>
        </p:txBody>
      </p:sp>
      <p:sp>
        <p:nvSpPr>
          <p:cNvPr id="18" name="Rounded Rectangle 17"/>
          <p:cNvSpPr/>
          <p:nvPr/>
        </p:nvSpPr>
        <p:spPr>
          <a:xfrm>
            <a:off x="868680" y="3681748"/>
            <a:ext cx="10424160" cy="1143000"/>
          </a:xfrm>
          <a:prstGeom prst="roundRect">
            <a:avLst/>
          </a:prstGeom>
          <a:solidFill>
            <a:srgbClr val="FFFFFF"/>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3864628"/>
            <a:ext cx="9966960" cy="256032"/>
          </a:xfrm>
          <a:prstGeom prst="rect">
            <a:avLst/>
          </a:prstGeom>
          <a:noFill/>
        </p:spPr>
        <p:txBody>
          <a:bodyPr wrap="square" lIns="27432" tIns="18288" rIns="27432" bIns="18288">
            <a:spAutoFit/>
          </a:bodyPr>
          <a:lstStyle/>
          <a:p>
            <a:pPr algn="l">
              <a:defRPr sz="1550" b="1" i="0">
                <a:solidFill>
                  <a:srgbClr val="143E4C"/>
                </a:solidFill>
                <a:latin typeface="Arial"/>
              </a:defRPr>
            </a:pPr>
            <a:r>
              <a:t>Quy trình chuyên môn cần duy trì</a:t>
            </a:r>
          </a:p>
        </p:txBody>
      </p:sp>
      <p:sp>
        <p:nvSpPr>
          <p:cNvPr id="20" name="TextBox 19"/>
          <p:cNvSpPr txBox="1"/>
          <p:nvPr/>
        </p:nvSpPr>
        <p:spPr>
          <a:xfrm>
            <a:off x="1097280" y="4212100"/>
            <a:ext cx="9829800" cy="411480"/>
          </a:xfrm>
          <a:prstGeom prst="rect">
            <a:avLst/>
          </a:prstGeom>
          <a:noFill/>
        </p:spPr>
        <p:txBody>
          <a:bodyPr wrap="square" lIns="73152" tIns="54864" rIns="73152" bIns="54864">
            <a:spAutoFit/>
          </a:bodyPr>
          <a:lstStyle/>
          <a:p>
            <a:pPr>
              <a:lnSpc>
                <a:spcPct val="100000"/>
              </a:lnSpc>
              <a:spcAft>
                <a:spcPts val="500"/>
              </a:spcAft>
              <a:defRPr sz="1170" b="0">
                <a:solidFill>
                  <a:srgbClr val="303840"/>
                </a:solidFill>
                <a:latin typeface="Arial"/>
              </a:defRPr>
            </a:pPr>
            <a:r>
              <a:rPr dirty="0" err="1"/>
              <a:t>Khám</a:t>
            </a:r>
            <a:r>
              <a:rPr dirty="0"/>
              <a:t> </a:t>
            </a:r>
            <a:r>
              <a:rPr dirty="0" err="1"/>
              <a:t>đầy</a:t>
            </a:r>
            <a:r>
              <a:rPr dirty="0"/>
              <a:t> </a:t>
            </a:r>
            <a:r>
              <a:rPr dirty="0" err="1"/>
              <a:t>đủ</a:t>
            </a:r>
            <a:r>
              <a:rPr dirty="0"/>
              <a:t> </a:t>
            </a:r>
            <a:r>
              <a:rPr dirty="0" err="1"/>
              <a:t>theo</a:t>
            </a:r>
            <a:r>
              <a:rPr dirty="0"/>
              <a:t> </a:t>
            </a:r>
            <a:r>
              <a:rPr dirty="0" err="1"/>
              <a:t>hướng</a:t>
            </a:r>
            <a:r>
              <a:rPr dirty="0"/>
              <a:t> </a:t>
            </a:r>
            <a:r>
              <a:rPr dirty="0" err="1"/>
              <a:t>dẫn</a:t>
            </a:r>
            <a:r>
              <a:rPr dirty="0"/>
              <a:t> </a:t>
            </a:r>
            <a:r>
              <a:rPr dirty="0" err="1"/>
              <a:t>Bộ</a:t>
            </a:r>
            <a:r>
              <a:rPr dirty="0"/>
              <a:t> Y </a:t>
            </a:r>
            <a:r>
              <a:rPr dirty="0" err="1"/>
              <a:t>tế</a:t>
            </a:r>
            <a:r>
              <a:rPr dirty="0"/>
              <a:t>; </a:t>
            </a:r>
            <a:r>
              <a:rPr dirty="0" err="1"/>
              <a:t>thông</a:t>
            </a:r>
            <a:r>
              <a:rPr dirty="0"/>
              <a:t> </a:t>
            </a:r>
            <a:r>
              <a:rPr dirty="0" err="1"/>
              <a:t>báo</a:t>
            </a:r>
            <a:r>
              <a:rPr dirty="0"/>
              <a:t> </a:t>
            </a:r>
            <a:r>
              <a:rPr dirty="0" err="1"/>
              <a:t>kết</a:t>
            </a:r>
            <a:r>
              <a:rPr dirty="0"/>
              <a:t> </a:t>
            </a:r>
            <a:r>
              <a:rPr dirty="0" err="1"/>
              <a:t>quả</a:t>
            </a:r>
            <a:r>
              <a:rPr dirty="0"/>
              <a:t> </a:t>
            </a:r>
            <a:r>
              <a:rPr dirty="0" err="1"/>
              <a:t>trong</a:t>
            </a:r>
            <a:r>
              <a:rPr dirty="0"/>
              <a:t> 24–48 </a:t>
            </a:r>
            <a:r>
              <a:rPr dirty="0" err="1"/>
              <a:t>giờ</a:t>
            </a:r>
            <a:r>
              <a:rPr dirty="0"/>
              <a:t>; </a:t>
            </a:r>
            <a:r>
              <a:rPr dirty="0" err="1"/>
              <a:t>tư</a:t>
            </a:r>
            <a:r>
              <a:rPr dirty="0"/>
              <a:t> </a:t>
            </a:r>
            <a:r>
              <a:rPr dirty="0" err="1"/>
              <a:t>vấn</a:t>
            </a:r>
            <a:r>
              <a:rPr dirty="0"/>
              <a:t> </a:t>
            </a:r>
            <a:r>
              <a:rPr dirty="0" err="1"/>
              <a:t>sức</a:t>
            </a:r>
            <a:r>
              <a:rPr dirty="0"/>
              <a:t> </a:t>
            </a:r>
            <a:r>
              <a:rPr dirty="0" err="1"/>
              <a:t>khỏe</a:t>
            </a:r>
            <a:r>
              <a:rPr dirty="0"/>
              <a:t>; </a:t>
            </a:r>
            <a:r>
              <a:rPr dirty="0" err="1"/>
              <a:t>chuyển</a:t>
            </a:r>
            <a:r>
              <a:rPr dirty="0"/>
              <a:t> </a:t>
            </a:r>
            <a:r>
              <a:rPr dirty="0" err="1"/>
              <a:t>tuyến</a:t>
            </a:r>
            <a:r>
              <a:rPr dirty="0"/>
              <a:t> </a:t>
            </a:r>
            <a:r>
              <a:rPr dirty="0" err="1"/>
              <a:t>khi</a:t>
            </a:r>
            <a:r>
              <a:rPr dirty="0"/>
              <a:t> </a:t>
            </a:r>
            <a:r>
              <a:rPr dirty="0" err="1"/>
              <a:t>cần</a:t>
            </a:r>
            <a:r>
              <a:rPr dirty="0"/>
              <a:t>; </a:t>
            </a:r>
            <a:r>
              <a:rPr dirty="0" err="1"/>
              <a:t>lập</a:t>
            </a:r>
            <a:r>
              <a:rPr dirty="0"/>
              <a:t>/</a:t>
            </a:r>
            <a:r>
              <a:rPr dirty="0" err="1"/>
              <a:t>nhập</a:t>
            </a:r>
            <a:r>
              <a:rPr dirty="0"/>
              <a:t> </a:t>
            </a:r>
            <a:r>
              <a:rPr dirty="0" err="1"/>
              <a:t>kết</a:t>
            </a:r>
            <a:r>
              <a:rPr dirty="0"/>
              <a:t> </a:t>
            </a:r>
            <a:r>
              <a:rPr dirty="0" err="1"/>
              <a:t>quả</a:t>
            </a:r>
            <a:r>
              <a:rPr dirty="0"/>
              <a:t> </a:t>
            </a:r>
            <a:r>
              <a:rPr dirty="0" err="1"/>
              <a:t>vào</a:t>
            </a:r>
            <a:r>
              <a:rPr dirty="0"/>
              <a:t> HSSKĐT </a:t>
            </a:r>
            <a:r>
              <a:rPr dirty="0" err="1"/>
              <a:t>để</a:t>
            </a:r>
            <a:r>
              <a:rPr dirty="0"/>
              <a:t> </a:t>
            </a:r>
            <a:r>
              <a:rPr dirty="0" err="1"/>
              <a:t>quản</a:t>
            </a:r>
            <a:r>
              <a:rPr dirty="0"/>
              <a:t> </a:t>
            </a:r>
            <a:r>
              <a:rPr dirty="0" err="1"/>
              <a:t>lý</a:t>
            </a:r>
            <a:r>
              <a:rPr dirty="0"/>
              <a:t> </a:t>
            </a:r>
            <a:r>
              <a:rPr dirty="0" err="1"/>
              <a:t>theo</a:t>
            </a:r>
            <a:r>
              <a:rPr dirty="0"/>
              <a:t> </a:t>
            </a:r>
            <a:r>
              <a:rPr dirty="0" err="1"/>
              <a:t>vòng</a:t>
            </a:r>
            <a:r>
              <a:rPr dirty="0"/>
              <a:t> </a:t>
            </a:r>
            <a:r>
              <a:rPr dirty="0" err="1"/>
              <a:t>đời</a:t>
            </a:r>
            <a:r>
              <a:rPr dirty="0"/>
              <a:t>.</a:t>
            </a:r>
          </a:p>
        </p:txBody>
      </p:sp>
      <p:sp>
        <p:nvSpPr>
          <p:cNvPr id="21" name="Rounded Rectangle 20"/>
          <p:cNvSpPr/>
          <p:nvPr/>
        </p:nvSpPr>
        <p:spPr>
          <a:xfrm>
            <a:off x="1097280" y="5102352"/>
            <a:ext cx="9875520" cy="658368"/>
          </a:xfrm>
          <a:prstGeom prst="roundRect">
            <a:avLst/>
          </a:prstGeom>
          <a:solidFill>
            <a:srgbClr val="E5F5F7"/>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98448" y="5276088"/>
            <a:ext cx="1417320" cy="201168"/>
          </a:xfrm>
          <a:prstGeom prst="rect">
            <a:avLst/>
          </a:prstGeom>
          <a:noFill/>
        </p:spPr>
        <p:txBody>
          <a:bodyPr wrap="square" lIns="27432" tIns="18288" rIns="27432" bIns="18288">
            <a:spAutoFit/>
          </a:bodyPr>
          <a:lstStyle/>
          <a:p>
            <a:pPr algn="l">
              <a:defRPr sz="1250" b="1" i="0">
                <a:solidFill>
                  <a:srgbClr val="143E4C"/>
                </a:solidFill>
                <a:latin typeface="Arial"/>
              </a:defRPr>
            </a:pPr>
            <a:r>
              <a:t>Điểm mấu chốt</a:t>
            </a:r>
          </a:p>
        </p:txBody>
      </p:sp>
      <p:sp>
        <p:nvSpPr>
          <p:cNvPr id="23" name="TextBox 22"/>
          <p:cNvSpPr txBox="1"/>
          <p:nvPr/>
        </p:nvSpPr>
        <p:spPr>
          <a:xfrm>
            <a:off x="2651760" y="5276088"/>
            <a:ext cx="7955279" cy="390876"/>
          </a:xfrm>
          <a:prstGeom prst="rect">
            <a:avLst/>
          </a:prstGeom>
          <a:noFill/>
        </p:spPr>
        <p:txBody>
          <a:bodyPr wrap="square" lIns="27432" tIns="18288" rIns="27432" bIns="18288">
            <a:spAutoFit/>
          </a:bodyPr>
          <a:lstStyle/>
          <a:p>
            <a:pPr algn="l">
              <a:defRPr sz="1150" b="0" i="0">
                <a:solidFill>
                  <a:srgbClr val="303840"/>
                </a:solidFill>
                <a:latin typeface="Arial"/>
              </a:defRPr>
            </a:pPr>
            <a:r>
              <a:rPr dirty="0" err="1"/>
              <a:t>Khám</a:t>
            </a:r>
            <a:r>
              <a:rPr dirty="0"/>
              <a:t> </a:t>
            </a:r>
            <a:r>
              <a:rPr dirty="0" err="1"/>
              <a:t>lưu</a:t>
            </a:r>
            <a:r>
              <a:rPr dirty="0"/>
              <a:t> </a:t>
            </a:r>
            <a:r>
              <a:rPr dirty="0" err="1"/>
              <a:t>động</a:t>
            </a:r>
            <a:r>
              <a:rPr dirty="0"/>
              <a:t> </a:t>
            </a:r>
            <a:r>
              <a:rPr dirty="0" err="1"/>
              <a:t>thuận</a:t>
            </a:r>
            <a:r>
              <a:rPr dirty="0"/>
              <a:t> </a:t>
            </a:r>
            <a:r>
              <a:rPr dirty="0" err="1"/>
              <a:t>tiện</a:t>
            </a:r>
            <a:r>
              <a:rPr dirty="0"/>
              <a:t> </a:t>
            </a:r>
            <a:r>
              <a:rPr dirty="0" err="1"/>
              <a:t>nhưng</a:t>
            </a:r>
            <a:r>
              <a:rPr dirty="0"/>
              <a:t> </a:t>
            </a:r>
            <a:r>
              <a:rPr dirty="0" err="1"/>
              <a:t>không</a:t>
            </a:r>
            <a:r>
              <a:rPr dirty="0"/>
              <a:t> </a:t>
            </a:r>
            <a:r>
              <a:rPr dirty="0" err="1"/>
              <a:t>được</a:t>
            </a:r>
            <a:r>
              <a:rPr dirty="0"/>
              <a:t> </a:t>
            </a:r>
            <a:r>
              <a:rPr dirty="0" err="1"/>
              <a:t>giảm</a:t>
            </a:r>
            <a:r>
              <a:rPr dirty="0"/>
              <a:t> </a:t>
            </a:r>
            <a:r>
              <a:rPr dirty="0" err="1"/>
              <a:t>điều</a:t>
            </a:r>
            <a:r>
              <a:rPr dirty="0"/>
              <a:t> </a:t>
            </a:r>
            <a:r>
              <a:rPr dirty="0" err="1"/>
              <a:t>kiện</a:t>
            </a:r>
            <a:r>
              <a:rPr dirty="0"/>
              <a:t> </a:t>
            </a:r>
            <a:r>
              <a:rPr dirty="0" err="1"/>
              <a:t>chuyên</a:t>
            </a:r>
            <a:r>
              <a:rPr dirty="0"/>
              <a:t> </a:t>
            </a:r>
            <a:r>
              <a:rPr dirty="0" err="1"/>
              <a:t>môn</a:t>
            </a:r>
            <a:r>
              <a:rPr dirty="0"/>
              <a:t>, </a:t>
            </a:r>
            <a:r>
              <a:rPr dirty="0" err="1"/>
              <a:t>nhân</a:t>
            </a:r>
            <a:r>
              <a:rPr dirty="0"/>
              <a:t> </a:t>
            </a:r>
            <a:r>
              <a:rPr dirty="0" err="1"/>
              <a:t>lực</a:t>
            </a:r>
            <a:r>
              <a:rPr dirty="0"/>
              <a:t>, </a:t>
            </a:r>
            <a:r>
              <a:rPr dirty="0" err="1"/>
              <a:t>thiết</a:t>
            </a:r>
            <a:r>
              <a:rPr dirty="0"/>
              <a:t> </a:t>
            </a:r>
            <a:r>
              <a:rPr dirty="0" err="1"/>
              <a:t>bị</a:t>
            </a:r>
            <a:r>
              <a:rPr lang="vi-VN" dirty="0"/>
              <a:t> Xquang</a:t>
            </a:r>
            <a:r>
              <a:rPr dirty="0"/>
              <a:t>, </a:t>
            </a:r>
            <a:r>
              <a:rPr dirty="0" err="1"/>
              <a:t>kiểm</a:t>
            </a:r>
            <a:r>
              <a:rPr dirty="0"/>
              <a:t> </a:t>
            </a:r>
            <a:r>
              <a:rPr dirty="0" err="1"/>
              <a:t>soát</a:t>
            </a:r>
            <a:r>
              <a:rPr dirty="0"/>
              <a:t> </a:t>
            </a:r>
            <a:r>
              <a:rPr dirty="0" err="1"/>
              <a:t>nhiễm</a:t>
            </a:r>
            <a:r>
              <a:rPr dirty="0"/>
              <a:t> </a:t>
            </a:r>
            <a:r>
              <a:rPr dirty="0" err="1"/>
              <a:t>khuẩn</a:t>
            </a:r>
            <a:r>
              <a:rPr dirty="0"/>
              <a:t> </a:t>
            </a:r>
            <a:r>
              <a:rPr dirty="0" err="1"/>
              <a:t>và</a:t>
            </a:r>
            <a:r>
              <a:rPr dirty="0"/>
              <a:t> </a:t>
            </a:r>
            <a:r>
              <a:rPr dirty="0" err="1"/>
              <a:t>dữ</a:t>
            </a:r>
            <a:r>
              <a:rPr dirty="0"/>
              <a:t> </a:t>
            </a:r>
            <a:r>
              <a:rPr dirty="0" err="1"/>
              <a:t>liệu</a:t>
            </a:r>
            <a:r>
              <a:rPr dirty="0"/>
              <a:t>.</a:t>
            </a:r>
          </a:p>
        </p:txBody>
      </p:sp>
      <p:sp>
        <p:nvSpPr>
          <p:cNvPr id="25" name="TextBox 24">
            <a:extLst>
              <a:ext uri="{FF2B5EF4-FFF2-40B4-BE49-F238E27FC236}">
                <a16:creationId xmlns:a16="http://schemas.microsoft.com/office/drawing/2014/main" id="{980E4DFA-F496-3BDF-DA76-667E3AA041C8}"/>
              </a:ext>
            </a:extLst>
          </p:cNvPr>
          <p:cNvSpPr txBox="1"/>
          <p:nvPr/>
        </p:nvSpPr>
        <p:spPr>
          <a:xfrm>
            <a:off x="411480" y="256032"/>
            <a:ext cx="7863840" cy="344710"/>
          </a:xfrm>
          <a:prstGeom prst="rect">
            <a:avLst/>
          </a:prstGeom>
          <a:noFill/>
        </p:spPr>
        <p:txBody>
          <a:bodyPr wrap="square" lIns="27432" tIns="18288" rIns="27432" bIns="18288">
            <a:spAutoFit/>
          </a:bodyPr>
          <a:lstStyle/>
          <a:p>
            <a:pPr algn="ctr">
              <a:defRPr sz="950" b="1" i="0">
                <a:solidFill>
                  <a:srgbClr val="008084"/>
                </a:solidFill>
                <a:latin typeface="Arial"/>
              </a:defRPr>
            </a:pPr>
            <a:r>
              <a:rPr sz="2000" dirty="0"/>
              <a:t>Rút </a:t>
            </a:r>
            <a:r>
              <a:rPr sz="2000" dirty="0" err="1"/>
              <a:t>kinh</a:t>
            </a:r>
            <a:r>
              <a:rPr sz="2000" dirty="0"/>
              <a:t> </a:t>
            </a:r>
            <a:r>
              <a:rPr sz="2000" dirty="0" err="1"/>
              <a:t>nghiệm</a:t>
            </a:r>
            <a:endParaRPr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 y="6492240"/>
            <a:ext cx="11384280" cy="9144"/>
          </a:xfrm>
          <a:prstGeom prst="rect">
            <a:avLst/>
          </a:prstGeom>
          <a:solidFill>
            <a:srgbClr val="CFD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0" y="256032"/>
            <a:ext cx="2697480" cy="201168"/>
          </a:xfrm>
          <a:prstGeom prst="rect">
            <a:avLst/>
          </a:prstGeom>
          <a:noFill/>
        </p:spPr>
        <p:txBody>
          <a:bodyPr wrap="square" lIns="27432" tIns="18288" rIns="27432" bIns="18288">
            <a:spAutoFit/>
          </a:bodyPr>
          <a:lstStyle/>
          <a:p>
            <a:pPr algn="r">
              <a:defRPr sz="950" b="0" i="0">
                <a:solidFill>
                  <a:srgbClr val="5F6C76"/>
                </a:solidFill>
                <a:latin typeface="Arial"/>
              </a:defRPr>
            </a:pPr>
            <a:r>
              <a:t>Theo nội dung đánh giá, rút kinh nghiệm</a:t>
            </a:r>
          </a:p>
        </p:txBody>
      </p:sp>
      <p:sp>
        <p:nvSpPr>
          <p:cNvPr id="6" name="TextBox 5"/>
          <p:cNvSpPr txBox="1"/>
          <p:nvPr/>
        </p:nvSpPr>
        <p:spPr>
          <a:xfrm>
            <a:off x="502920" y="749808"/>
            <a:ext cx="10881360" cy="375487"/>
          </a:xfrm>
          <a:prstGeom prst="rect">
            <a:avLst/>
          </a:prstGeom>
          <a:noFill/>
        </p:spPr>
        <p:txBody>
          <a:bodyPr wrap="square" lIns="27432" tIns="18288" rIns="27432" bIns="18288">
            <a:spAutoFit/>
          </a:bodyPr>
          <a:lstStyle/>
          <a:p>
            <a:pPr algn="l">
              <a:defRPr sz="2200" b="1" i="0">
                <a:solidFill>
                  <a:srgbClr val="143E4C"/>
                </a:solidFill>
                <a:latin typeface="Arial"/>
              </a:defRPr>
            </a:pPr>
            <a:r>
              <a:rPr dirty="0"/>
              <a:t>5: HSSKĐT, LIÊN THÔNG VÀ BÁO CÁO</a:t>
            </a:r>
          </a:p>
        </p:txBody>
      </p:sp>
      <p:sp>
        <p:nvSpPr>
          <p:cNvPr id="7" name="TextBox 6"/>
          <p:cNvSpPr txBox="1"/>
          <p:nvPr/>
        </p:nvSpPr>
        <p:spPr>
          <a:xfrm>
            <a:off x="502920" y="1078992"/>
            <a:ext cx="11064240" cy="329184"/>
          </a:xfrm>
          <a:prstGeom prst="rect">
            <a:avLst/>
          </a:prstGeom>
          <a:noFill/>
        </p:spPr>
        <p:txBody>
          <a:bodyPr wrap="square" lIns="27432" tIns="18288" rIns="27432" bIns="18288">
            <a:spAutoFit/>
          </a:bodyPr>
          <a:lstStyle/>
          <a:p>
            <a:pPr algn="l">
              <a:defRPr sz="1550" b="0" i="0">
                <a:solidFill>
                  <a:srgbClr val="5F6C76"/>
                </a:solidFill>
                <a:latin typeface="Arial"/>
              </a:defRPr>
            </a:pPr>
            <a:r>
              <a:t>Dữ liệu là căn cứ quản lý sức khỏe, nghiệm thu, thanh toán và tổng hợp mô hình bệnh tật.</a:t>
            </a:r>
          </a:p>
        </p:txBody>
      </p:sp>
      <p:sp>
        <p:nvSpPr>
          <p:cNvPr id="8" name="TextBox 7"/>
          <p:cNvSpPr txBox="1"/>
          <p:nvPr/>
        </p:nvSpPr>
        <p:spPr>
          <a:xfrm>
            <a:off x="411480" y="6601968"/>
            <a:ext cx="6400800" cy="164592"/>
          </a:xfrm>
          <a:prstGeom prst="rect">
            <a:avLst/>
          </a:prstGeom>
          <a:noFill/>
        </p:spPr>
        <p:txBody>
          <a:bodyPr wrap="square" lIns="27432" tIns="18288" rIns="27432" bIns="18288">
            <a:spAutoFit/>
          </a:bodyPr>
          <a:lstStyle/>
          <a:p>
            <a:pPr algn="l">
              <a:defRPr sz="750" b="0" i="0">
                <a:solidFill>
                  <a:srgbClr val="5F6C76"/>
                </a:solidFill>
                <a:latin typeface="Arial"/>
              </a:defRPr>
            </a:pPr>
            <a:r>
              <a:t>SỞ Y TẾ HÀ NỘI | Tập huấn khám sàng lọc miễn phí năm 2026</a:t>
            </a:r>
          </a:p>
        </p:txBody>
      </p:sp>
      <p:sp>
        <p:nvSpPr>
          <p:cNvPr id="9" name="TextBox 8"/>
          <p:cNvSpPr txBox="1"/>
          <p:nvPr/>
        </p:nvSpPr>
        <p:spPr>
          <a:xfrm>
            <a:off x="11475720" y="6601968"/>
            <a:ext cx="320040" cy="164592"/>
          </a:xfrm>
          <a:prstGeom prst="rect">
            <a:avLst/>
          </a:prstGeom>
          <a:noFill/>
        </p:spPr>
        <p:txBody>
          <a:bodyPr wrap="square" lIns="27432" tIns="18288" rIns="27432" bIns="18288">
            <a:spAutoFit/>
          </a:bodyPr>
          <a:lstStyle/>
          <a:p>
            <a:pPr algn="r">
              <a:defRPr sz="750" b="0" i="0">
                <a:solidFill>
                  <a:srgbClr val="5F6C76"/>
                </a:solidFill>
                <a:latin typeface="Arial"/>
              </a:defRPr>
            </a:pPr>
            <a:r>
              <a:t>26</a:t>
            </a:r>
          </a:p>
        </p:txBody>
      </p:sp>
      <p:sp>
        <p:nvSpPr>
          <p:cNvPr id="10" name="Rounded Rectangle 9"/>
          <p:cNvSpPr/>
          <p:nvPr/>
        </p:nvSpPr>
        <p:spPr>
          <a:xfrm>
            <a:off x="685800" y="1508760"/>
            <a:ext cx="3474720" cy="1508760"/>
          </a:xfrm>
          <a:prstGeom prst="roundRect">
            <a:avLst/>
          </a:prstGeom>
          <a:solidFill>
            <a:srgbClr val="E5F5F7"/>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1508760"/>
            <a:ext cx="73152" cy="1508760"/>
          </a:xfrm>
          <a:prstGeom prst="rect">
            <a:avLst/>
          </a:prstGeom>
          <a:solidFill>
            <a:srgbClr val="008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 y="1645919"/>
            <a:ext cx="3200400" cy="292608"/>
          </a:xfrm>
          <a:prstGeom prst="rect">
            <a:avLst/>
          </a:prstGeom>
          <a:noFill/>
        </p:spPr>
        <p:txBody>
          <a:bodyPr wrap="square" lIns="27432" tIns="18288" rIns="27432" bIns="18288">
            <a:spAutoFit/>
          </a:bodyPr>
          <a:lstStyle/>
          <a:p>
            <a:pPr algn="l">
              <a:defRPr sz="1600" b="1" i="0">
                <a:solidFill>
                  <a:srgbClr val="143E4C"/>
                </a:solidFill>
                <a:latin typeface="Arial"/>
              </a:defRPr>
            </a:pPr>
            <a:r>
              <a:t>HSSKĐT Thành phố</a:t>
            </a:r>
          </a:p>
        </p:txBody>
      </p:sp>
      <p:sp>
        <p:nvSpPr>
          <p:cNvPr id="13" name="TextBox 12"/>
          <p:cNvSpPr txBox="1"/>
          <p:nvPr/>
        </p:nvSpPr>
        <p:spPr>
          <a:xfrm>
            <a:off x="850392" y="2011680"/>
            <a:ext cx="3200400" cy="914399"/>
          </a:xfrm>
          <a:prstGeom prst="rect">
            <a:avLst/>
          </a:prstGeom>
          <a:noFill/>
        </p:spPr>
        <p:txBody>
          <a:bodyPr wrap="square" lIns="73152" tIns="54864" rIns="73152" bIns="54864">
            <a:spAutoFit/>
          </a:bodyPr>
          <a:lstStyle/>
          <a:p>
            <a:pPr>
              <a:lnSpc>
                <a:spcPct val="100000"/>
              </a:lnSpc>
              <a:spcAft>
                <a:spcPts val="500"/>
              </a:spcAft>
              <a:defRPr sz="1230" b="0">
                <a:solidFill>
                  <a:srgbClr val="303840"/>
                </a:solidFill>
                <a:latin typeface="Arial"/>
              </a:defRPr>
            </a:pPr>
            <a:r>
              <a:t>Không bỏ qua HSSKĐT của Thành phố để đẩy thẳng lên Cổng Bộ Y tế; dữ liệu phải cập nhật đúng luồng.</a:t>
            </a:r>
          </a:p>
        </p:txBody>
      </p:sp>
      <p:sp>
        <p:nvSpPr>
          <p:cNvPr id="14" name="Rounded Rectangle 13"/>
          <p:cNvSpPr/>
          <p:nvPr/>
        </p:nvSpPr>
        <p:spPr>
          <a:xfrm>
            <a:off x="4389120" y="1508760"/>
            <a:ext cx="3474720" cy="1508760"/>
          </a:xfrm>
          <a:prstGeom prst="roundRect">
            <a:avLst/>
          </a:prstGeom>
          <a:solidFill>
            <a:srgbClr val="FFF2E2"/>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89120" y="1508760"/>
            <a:ext cx="73152" cy="1508760"/>
          </a:xfrm>
          <a:prstGeom prst="rect">
            <a:avLst/>
          </a:prstGeom>
          <a:solidFill>
            <a:srgbClr val="F18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53712" y="1645919"/>
            <a:ext cx="3200400" cy="292608"/>
          </a:xfrm>
          <a:prstGeom prst="rect">
            <a:avLst/>
          </a:prstGeom>
          <a:noFill/>
        </p:spPr>
        <p:txBody>
          <a:bodyPr wrap="square" lIns="27432" tIns="18288" rIns="27432" bIns="18288">
            <a:spAutoFit/>
          </a:bodyPr>
          <a:lstStyle/>
          <a:p>
            <a:pPr algn="l">
              <a:defRPr sz="1600" b="1" i="0">
                <a:solidFill>
                  <a:srgbClr val="143E4C"/>
                </a:solidFill>
                <a:latin typeface="Arial"/>
              </a:defRPr>
            </a:pPr>
            <a:r>
              <a:t>Đối soát số liệu</a:t>
            </a:r>
          </a:p>
        </p:txBody>
      </p:sp>
      <p:sp>
        <p:nvSpPr>
          <p:cNvPr id="17" name="TextBox 16"/>
          <p:cNvSpPr txBox="1"/>
          <p:nvPr/>
        </p:nvSpPr>
        <p:spPr>
          <a:xfrm>
            <a:off x="4553712" y="2011680"/>
            <a:ext cx="3200400" cy="914399"/>
          </a:xfrm>
          <a:prstGeom prst="rect">
            <a:avLst/>
          </a:prstGeom>
          <a:noFill/>
        </p:spPr>
        <p:txBody>
          <a:bodyPr wrap="square" lIns="73152" tIns="54864" rIns="73152" bIns="54864">
            <a:spAutoFit/>
          </a:bodyPr>
          <a:lstStyle/>
          <a:p>
            <a:pPr>
              <a:lnSpc>
                <a:spcPct val="100000"/>
              </a:lnSpc>
              <a:spcAft>
                <a:spcPts val="500"/>
              </a:spcAft>
              <a:defRPr sz="1230" b="0">
                <a:solidFill>
                  <a:srgbClr val="303840"/>
                </a:solidFill>
                <a:latin typeface="Arial"/>
              </a:defRPr>
            </a:pPr>
            <a:r>
              <a:t>Số liệu HSSKĐT Thành phố, Sổ sức khỏe BYT, số khám thực tế và báo cáo phải khớp nhau.</a:t>
            </a:r>
          </a:p>
        </p:txBody>
      </p:sp>
      <p:sp>
        <p:nvSpPr>
          <p:cNvPr id="18" name="Rounded Rectangle 17"/>
          <p:cNvSpPr/>
          <p:nvPr/>
        </p:nvSpPr>
        <p:spPr>
          <a:xfrm>
            <a:off x="8092440" y="1508760"/>
            <a:ext cx="3474720" cy="1508760"/>
          </a:xfrm>
          <a:prstGeom prst="roundRect">
            <a:avLst/>
          </a:prstGeom>
          <a:solidFill>
            <a:srgbClr val="E8F6EE"/>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92440" y="1508760"/>
            <a:ext cx="73152" cy="1508760"/>
          </a:xfrm>
          <a:prstGeom prst="rect">
            <a:avLst/>
          </a:prstGeom>
          <a:solidFill>
            <a:srgbClr val="279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1" y="1645919"/>
            <a:ext cx="3200400" cy="292608"/>
          </a:xfrm>
          <a:prstGeom prst="rect">
            <a:avLst/>
          </a:prstGeom>
          <a:noFill/>
        </p:spPr>
        <p:txBody>
          <a:bodyPr wrap="square" lIns="27432" tIns="18288" rIns="27432" bIns="18288">
            <a:spAutoFit/>
          </a:bodyPr>
          <a:lstStyle/>
          <a:p>
            <a:pPr algn="l">
              <a:defRPr sz="1600" b="1" i="0">
                <a:solidFill>
                  <a:srgbClr val="143E4C"/>
                </a:solidFill>
                <a:latin typeface="Arial"/>
              </a:defRPr>
            </a:pPr>
            <a:r>
              <a:t>TYT là đầu mối</a:t>
            </a:r>
          </a:p>
        </p:txBody>
      </p:sp>
      <p:sp>
        <p:nvSpPr>
          <p:cNvPr id="21" name="TextBox 20"/>
          <p:cNvSpPr txBox="1"/>
          <p:nvPr/>
        </p:nvSpPr>
        <p:spPr>
          <a:xfrm>
            <a:off x="8257031" y="2011680"/>
            <a:ext cx="3200400" cy="914399"/>
          </a:xfrm>
          <a:prstGeom prst="rect">
            <a:avLst/>
          </a:prstGeom>
          <a:noFill/>
        </p:spPr>
        <p:txBody>
          <a:bodyPr wrap="square" lIns="73152" tIns="54864" rIns="73152" bIns="54864">
            <a:spAutoFit/>
          </a:bodyPr>
          <a:lstStyle/>
          <a:p>
            <a:pPr>
              <a:lnSpc>
                <a:spcPct val="100000"/>
              </a:lnSpc>
              <a:spcAft>
                <a:spcPts val="500"/>
              </a:spcAft>
              <a:defRPr sz="1230" b="0">
                <a:solidFill>
                  <a:srgbClr val="303840"/>
                </a:solidFill>
                <a:latin typeface="Arial"/>
              </a:defRPr>
            </a:pPr>
            <a:r>
              <a:t>TYT giám sát đơn vị khám, nghiệm thu khối lượng, hồ sơ và thanh toán kinh phí.</a:t>
            </a:r>
          </a:p>
        </p:txBody>
      </p:sp>
      <p:sp>
        <p:nvSpPr>
          <p:cNvPr id="22" name="Rounded Rectangle 21"/>
          <p:cNvSpPr/>
          <p:nvPr/>
        </p:nvSpPr>
        <p:spPr>
          <a:xfrm>
            <a:off x="868680" y="3429000"/>
            <a:ext cx="5074920" cy="1773936"/>
          </a:xfrm>
          <a:prstGeom prst="roundRect">
            <a:avLst/>
          </a:prstGeom>
          <a:solidFill>
            <a:srgbClr val="FDEBEB"/>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68680" y="3429000"/>
            <a:ext cx="73152" cy="1554480"/>
          </a:xfrm>
          <a:prstGeom prst="rect">
            <a:avLst/>
          </a:prstGeom>
          <a:solidFill>
            <a:srgbClr val="BE2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3271" y="3566160"/>
            <a:ext cx="4800600" cy="292608"/>
          </a:xfrm>
          <a:prstGeom prst="rect">
            <a:avLst/>
          </a:prstGeom>
          <a:noFill/>
        </p:spPr>
        <p:txBody>
          <a:bodyPr wrap="square" lIns="27432" tIns="18288" rIns="27432" bIns="18288">
            <a:spAutoFit/>
          </a:bodyPr>
          <a:lstStyle/>
          <a:p>
            <a:pPr algn="l">
              <a:defRPr sz="1600" b="1" i="0">
                <a:solidFill>
                  <a:srgbClr val="143E4C"/>
                </a:solidFill>
                <a:latin typeface="Arial"/>
              </a:defRPr>
            </a:pPr>
            <a:r>
              <a:t>Báo cáo</a:t>
            </a:r>
          </a:p>
        </p:txBody>
      </p:sp>
      <p:sp>
        <p:nvSpPr>
          <p:cNvPr id="25" name="TextBox 24"/>
          <p:cNvSpPr txBox="1"/>
          <p:nvPr/>
        </p:nvSpPr>
        <p:spPr>
          <a:xfrm>
            <a:off x="1033271" y="3931920"/>
            <a:ext cx="4800600" cy="960119"/>
          </a:xfrm>
          <a:prstGeom prst="rect">
            <a:avLst/>
          </a:prstGeom>
          <a:noFill/>
        </p:spPr>
        <p:txBody>
          <a:bodyPr wrap="square" lIns="73152" tIns="54864" rIns="73152" bIns="54864">
            <a:spAutoFit/>
          </a:bodyPr>
          <a:lstStyle/>
          <a:p>
            <a:pPr>
              <a:lnSpc>
                <a:spcPct val="100000"/>
              </a:lnSpc>
              <a:spcAft>
                <a:spcPts val="500"/>
              </a:spcAft>
              <a:defRPr sz="1230" b="0">
                <a:solidFill>
                  <a:srgbClr val="303840"/>
                </a:solidFill>
                <a:latin typeface="Arial"/>
              </a:defRPr>
            </a:pPr>
            <a:r>
              <a:rPr dirty="0"/>
              <a:t>• </a:t>
            </a:r>
            <a:r>
              <a:rPr dirty="0" err="1"/>
              <a:t>Báo</a:t>
            </a:r>
            <a:r>
              <a:rPr dirty="0"/>
              <a:t> </a:t>
            </a:r>
            <a:r>
              <a:rPr dirty="0" err="1"/>
              <a:t>cáo</a:t>
            </a:r>
            <a:r>
              <a:rPr dirty="0"/>
              <a:t> </a:t>
            </a:r>
            <a:r>
              <a:rPr dirty="0" err="1"/>
              <a:t>đúng</a:t>
            </a:r>
            <a:r>
              <a:rPr dirty="0"/>
              <a:t> </a:t>
            </a:r>
            <a:r>
              <a:rPr dirty="0" err="1"/>
              <a:t>giờ</a:t>
            </a:r>
            <a:r>
              <a:rPr dirty="0"/>
              <a:t>, </a:t>
            </a:r>
            <a:r>
              <a:rPr dirty="0" err="1"/>
              <a:t>đúng</a:t>
            </a:r>
            <a:r>
              <a:rPr dirty="0"/>
              <a:t> </a:t>
            </a:r>
            <a:r>
              <a:rPr dirty="0" err="1"/>
              <a:t>mẫu</a:t>
            </a:r>
            <a:r>
              <a:rPr dirty="0"/>
              <a:t>.</a:t>
            </a:r>
          </a:p>
          <a:p>
            <a:pPr>
              <a:lnSpc>
                <a:spcPct val="100000"/>
              </a:lnSpc>
              <a:spcAft>
                <a:spcPts val="500"/>
              </a:spcAft>
              <a:defRPr sz="1230" b="0">
                <a:solidFill>
                  <a:srgbClr val="303840"/>
                </a:solidFill>
                <a:latin typeface="Arial"/>
              </a:defRPr>
            </a:pPr>
            <a:r>
              <a:rPr dirty="0"/>
              <a:t>• </a:t>
            </a:r>
            <a:r>
              <a:rPr dirty="0" err="1"/>
              <a:t>Kiểm</a:t>
            </a:r>
            <a:r>
              <a:rPr dirty="0"/>
              <a:t> </a:t>
            </a:r>
            <a:r>
              <a:rPr dirty="0" err="1"/>
              <a:t>tra</a:t>
            </a:r>
            <a:r>
              <a:rPr dirty="0"/>
              <a:t> </a:t>
            </a:r>
            <a:r>
              <a:rPr dirty="0" err="1"/>
              <a:t>lại</a:t>
            </a:r>
            <a:r>
              <a:rPr dirty="0"/>
              <a:t> </a:t>
            </a:r>
            <a:r>
              <a:rPr dirty="0" err="1"/>
              <a:t>số</a:t>
            </a:r>
            <a:r>
              <a:rPr dirty="0"/>
              <a:t> </a:t>
            </a:r>
            <a:r>
              <a:rPr dirty="0" err="1"/>
              <a:t>liệu</a:t>
            </a:r>
            <a:r>
              <a:rPr dirty="0"/>
              <a:t> </a:t>
            </a:r>
            <a:r>
              <a:rPr dirty="0" err="1"/>
              <a:t>sau</a:t>
            </a:r>
            <a:r>
              <a:rPr dirty="0"/>
              <a:t> </a:t>
            </a:r>
            <a:r>
              <a:rPr dirty="0" err="1"/>
              <a:t>khi</a:t>
            </a:r>
            <a:r>
              <a:rPr dirty="0"/>
              <a:t> </a:t>
            </a:r>
            <a:r>
              <a:rPr dirty="0" err="1"/>
              <a:t>nhập</a:t>
            </a:r>
            <a:r>
              <a:rPr dirty="0"/>
              <a:t>, </a:t>
            </a:r>
            <a:r>
              <a:rPr dirty="0" err="1"/>
              <a:t>tránh</a:t>
            </a:r>
            <a:r>
              <a:rPr dirty="0"/>
              <a:t> </a:t>
            </a:r>
            <a:r>
              <a:rPr dirty="0" err="1"/>
              <a:t>sai</a:t>
            </a:r>
            <a:r>
              <a:rPr dirty="0"/>
              <a:t> </a:t>
            </a:r>
            <a:r>
              <a:rPr dirty="0" err="1"/>
              <a:t>sót</a:t>
            </a:r>
            <a:r>
              <a:rPr dirty="0"/>
              <a:t> </a:t>
            </a:r>
            <a:r>
              <a:rPr dirty="0" err="1"/>
              <a:t>giữa</a:t>
            </a:r>
            <a:r>
              <a:rPr dirty="0"/>
              <a:t> </a:t>
            </a:r>
            <a:r>
              <a:rPr dirty="0" err="1"/>
              <a:t>các</a:t>
            </a:r>
            <a:r>
              <a:rPr dirty="0"/>
              <a:t> </a:t>
            </a:r>
            <a:r>
              <a:rPr dirty="0" err="1"/>
              <a:t>nhóm</a:t>
            </a:r>
            <a:r>
              <a:rPr dirty="0"/>
              <a:t> </a:t>
            </a:r>
            <a:r>
              <a:rPr dirty="0" err="1"/>
              <a:t>đối</a:t>
            </a:r>
            <a:r>
              <a:rPr dirty="0"/>
              <a:t> </a:t>
            </a:r>
            <a:r>
              <a:rPr dirty="0" err="1"/>
              <a:t>tượng</a:t>
            </a:r>
            <a:r>
              <a:rPr dirty="0"/>
              <a:t>.</a:t>
            </a:r>
          </a:p>
          <a:p>
            <a:pPr>
              <a:lnSpc>
                <a:spcPct val="100000"/>
              </a:lnSpc>
              <a:spcAft>
                <a:spcPts val="500"/>
              </a:spcAft>
              <a:defRPr sz="1230" b="0">
                <a:solidFill>
                  <a:srgbClr val="303840"/>
                </a:solidFill>
                <a:latin typeface="Arial"/>
              </a:defRPr>
            </a:pPr>
            <a:r>
              <a:rPr dirty="0"/>
              <a:t>• </a:t>
            </a:r>
            <a:r>
              <a:rPr dirty="0" err="1"/>
              <a:t>Báo</a:t>
            </a:r>
            <a:r>
              <a:rPr dirty="0"/>
              <a:t> </a:t>
            </a:r>
            <a:r>
              <a:rPr dirty="0" err="1"/>
              <a:t>cáo</a:t>
            </a:r>
            <a:r>
              <a:rPr dirty="0"/>
              <a:t> </a:t>
            </a:r>
            <a:r>
              <a:rPr dirty="0" err="1"/>
              <a:t>lịch</a:t>
            </a:r>
            <a:r>
              <a:rPr dirty="0"/>
              <a:t> </a:t>
            </a:r>
            <a:r>
              <a:rPr dirty="0" err="1"/>
              <a:t>khám</a:t>
            </a:r>
            <a:r>
              <a:rPr dirty="0"/>
              <a:t>, </a:t>
            </a:r>
            <a:r>
              <a:rPr dirty="0" err="1"/>
              <a:t>tiến</a:t>
            </a:r>
            <a:r>
              <a:rPr dirty="0"/>
              <a:t> </a:t>
            </a:r>
            <a:r>
              <a:rPr dirty="0" err="1"/>
              <a:t>độ</a:t>
            </a:r>
            <a:r>
              <a:rPr dirty="0"/>
              <a:t>, </a:t>
            </a:r>
            <a:r>
              <a:rPr dirty="0" err="1"/>
              <a:t>kết</a:t>
            </a:r>
            <a:r>
              <a:rPr dirty="0"/>
              <a:t> </a:t>
            </a:r>
            <a:r>
              <a:rPr dirty="0" err="1"/>
              <a:t>quả</a:t>
            </a:r>
            <a:r>
              <a:rPr dirty="0"/>
              <a:t>, </a:t>
            </a:r>
            <a:r>
              <a:rPr dirty="0" err="1"/>
              <a:t>kinh</a:t>
            </a:r>
            <a:r>
              <a:rPr dirty="0"/>
              <a:t> </a:t>
            </a:r>
            <a:r>
              <a:rPr dirty="0" err="1"/>
              <a:t>phí</a:t>
            </a:r>
            <a:r>
              <a:rPr dirty="0"/>
              <a:t> </a:t>
            </a:r>
            <a:r>
              <a:rPr dirty="0" err="1"/>
              <a:t>và</a:t>
            </a:r>
            <a:r>
              <a:rPr dirty="0"/>
              <a:t> </a:t>
            </a:r>
            <a:r>
              <a:rPr dirty="0" err="1"/>
              <a:t>khó</a:t>
            </a:r>
            <a:r>
              <a:rPr dirty="0"/>
              <a:t> </a:t>
            </a:r>
            <a:r>
              <a:rPr dirty="0" err="1"/>
              <a:t>khăn</a:t>
            </a:r>
            <a:r>
              <a:rPr dirty="0"/>
              <a:t> </a:t>
            </a:r>
            <a:r>
              <a:rPr dirty="0" err="1"/>
              <a:t>phát</a:t>
            </a:r>
            <a:r>
              <a:rPr dirty="0"/>
              <a:t> </a:t>
            </a:r>
            <a:r>
              <a:rPr dirty="0" err="1"/>
              <a:t>sinh</a:t>
            </a:r>
            <a:r>
              <a:rPr dirty="0"/>
              <a:t>.</a:t>
            </a:r>
          </a:p>
        </p:txBody>
      </p:sp>
      <p:sp>
        <p:nvSpPr>
          <p:cNvPr id="26" name="Rounded Rectangle 25"/>
          <p:cNvSpPr/>
          <p:nvPr/>
        </p:nvSpPr>
        <p:spPr>
          <a:xfrm>
            <a:off x="6217920" y="3429000"/>
            <a:ext cx="5074920" cy="1554480"/>
          </a:xfrm>
          <a:prstGeom prst="roundRect">
            <a:avLst/>
          </a:prstGeom>
          <a:solidFill>
            <a:srgbClr val="FFFFFF"/>
          </a:solidFill>
          <a:ln w="12700">
            <a:solidFill>
              <a:srgbClr val="CF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17920" y="3429000"/>
            <a:ext cx="73152" cy="1554480"/>
          </a:xfrm>
          <a:prstGeom prst="rect">
            <a:avLst/>
          </a:prstGeom>
          <a:solidFill>
            <a:srgbClr val="0080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3566160"/>
            <a:ext cx="4800600" cy="292608"/>
          </a:xfrm>
          <a:prstGeom prst="rect">
            <a:avLst/>
          </a:prstGeom>
          <a:noFill/>
        </p:spPr>
        <p:txBody>
          <a:bodyPr wrap="square" lIns="27432" tIns="18288" rIns="27432" bIns="18288">
            <a:spAutoFit/>
          </a:bodyPr>
          <a:lstStyle/>
          <a:p>
            <a:pPr algn="l">
              <a:defRPr sz="1600" b="1" i="0">
                <a:solidFill>
                  <a:srgbClr val="143E4C"/>
                </a:solidFill>
                <a:latin typeface="Arial"/>
              </a:defRPr>
            </a:pPr>
            <a:r>
              <a:t>Mô hình bệnh tật</a:t>
            </a:r>
          </a:p>
        </p:txBody>
      </p:sp>
      <p:sp>
        <p:nvSpPr>
          <p:cNvPr id="29" name="TextBox 28"/>
          <p:cNvSpPr txBox="1"/>
          <p:nvPr/>
        </p:nvSpPr>
        <p:spPr>
          <a:xfrm>
            <a:off x="6382512" y="3931920"/>
            <a:ext cx="4800600" cy="960119"/>
          </a:xfrm>
          <a:prstGeom prst="rect">
            <a:avLst/>
          </a:prstGeom>
          <a:noFill/>
        </p:spPr>
        <p:txBody>
          <a:bodyPr wrap="square" lIns="73152" tIns="54864" rIns="73152" bIns="54864">
            <a:spAutoFit/>
          </a:bodyPr>
          <a:lstStyle/>
          <a:p>
            <a:pPr>
              <a:lnSpc>
                <a:spcPct val="100000"/>
              </a:lnSpc>
              <a:spcAft>
                <a:spcPts val="500"/>
              </a:spcAft>
              <a:defRPr sz="1230" b="0">
                <a:solidFill>
                  <a:srgbClr val="303840"/>
                </a:solidFill>
                <a:latin typeface="Arial"/>
              </a:defRPr>
            </a:pPr>
            <a:r>
              <a:t>• Đơn vị khám báo cáo mô hình bệnh tật cho Trạm Y tế.</a:t>
            </a:r>
          </a:p>
          <a:p>
            <a:pPr>
              <a:lnSpc>
                <a:spcPct val="100000"/>
              </a:lnSpc>
              <a:spcAft>
                <a:spcPts val="500"/>
              </a:spcAft>
              <a:defRPr sz="1230" b="0">
                <a:solidFill>
                  <a:srgbClr val="303840"/>
                </a:solidFill>
                <a:latin typeface="Arial"/>
              </a:defRPr>
            </a:pPr>
            <a:r>
              <a:t>• Trạm Y tế là đơn vị tổng hợp cuối cùng.</a:t>
            </a:r>
          </a:p>
          <a:p>
            <a:pPr>
              <a:lnSpc>
                <a:spcPct val="100000"/>
              </a:lnSpc>
              <a:spcAft>
                <a:spcPts val="500"/>
              </a:spcAft>
              <a:defRPr sz="1230" b="0">
                <a:solidFill>
                  <a:srgbClr val="303840"/>
                </a:solidFill>
                <a:latin typeface="Arial"/>
              </a:defRPr>
            </a:pPr>
            <a:r>
              <a:t>• Dữ liệu dùng để quản lý nguy cơ, theo dõi sau khám và báo cáo thống kê.</a:t>
            </a:r>
          </a:p>
        </p:txBody>
      </p:sp>
      <p:sp>
        <p:nvSpPr>
          <p:cNvPr id="30" name="TextBox 29"/>
          <p:cNvSpPr txBox="1"/>
          <p:nvPr/>
        </p:nvSpPr>
        <p:spPr>
          <a:xfrm>
            <a:off x="914400" y="5440680"/>
            <a:ext cx="10515600" cy="320040"/>
          </a:xfrm>
          <a:prstGeom prst="rect">
            <a:avLst/>
          </a:prstGeom>
          <a:noFill/>
        </p:spPr>
        <p:txBody>
          <a:bodyPr wrap="square" lIns="27432" tIns="18288" rIns="27432" bIns="18288">
            <a:spAutoFit/>
          </a:bodyPr>
          <a:lstStyle/>
          <a:p>
            <a:pPr algn="ctr">
              <a:defRPr sz="1400" b="1" i="0">
                <a:solidFill>
                  <a:srgbClr val="143E4C"/>
                </a:solidFill>
                <a:latin typeface="Arial"/>
              </a:defRPr>
            </a:pPr>
            <a:r>
              <a:t>Nguyên tắc: khám xong phải có kết quả, có tư vấn, có dữ liệu, có báo cáo và có người chịu trách nhiệm theo dõi.</a:t>
            </a:r>
          </a:p>
        </p:txBody>
      </p:sp>
      <p:sp>
        <p:nvSpPr>
          <p:cNvPr id="32" name="TextBox 31">
            <a:extLst>
              <a:ext uri="{FF2B5EF4-FFF2-40B4-BE49-F238E27FC236}">
                <a16:creationId xmlns:a16="http://schemas.microsoft.com/office/drawing/2014/main" id="{816F19A1-4BBF-D903-BBDF-99C21E84F9CC}"/>
              </a:ext>
            </a:extLst>
          </p:cNvPr>
          <p:cNvSpPr txBox="1"/>
          <p:nvPr/>
        </p:nvSpPr>
        <p:spPr>
          <a:xfrm>
            <a:off x="411480" y="256032"/>
            <a:ext cx="7863840" cy="344710"/>
          </a:xfrm>
          <a:prstGeom prst="rect">
            <a:avLst/>
          </a:prstGeom>
          <a:noFill/>
        </p:spPr>
        <p:txBody>
          <a:bodyPr wrap="square" lIns="27432" tIns="18288" rIns="27432" bIns="18288">
            <a:spAutoFit/>
          </a:bodyPr>
          <a:lstStyle/>
          <a:p>
            <a:pPr algn="ctr">
              <a:defRPr sz="950" b="1" i="0">
                <a:solidFill>
                  <a:srgbClr val="008084"/>
                </a:solidFill>
                <a:latin typeface="Arial"/>
              </a:defRPr>
            </a:pPr>
            <a:r>
              <a:rPr sz="2000" dirty="0"/>
              <a:t>Rút </a:t>
            </a:r>
            <a:r>
              <a:rPr sz="2000" dirty="0" err="1"/>
              <a:t>kinh</a:t>
            </a:r>
            <a:r>
              <a:rPr sz="2000" dirty="0"/>
              <a:t> </a:t>
            </a:r>
            <a:r>
              <a:rPr sz="2000" dirty="0" err="1"/>
              <a:t>nghiệm</a:t>
            </a:r>
            <a:endParaRPr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7C82"/>
          </a:solidFill>
          <a:ln w="12700">
            <a:solidFill>
              <a:srgbClr val="0B7C82"/>
            </a:solidFill>
            <a:prstDash val="solid"/>
          </a:ln>
        </p:spPr>
        <p:txBody>
          <a:bodyPr/>
          <a:lstStyle/>
          <a:p>
            <a:endParaRPr/>
          </a:p>
        </p:txBody>
      </p:sp>
      <p:sp>
        <p:nvSpPr>
          <p:cNvPr id="3" name="Text 1"/>
          <p:cNvSpPr/>
          <p:nvPr/>
        </p:nvSpPr>
        <p:spPr>
          <a:xfrm>
            <a:off x="411480" y="256032"/>
            <a:ext cx="7863840" cy="201168"/>
          </a:xfrm>
          <a:prstGeom prst="rect">
            <a:avLst/>
          </a:prstGeom>
          <a:noFill/>
          <a:ln/>
        </p:spPr>
        <p:txBody>
          <a:bodyPr wrap="square" lIns="0" tIns="0" rIns="0" bIns="0" rtlCol="0" anchor="ctr"/>
          <a:lstStyle/>
          <a:p>
            <a:pPr marL="0" indent="0">
              <a:buNone/>
            </a:pPr>
            <a:r>
              <a:rPr lang="en-US" sz="750" b="1" dirty="0">
                <a:solidFill>
                  <a:srgbClr val="075B63"/>
                </a:solidFill>
                <a:latin typeface="Arial" pitchFamily="34" charset="0"/>
                <a:ea typeface="Arial" pitchFamily="34" charset="-122"/>
                <a:cs typeface="Arial" pitchFamily="34" charset="-120"/>
              </a:rPr>
              <a:t>Chốt tập huấn</a:t>
            </a:r>
            <a:endParaRPr lang="en-US" sz="750" dirty="0"/>
          </a:p>
        </p:txBody>
      </p:sp>
      <p:sp>
        <p:nvSpPr>
          <p:cNvPr id="4" name="Text 2"/>
          <p:cNvSpPr/>
          <p:nvPr/>
        </p:nvSpPr>
        <p:spPr>
          <a:xfrm>
            <a:off x="9281160" y="256032"/>
            <a:ext cx="2514600" cy="201168"/>
          </a:xfrm>
          <a:prstGeom prst="rect">
            <a:avLst/>
          </a:prstGeom>
          <a:noFill/>
          <a:ln/>
        </p:spPr>
        <p:txBody>
          <a:bodyPr wrap="square" lIns="0" tIns="0" rIns="0" bIns="0" rtlCol="0" anchor="ctr"/>
          <a:lstStyle/>
          <a:p>
            <a:pPr marL="0" indent="0" algn="r">
              <a:buNone/>
            </a:pPr>
            <a:r>
              <a:rPr lang="en-US" sz="750" dirty="0">
                <a:solidFill>
                  <a:srgbClr val="6A747B"/>
                </a:solidFill>
                <a:latin typeface="Arial" pitchFamily="34" charset="0"/>
                <a:ea typeface="Arial" pitchFamily="34" charset="-122"/>
                <a:cs typeface="Arial" pitchFamily="34" charset="-120"/>
              </a:rPr>
              <a:t>Theo dự thảo Kế hoạch 29/9/2026</a:t>
            </a:r>
            <a:endParaRPr lang="en-US" sz="750" dirty="0"/>
          </a:p>
        </p:txBody>
      </p:sp>
      <p:sp>
        <p:nvSpPr>
          <p:cNvPr id="5" name="Shape 3"/>
          <p:cNvSpPr/>
          <p:nvPr/>
        </p:nvSpPr>
        <p:spPr>
          <a:xfrm>
            <a:off x="411480" y="6510528"/>
            <a:ext cx="11384280" cy="0"/>
          </a:xfrm>
          <a:prstGeom prst="line">
            <a:avLst/>
          </a:prstGeom>
          <a:noFill/>
          <a:ln w="9525">
            <a:solidFill>
              <a:srgbClr val="D6E4E7"/>
            </a:solidFill>
            <a:prstDash val="solid"/>
          </a:ln>
        </p:spPr>
        <p:txBody>
          <a:bodyPr/>
          <a:lstStyle/>
          <a:p>
            <a:endParaRPr/>
          </a:p>
        </p:txBody>
      </p:sp>
      <p:sp>
        <p:nvSpPr>
          <p:cNvPr id="6" name="Text 4"/>
          <p:cNvSpPr/>
          <p:nvPr/>
        </p:nvSpPr>
        <p:spPr>
          <a:xfrm>
            <a:off x="411480" y="6601968"/>
            <a:ext cx="6400800" cy="164592"/>
          </a:xfrm>
          <a:prstGeom prst="rect">
            <a:avLst/>
          </a:prstGeom>
          <a:noFill/>
          <a:ln/>
        </p:spPr>
        <p:txBody>
          <a:bodyPr wrap="square" lIns="0" tIns="0" rIns="0" bIns="0" rtlCol="0" anchor="ctr"/>
          <a:lstStyle/>
          <a:p>
            <a:pPr marL="0" indent="0">
              <a:buNone/>
            </a:pPr>
            <a:r>
              <a:rPr lang="en-US" sz="680" dirty="0">
                <a:solidFill>
                  <a:srgbClr val="6A747B"/>
                </a:solidFill>
                <a:latin typeface="Arial" pitchFamily="34" charset="0"/>
                <a:ea typeface="Arial" pitchFamily="34" charset="-122"/>
                <a:cs typeface="Arial" pitchFamily="34" charset="-120"/>
              </a:rPr>
              <a:t>SỞ Y TẾ HÀ NỘI | Tập huấn khám sàng lọc miễn phí năm 2026</a:t>
            </a:r>
            <a:endParaRPr lang="en-US" sz="680" dirty="0"/>
          </a:p>
        </p:txBody>
      </p:sp>
      <p:sp>
        <p:nvSpPr>
          <p:cNvPr id="7" name="Text 5"/>
          <p:cNvSpPr/>
          <p:nvPr/>
        </p:nvSpPr>
        <p:spPr>
          <a:xfrm>
            <a:off x="11475720" y="6601968"/>
            <a:ext cx="320040" cy="164592"/>
          </a:xfrm>
          <a:prstGeom prst="rect">
            <a:avLst/>
          </a:prstGeom>
          <a:noFill/>
          <a:ln/>
        </p:spPr>
        <p:txBody>
          <a:bodyPr wrap="square" lIns="0" tIns="0" rIns="0" bIns="0" rtlCol="0" anchor="ctr"/>
          <a:lstStyle/>
          <a:p>
            <a:pPr marL="0" indent="0" algn="r">
              <a:buNone/>
              <a:defRPr sz="750">
                <a:solidFill>
                  <a:srgbClr val="5F6C76"/>
                </a:solidFill>
                <a:latin typeface="Arial"/>
              </a:defRPr>
            </a:pPr>
            <a:r>
              <a:t>27</a:t>
            </a:r>
            <a:endParaRPr lang="en-US" sz="700" dirty="0"/>
          </a:p>
        </p:txBody>
      </p:sp>
      <p:sp>
        <p:nvSpPr>
          <p:cNvPr id="8" name="Text 6"/>
          <p:cNvSpPr/>
          <p:nvPr/>
        </p:nvSpPr>
        <p:spPr>
          <a:xfrm>
            <a:off x="502920" y="749808"/>
            <a:ext cx="5029200" cy="201168"/>
          </a:xfrm>
          <a:prstGeom prst="rect">
            <a:avLst/>
          </a:prstGeom>
          <a:noFill/>
          <a:ln/>
        </p:spPr>
        <p:txBody>
          <a:bodyPr wrap="square" lIns="0" tIns="0" rIns="0" bIns="0" rtlCol="0" anchor="ctr"/>
          <a:lstStyle/>
          <a:p>
            <a:pPr marL="0" indent="0">
              <a:buNone/>
            </a:pPr>
            <a:r>
              <a:rPr lang="en-US" sz="1000" b="1" dirty="0">
                <a:solidFill>
                  <a:srgbClr val="0B7C82"/>
                </a:solidFill>
              </a:rPr>
              <a:t>CHỐT TRƯỚC KHI TRIỂN KHAI DIỆN RỘNG</a:t>
            </a:r>
            <a:endParaRPr lang="en-US" sz="1000" dirty="0"/>
          </a:p>
        </p:txBody>
      </p:sp>
      <p:sp>
        <p:nvSpPr>
          <p:cNvPr id="9" name="Text 7"/>
          <p:cNvSpPr/>
          <p:nvPr/>
        </p:nvSpPr>
        <p:spPr>
          <a:xfrm>
            <a:off x="502920" y="987552"/>
            <a:ext cx="11064240" cy="502920"/>
          </a:xfrm>
          <a:prstGeom prst="rect">
            <a:avLst/>
          </a:prstGeom>
          <a:noFill/>
          <a:ln/>
        </p:spPr>
        <p:txBody>
          <a:bodyPr wrap="square" lIns="0" tIns="0" rIns="0" bIns="0" rtlCol="0" anchor="ctr">
            <a:normAutofit/>
          </a:bodyPr>
          <a:lstStyle/>
          <a:p>
            <a:pPr marL="0" indent="0">
              <a:buNone/>
            </a:pPr>
            <a:r>
              <a:rPr lang="en-US" sz="2800" b="1" dirty="0">
                <a:solidFill>
                  <a:srgbClr val="073642"/>
                </a:solidFill>
              </a:rPr>
              <a:t>Những nội dung cần thống nhất tại buổi tập huấn</a:t>
            </a:r>
            <a:endParaRPr lang="en-US" sz="2800" dirty="0"/>
          </a:p>
        </p:txBody>
      </p:sp>
      <p:sp>
        <p:nvSpPr>
          <p:cNvPr id="10" name="Shape 8"/>
          <p:cNvSpPr/>
          <p:nvPr/>
        </p:nvSpPr>
        <p:spPr>
          <a:xfrm>
            <a:off x="777240" y="1874520"/>
            <a:ext cx="5166360" cy="1874520"/>
          </a:xfrm>
          <a:prstGeom prst="roundRect">
            <a:avLst>
              <a:gd name="adj" fmla="val 3902"/>
            </a:avLst>
          </a:prstGeom>
          <a:solidFill>
            <a:srgbClr val="FFFFFF"/>
          </a:solidFill>
          <a:ln w="12700">
            <a:solidFill>
              <a:srgbClr val="CFE1E6"/>
            </a:solidFill>
            <a:prstDash val="solid"/>
          </a:ln>
        </p:spPr>
        <p:txBody>
          <a:bodyPr/>
          <a:lstStyle/>
          <a:p>
            <a:endParaRPr/>
          </a:p>
        </p:txBody>
      </p:sp>
      <p:sp>
        <p:nvSpPr>
          <p:cNvPr id="11" name="Shape 9"/>
          <p:cNvSpPr/>
          <p:nvPr/>
        </p:nvSpPr>
        <p:spPr>
          <a:xfrm>
            <a:off x="777240" y="1874520"/>
            <a:ext cx="64008" cy="1874520"/>
          </a:xfrm>
          <a:prstGeom prst="rect">
            <a:avLst/>
          </a:prstGeom>
          <a:solidFill>
            <a:srgbClr val="0B7C82"/>
          </a:solidFill>
          <a:ln w="12700">
            <a:solidFill>
              <a:srgbClr val="0B7C82"/>
            </a:solidFill>
            <a:prstDash val="solid"/>
          </a:ln>
        </p:spPr>
        <p:txBody>
          <a:bodyPr/>
          <a:lstStyle/>
          <a:p>
            <a:endParaRPr/>
          </a:p>
        </p:txBody>
      </p:sp>
      <p:sp>
        <p:nvSpPr>
          <p:cNvPr id="12" name="Text 10"/>
          <p:cNvSpPr/>
          <p:nvPr/>
        </p:nvSpPr>
        <p:spPr>
          <a:xfrm>
            <a:off x="941832" y="1984248"/>
            <a:ext cx="489204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A. Nhóm tổ chức</a:t>
            </a:r>
            <a:endParaRPr lang="en-US" sz="1600" dirty="0"/>
          </a:p>
        </p:txBody>
      </p:sp>
      <p:sp>
        <p:nvSpPr>
          <p:cNvPr id="13" name="Text 11"/>
          <p:cNvSpPr/>
          <p:nvPr/>
        </p:nvSpPr>
        <p:spPr>
          <a:xfrm>
            <a:off x="941832" y="2350008"/>
            <a:ext cx="4892040" cy="1307592"/>
          </a:xfrm>
          <a:prstGeom prst="rect">
            <a:avLst/>
          </a:prstGeom>
          <a:noFill/>
          <a:ln/>
        </p:spPr>
        <p:txBody>
          <a:bodyPr wrap="square" lIns="254" tIns="254" rIns="254" bIns="254" rtlCol="0" anchor="ctr">
            <a:normAutofit/>
          </a:bodyPr>
          <a:lstStyle/>
          <a:p>
            <a:pPr marL="0" indent="0">
              <a:buNone/>
            </a:pPr>
            <a:r>
              <a:rPr lang="en-US" sz="1160" dirty="0">
                <a:solidFill>
                  <a:srgbClr val="5C6670"/>
                </a:solidFill>
              </a:rPr>
              <a:t>• Danh mục khám tối thiểu/mở rộng theo năng lực từng điểm khám</a:t>
            </a:r>
            <a:endParaRPr lang="en-US" sz="1160" dirty="0"/>
          </a:p>
          <a:p>
            <a:pPr marL="0" indent="0">
              <a:buNone/>
            </a:pPr>
            <a:r>
              <a:rPr lang="en-US" sz="1160" dirty="0">
                <a:solidFill>
                  <a:srgbClr val="5C6670"/>
                </a:solidFill>
              </a:rPr>
              <a:t>• Tiêu chí lựa chọn cơ sở khám và nhân sự có giấy phép hành nghề phù hợp</a:t>
            </a:r>
            <a:endParaRPr lang="en-US" sz="1160" dirty="0"/>
          </a:p>
          <a:p>
            <a:pPr marL="0" indent="0">
              <a:buNone/>
            </a:pPr>
            <a:r>
              <a:rPr lang="en-US" sz="1160" dirty="0">
                <a:solidFill>
                  <a:srgbClr val="5C6670"/>
                </a:solidFill>
              </a:rPr>
              <a:t>• Cách loại trừ người đã khám miễn phí năm 2026</a:t>
            </a:r>
            <a:endParaRPr lang="en-US" sz="1160" dirty="0"/>
          </a:p>
          <a:p>
            <a:pPr marL="0" indent="0">
              <a:buNone/>
            </a:pPr>
            <a:r>
              <a:rPr lang="en-US" sz="1160" dirty="0">
                <a:solidFill>
                  <a:srgbClr val="5C6670"/>
                </a:solidFill>
              </a:rPr>
              <a:t>• Nguyên tắc chia lịch, công khai lịch và báo cáo lịch hằng tuần</a:t>
            </a:r>
            <a:endParaRPr lang="en-US" sz="1160" dirty="0"/>
          </a:p>
        </p:txBody>
      </p:sp>
      <p:sp>
        <p:nvSpPr>
          <p:cNvPr id="14" name="Shape 12"/>
          <p:cNvSpPr/>
          <p:nvPr/>
        </p:nvSpPr>
        <p:spPr>
          <a:xfrm>
            <a:off x="6263640" y="1874520"/>
            <a:ext cx="4983480" cy="1874520"/>
          </a:xfrm>
          <a:prstGeom prst="roundRect">
            <a:avLst>
              <a:gd name="adj" fmla="val 3902"/>
            </a:avLst>
          </a:prstGeom>
          <a:solidFill>
            <a:srgbClr val="FFFFFF"/>
          </a:solidFill>
          <a:ln w="12700">
            <a:solidFill>
              <a:srgbClr val="CFE1E6"/>
            </a:solidFill>
            <a:prstDash val="solid"/>
          </a:ln>
        </p:spPr>
        <p:txBody>
          <a:bodyPr/>
          <a:lstStyle/>
          <a:p>
            <a:endParaRPr/>
          </a:p>
        </p:txBody>
      </p:sp>
      <p:sp>
        <p:nvSpPr>
          <p:cNvPr id="15" name="Shape 13"/>
          <p:cNvSpPr/>
          <p:nvPr/>
        </p:nvSpPr>
        <p:spPr>
          <a:xfrm>
            <a:off x="6263640" y="1874520"/>
            <a:ext cx="64008" cy="1874520"/>
          </a:xfrm>
          <a:prstGeom prst="rect">
            <a:avLst/>
          </a:prstGeom>
          <a:solidFill>
            <a:srgbClr val="2E9E65"/>
          </a:solidFill>
          <a:ln w="12700">
            <a:solidFill>
              <a:srgbClr val="2E9E65"/>
            </a:solidFill>
            <a:prstDash val="solid"/>
          </a:ln>
        </p:spPr>
        <p:txBody>
          <a:bodyPr/>
          <a:lstStyle/>
          <a:p>
            <a:endParaRPr/>
          </a:p>
        </p:txBody>
      </p:sp>
      <p:sp>
        <p:nvSpPr>
          <p:cNvPr id="16" name="Text 14"/>
          <p:cNvSpPr/>
          <p:nvPr/>
        </p:nvSpPr>
        <p:spPr>
          <a:xfrm>
            <a:off x="6428232" y="1984248"/>
            <a:ext cx="4709160" cy="256032"/>
          </a:xfrm>
          <a:prstGeom prst="rect">
            <a:avLst/>
          </a:prstGeom>
          <a:noFill/>
          <a:ln/>
        </p:spPr>
        <p:txBody>
          <a:bodyPr wrap="square" lIns="0" tIns="0" rIns="0" bIns="0" rtlCol="0" anchor="ctr">
            <a:normAutofit/>
          </a:bodyPr>
          <a:lstStyle/>
          <a:p>
            <a:pPr marL="0" indent="0">
              <a:buNone/>
            </a:pPr>
            <a:r>
              <a:rPr lang="en-US" sz="1600" b="1" dirty="0">
                <a:solidFill>
                  <a:srgbClr val="073642"/>
                </a:solidFill>
              </a:rPr>
              <a:t>B. Nhóm chuyên môn – dữ liệu</a:t>
            </a:r>
            <a:endParaRPr lang="en-US" sz="1600" dirty="0"/>
          </a:p>
        </p:txBody>
      </p:sp>
      <p:sp>
        <p:nvSpPr>
          <p:cNvPr id="17" name="Text 15"/>
          <p:cNvSpPr/>
          <p:nvPr/>
        </p:nvSpPr>
        <p:spPr>
          <a:xfrm>
            <a:off x="6428232" y="2350008"/>
            <a:ext cx="4709160" cy="1307592"/>
          </a:xfrm>
          <a:prstGeom prst="rect">
            <a:avLst/>
          </a:prstGeom>
          <a:noFill/>
          <a:ln/>
        </p:spPr>
        <p:txBody>
          <a:bodyPr wrap="square" lIns="254" tIns="254" rIns="254" bIns="254" rtlCol="0" anchor="ctr">
            <a:normAutofit/>
          </a:bodyPr>
          <a:lstStyle/>
          <a:p>
            <a:pPr marL="0" indent="0">
              <a:buNone/>
            </a:pPr>
            <a:r>
              <a:rPr lang="en-US" sz="1160" dirty="0">
                <a:solidFill>
                  <a:srgbClr val="5C6670"/>
                </a:solidFill>
              </a:rPr>
              <a:t>• Mẫu phiếu, cách lập danh sách nguy cơ cao/nghi ngờ mắc bệnh</a:t>
            </a:r>
            <a:endParaRPr lang="en-US" sz="1160" dirty="0"/>
          </a:p>
          <a:p>
            <a:pPr marL="0" indent="0">
              <a:buNone/>
            </a:pPr>
            <a:r>
              <a:rPr lang="en-US" sz="1160" dirty="0">
                <a:solidFill>
                  <a:srgbClr val="5C6670"/>
                </a:solidFill>
              </a:rPr>
              <a:t>• Quy tắc chỉ định xét nghiệm/cận lâm sàng phù hợp bệnh sàng lọc</a:t>
            </a:r>
            <a:endParaRPr lang="en-US" sz="1160" dirty="0"/>
          </a:p>
          <a:p>
            <a:pPr marL="0" indent="0">
              <a:buNone/>
            </a:pPr>
            <a:r>
              <a:rPr lang="en-US" sz="1160" dirty="0">
                <a:solidFill>
                  <a:srgbClr val="5C6670"/>
                </a:solidFill>
              </a:rPr>
              <a:t>• Chuẩn dữ liệu, tài khoản, chữ ký số, quy trình liên thông HSSKĐT</a:t>
            </a:r>
            <a:endParaRPr lang="en-US" sz="1160" dirty="0"/>
          </a:p>
          <a:p>
            <a:pPr marL="0" indent="0">
              <a:buNone/>
            </a:pPr>
            <a:r>
              <a:rPr lang="en-US" sz="1160" dirty="0">
                <a:solidFill>
                  <a:srgbClr val="5C6670"/>
                </a:solidFill>
              </a:rPr>
              <a:t>• Mẫu báo cáo tháng và đầu mối tổng hợp</a:t>
            </a:r>
            <a:endParaRPr lang="en-US" sz="1160" dirty="0"/>
          </a:p>
        </p:txBody>
      </p:sp>
      <p:sp>
        <p:nvSpPr>
          <p:cNvPr id="18" name="Shape 16"/>
          <p:cNvSpPr/>
          <p:nvPr/>
        </p:nvSpPr>
        <p:spPr>
          <a:xfrm>
            <a:off x="1051560" y="4754880"/>
            <a:ext cx="10058400" cy="594360"/>
          </a:xfrm>
          <a:prstGeom prst="roundRect">
            <a:avLst>
              <a:gd name="adj" fmla="val 12308"/>
            </a:avLst>
          </a:prstGeom>
          <a:solidFill>
            <a:srgbClr val="FFF7E8"/>
          </a:solidFill>
          <a:ln w="12700">
            <a:solidFill>
              <a:srgbClr val="F7D7A8"/>
            </a:solidFill>
            <a:prstDash val="solid"/>
          </a:ln>
        </p:spPr>
        <p:txBody>
          <a:bodyPr/>
          <a:lstStyle/>
          <a:p>
            <a:endParaRPr/>
          </a:p>
        </p:txBody>
      </p:sp>
      <p:sp>
        <p:nvSpPr>
          <p:cNvPr id="19" name="Text 17"/>
          <p:cNvSpPr/>
          <p:nvPr/>
        </p:nvSpPr>
        <p:spPr>
          <a:xfrm>
            <a:off x="1234440" y="4983480"/>
            <a:ext cx="9646920" cy="146304"/>
          </a:xfrm>
          <a:prstGeom prst="rect">
            <a:avLst/>
          </a:prstGeom>
          <a:noFill/>
          <a:ln/>
        </p:spPr>
        <p:txBody>
          <a:bodyPr wrap="square" lIns="0" tIns="0" rIns="0" bIns="0" rtlCol="0" anchor="ctr"/>
          <a:lstStyle/>
          <a:p>
            <a:pPr marL="0" indent="0" algn="ctr">
              <a:buNone/>
            </a:pPr>
            <a:r>
              <a:rPr lang="en-US" sz="1260" b="1" dirty="0">
                <a:solidFill>
                  <a:srgbClr val="073642"/>
                </a:solidFill>
              </a:rPr>
              <a:t>Mục tiêu là giảm sai lệch giữa triển khai thực tế, dữ liệu nhập hệ thống và báo cáo tổng hợp.</a:t>
            </a:r>
            <a:endParaRPr lang="en-US" sz="12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5604</Words>
  <Application>Microsoft Office PowerPoint</Application>
  <PresentationFormat>Widescreen</PresentationFormat>
  <Paragraphs>514</Paragraphs>
  <Slides>26</Slides>
  <Notes>20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26</vt:i4>
      </vt:variant>
    </vt:vector>
  </HeadingPairs>
  <TitlesOfParts>
    <vt:vector size="2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Sở Y tế Hà Nội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Tập huấn Kế hoạch khám sàng lọc miễn phí</dc:title>
  <dc:subject>Tập huấn Kế hoạch khám sàng lọc miễn phí năm 2026</dc:subject>
  <dc:creator>Sở Y tế Hà Nội</dc:creator>
  <cp:lastModifiedBy>hoanggoanh98@gmail.com</cp:lastModifiedBy>
  <cp:revision>15</cp:revision>
  <dcterms:created xsi:type="dcterms:W3CDTF">2026-10-01T02:54:40Z</dcterms:created>
  <dcterms:modified xsi:type="dcterms:W3CDTF">2026-10-01T06:57:43Z</dcterms:modified>
</cp:coreProperties>
</file>